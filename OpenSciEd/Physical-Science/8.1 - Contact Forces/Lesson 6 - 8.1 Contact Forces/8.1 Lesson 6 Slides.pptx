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Lst>
  <p:sldSz cy="6858000" cx="9144000"/>
  <p:notesSz cx="6858000" cy="9144000"/>
  <p:embeddedFontLst>
    <p:embeddedFont>
      <p:font typeface="Caveat"/>
      <p:regular r:id="rId10"/>
      <p:bold r:id="rId11"/>
    </p:embeddedFont>
    <p:embeddedFont>
      <p:font typeface="Boogaloo"/>
      <p:regular r:id="rId12"/>
    </p:embeddedFont>
    <p:embeddedFont>
      <p:font typeface="Cabin"/>
      <p:regular r:id="rId13"/>
      <p:bold r:id="rId14"/>
      <p:italic r:id="rId15"/>
      <p:boldItalic r:id="rId16"/>
    </p:embeddedFont>
    <p:embeddedFont>
      <p:font typeface="Quattrocento Sans"/>
      <p:regular r:id="rId17"/>
      <p:bold r:id="rId18"/>
      <p:italic r:id="rId19"/>
      <p:boldItalic r:id="rId20"/>
    </p:embeddedFont>
    <p:embeddedFont>
      <p:font typeface="Helvetica Neue"/>
      <p:regular r:id="rId21"/>
      <p:bold r:id="rId22"/>
      <p:italic r:id="rId23"/>
      <p:boldItalic r:id="rId24"/>
    </p:embeddedFont>
    <p:embeddedFont>
      <p:font typeface="Cabin Condensed"/>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QuattrocentoSans-boldItalic.fntdata"/><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abinCondensed-bold.fntdata"/><Relationship Id="rId25" Type="http://schemas.openxmlformats.org/officeDocument/2006/relationships/font" Target="fonts/CabinCondensed-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font" Target="fonts/Caveat-bold.fntdata"/><Relationship Id="rId10" Type="http://schemas.openxmlformats.org/officeDocument/2006/relationships/font" Target="fonts/Caveat-regular.fntdata"/><Relationship Id="rId13" Type="http://schemas.openxmlformats.org/officeDocument/2006/relationships/font" Target="fonts/Cabin-regular.fntdata"/><Relationship Id="rId12" Type="http://schemas.openxmlformats.org/officeDocument/2006/relationships/font" Target="fonts/Boogaloo-regular.fntdata"/><Relationship Id="rId15" Type="http://schemas.openxmlformats.org/officeDocument/2006/relationships/font" Target="fonts/Cabin-italic.fntdata"/><Relationship Id="rId14" Type="http://schemas.openxmlformats.org/officeDocument/2006/relationships/font" Target="fonts/Cabin-bold.fntdata"/><Relationship Id="rId17" Type="http://schemas.openxmlformats.org/officeDocument/2006/relationships/font" Target="fonts/QuattrocentoSans-regular.fntdata"/><Relationship Id="rId16" Type="http://schemas.openxmlformats.org/officeDocument/2006/relationships/font" Target="fonts/Cabin-boldItalic.fntdata"/><Relationship Id="rId19" Type="http://schemas.openxmlformats.org/officeDocument/2006/relationships/font" Target="fonts/QuattrocentoSans-italic.fntdata"/><Relationship Id="rId18" Type="http://schemas.openxmlformats.org/officeDocument/2006/relationships/font" Target="fonts/QuattrocentoSans-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1pPr>
            <a:lvl2pPr indent="-317500" lvl="1" marL="914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2pPr>
            <a:lvl3pPr indent="-317500" lvl="2" marL="1371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3pPr>
            <a:lvl4pPr indent="-317500" lvl="3" marL="1828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4pPr>
            <a:lvl5pPr indent="-317500" lvl="4" marL="22860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5pPr>
            <a:lvl6pPr indent="-317500" lvl="5" marL="27432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6pPr>
            <a:lvl7pPr indent="-317500" lvl="6" marL="32004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7pPr>
            <a:lvl8pPr indent="-317500" lvl="7" marL="36576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8pPr>
            <a:lvl9pPr indent="-317500" lvl="8" marL="4114800" marR="0" rtl="0" algn="l">
              <a:lnSpc>
                <a:spcPct val="100000"/>
              </a:lnSpc>
              <a:spcBef>
                <a:spcPts val="0"/>
              </a:spcBef>
              <a:spcAft>
                <a:spcPts val="0"/>
              </a:spcAft>
              <a:buClr>
                <a:srgbClr val="000000"/>
              </a:buClr>
              <a:buSzPts val="14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 name="Google Shape;5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Recall previous lessons.</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A</a:t>
            </a:r>
            <a:r>
              <a:rPr lang="en">
                <a:solidFill>
                  <a:schemeClr val="dk1"/>
                </a:solidFill>
                <a:latin typeface="Cabin"/>
                <a:ea typeface="Cabin"/>
                <a:cs typeface="Cabin"/>
                <a:sym typeface="Cabin"/>
              </a:rPr>
              <a:t>. Say,</a:t>
            </a:r>
            <a:r>
              <a:rPr i="1" lang="en">
                <a:solidFill>
                  <a:schemeClr val="dk1"/>
                </a:solidFill>
                <a:latin typeface="Cabin"/>
                <a:ea typeface="Cabin"/>
                <a:cs typeface="Cabin"/>
                <a:sym typeface="Cabin"/>
              </a:rPr>
              <a:t> Last class we figured out that the peak forces are equal on each cart during a collision, regardless of the mass or speed of the individual carts. It’s always an equal force, but in an opposite direction. We have also figured out a lot of other important ideas along the way! Let’s look back and see what we have learned so far.</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Instruct students to look back at their Progress Trackers. Display the What We Have Discovered poster. Ask students to share what we have learned so far. Record student responses on the chart paper. Potential responses include the following:</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 </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Sometimes objects get damaged in collisions, other times objects are not damaged.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All objects have an elastic limit.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elastic limit is the point to which objects can spring back to their original position after a collision.</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an object goes past its elastic limit, it will reach its breaking point.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Energy is transferred in a collision.</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Energy transfer can make objects change shape.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Contact forces cause a change in shape.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All solid objects bend or change shape when any amount of contact force is applied to them.</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amount an object deforms depends on the type of materials it is made of, how thick it is, and its shape.</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There are forces applied to each object when they are touching during a collision.</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amount of the contact forces is equal on the objects that are colliding but opposite in direction.</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The peak forces can help determine if an object gets damaged.</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If the peak force is more than the elastic limit, the object will reach its breaking point</a:t>
            </a:r>
            <a:endParaRPr>
              <a:solidFill>
                <a:schemeClr val="dk1"/>
              </a:solidFill>
              <a:latin typeface="Cabin"/>
              <a:ea typeface="Cabin"/>
              <a:cs typeface="Cabin"/>
              <a:sym typeface="Cabin"/>
            </a:endParaRPr>
          </a:p>
          <a:p>
            <a:pPr indent="-298450" lvl="0" marL="457200" rtl="0" algn="l">
              <a:lnSpc>
                <a:spcPct val="100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An increase in kinetic energy due to a speed or mass increase will increase the size of the peak forces between the objects in a collision.</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we have figured out a lot! I think if we look back at our Driving Question Board we may be able to make progress on answering some of our questions. </a:t>
            </a:r>
            <a:endParaRPr>
              <a:solidFill>
                <a:schemeClr val="dk1"/>
              </a:solidFill>
              <a:latin typeface="Cabin"/>
              <a:ea typeface="Cabin"/>
              <a:cs typeface="Cabin"/>
              <a:sym typeface="Cabi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Review Driving Question Board questions.</a:t>
            </a:r>
            <a:r>
              <a:rPr lang="en">
                <a:solidFill>
                  <a:schemeClr val="dk1"/>
                </a:solidFill>
                <a:latin typeface="Cabin"/>
                <a:ea typeface="Cabin"/>
                <a:cs typeface="Cabin"/>
                <a:sym typeface="Cabin"/>
              </a:rPr>
              <a:t> Project </a:t>
            </a:r>
            <a:r>
              <a:rPr b="1" lang="en">
                <a:solidFill>
                  <a:schemeClr val="dk1"/>
                </a:solidFill>
                <a:latin typeface="Cabin"/>
                <a:ea typeface="Cabin"/>
                <a:cs typeface="Cabin"/>
                <a:sym typeface="Cabin"/>
              </a:rPr>
              <a:t>slide B</a:t>
            </a:r>
            <a:r>
              <a:rPr lang="en">
                <a:solidFill>
                  <a:schemeClr val="dk1"/>
                </a:solidFill>
                <a:latin typeface="Cabin"/>
                <a:ea typeface="Cabin"/>
                <a:cs typeface="Cabin"/>
                <a:sym typeface="Cabin"/>
              </a:rPr>
              <a:t>. Distribute the Driving Question Board typed questions list you made from Lesson 1. If you plan to re-use these from class to class, then tell students not to mark on these handouts, but to make notes on the handout they will receive. Ask students to spend a moment looking over the list of questions.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Distribute the </a:t>
            </a:r>
            <a:r>
              <a:rPr i="1" lang="en">
                <a:solidFill>
                  <a:schemeClr val="dk1"/>
                </a:solidFill>
                <a:latin typeface="Cabin"/>
                <a:ea typeface="Cabin"/>
                <a:cs typeface="Cabin"/>
                <a:sym typeface="Cabin"/>
              </a:rPr>
              <a:t>Reviewing Our Driving Question Board</a:t>
            </a:r>
            <a:r>
              <a:rPr lang="en">
                <a:solidFill>
                  <a:schemeClr val="dk1"/>
                </a:solidFill>
                <a:latin typeface="Cabin"/>
                <a:ea typeface="Cabin"/>
                <a:cs typeface="Cabin"/>
                <a:sym typeface="Cabin"/>
              </a:rPr>
              <a:t> handout. Tell students they will spend some time working with a partner on identifying at least questions they feel the class has made progress on and one question they feel they can answer from our Driving Question Board.</a:t>
            </a:r>
            <a:r>
              <a:rPr lang="en">
                <a:solidFill>
                  <a:schemeClr val="dk1"/>
                </a:solidFill>
                <a:latin typeface="Quattrocento Sans"/>
                <a:ea typeface="Quattrocento Sans"/>
                <a:cs typeface="Quattrocento Sans"/>
                <a:sym typeface="Quattrocento Sans"/>
              </a:rPr>
              <a:t> </a:t>
            </a:r>
            <a:r>
              <a:rPr lang="en">
                <a:solidFill>
                  <a:schemeClr val="dk1"/>
                </a:solidFill>
                <a:latin typeface="Cabin"/>
                <a:ea typeface="Cabin"/>
                <a:cs typeface="Cabin"/>
                <a:sym typeface="Cabin"/>
              </a:rPr>
              <a:t>Go over the handout before allowing students to begin.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Circulate the room as students work in pairs to answer a question from the Driving Question Board. Listen carefully to student answers and listen for students to use science ideas to support their answers. If students are not using their science ideas to fully answer questions, use questioning to help students make the connection to their science ideas: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evidence do we have from past investigations that supports your answer?</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patterns in past investigations and activities led you to that idea?</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patterns in data support your answer?</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Did we collect any other data or evidence besides the piece you cited that helps support your answer?</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Is there anything on our What We Have Discovered poster that helps you answer this question?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Did you see something change in our system as two objects interact in a previous investigation or activity that supports this answer? What happened?</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Debrief the Driving Question Board.</a:t>
            </a:r>
            <a:r>
              <a:rPr lang="en">
                <a:solidFill>
                  <a:schemeClr val="dk1"/>
                </a:solidFill>
                <a:latin typeface="Cabin"/>
                <a:ea typeface="Cabin"/>
                <a:cs typeface="Cabin"/>
                <a:sym typeface="Cabin"/>
              </a:rPr>
              <a:t> After about 10 minutes of work time, bring students back together as a whole group. Project </a:t>
            </a:r>
            <a:r>
              <a:rPr b="1" lang="en">
                <a:solidFill>
                  <a:schemeClr val="dk1"/>
                </a:solidFill>
                <a:latin typeface="Cabin"/>
                <a:ea typeface="Cabin"/>
                <a:cs typeface="Cabin"/>
                <a:sym typeface="Cabin"/>
              </a:rPr>
              <a:t>slide C</a:t>
            </a:r>
            <a:r>
              <a:rPr lang="en">
                <a:solidFill>
                  <a:schemeClr val="dk1"/>
                </a:solidFill>
                <a:latin typeface="Cabin"/>
                <a:ea typeface="Cabin"/>
                <a:cs typeface="Cabin"/>
                <a:sym typeface="Cabin"/>
              </a:rPr>
              <a:t>. Ask students the following questions. </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How many of you can now answer a question that we could not answer at the beginning of the unit?</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What questions do you now feel comfortable answering? What were your answers?</a:t>
            </a:r>
            <a:endParaRPr>
              <a:solidFill>
                <a:schemeClr val="dk1"/>
              </a:solidFill>
              <a:latin typeface="Cabin"/>
              <a:ea typeface="Cabin"/>
              <a:cs typeface="Cabin"/>
              <a:sym typeface="Cabin"/>
            </a:endParaRPr>
          </a:p>
          <a:p>
            <a:pPr indent="-298450" lvl="0" marL="457200" rtl="0" algn="l">
              <a:lnSpc>
                <a:spcPct val="115000"/>
              </a:lnSpc>
              <a:spcBef>
                <a:spcPts val="0"/>
              </a:spcBef>
              <a:spcAft>
                <a:spcPts val="0"/>
              </a:spcAft>
              <a:buClr>
                <a:schemeClr val="dk1"/>
              </a:buClr>
              <a:buSzPts val="1100"/>
              <a:buFont typeface="Cabin"/>
              <a:buChar char="●"/>
            </a:pPr>
            <a:r>
              <a:rPr lang="en">
                <a:solidFill>
                  <a:schemeClr val="dk1"/>
                </a:solidFill>
                <a:latin typeface="Cabin"/>
                <a:ea typeface="Cabin"/>
                <a:cs typeface="Cabin"/>
                <a:sym typeface="Cabin"/>
              </a:rPr>
              <a:t>Were there any questions about mass and speed that we couldn’t answer yet? Which ones?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Clr>
                <a:schemeClr val="dk1"/>
              </a:buClr>
              <a:buSzPts val="1100"/>
              <a:buFont typeface="Arial"/>
              <a:buNone/>
            </a:pPr>
            <a:r>
              <a:rPr lang="en">
                <a:solidFill>
                  <a:srgbClr val="0B0B0B"/>
                </a:solidFill>
                <a:latin typeface="Cabin"/>
                <a:ea typeface="Cabin"/>
                <a:cs typeface="Cabin"/>
                <a:sym typeface="Cabin"/>
              </a:rPr>
              <a:t>As students share their answers to questions from the Driving Question Board, it is possible that a student might share an incorrect answer. Do not automatically correct. Instead ask the class after each question if we agree or disagree with the answer. If students disagree with the answer, refer students to the What We Have Discovered poster and ask them to use our science ideas to justify if the answer is correct or incorrect.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Collect the copies of the Driving Question Board questions from students. Save these pages for students to use in a later lesson.</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It seems like we can answer some of our questions on our Driving Question Board, but we still also have some questions we need to answer. Before we move on and try to investigate those questions, let’s see if we can apply what we have learned so far to make sense of a new phenomenon.</a:t>
            </a:r>
            <a:endParaRPr i="1">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a:t>
            </a:r>
            <a:r>
              <a:rPr i="1" lang="en">
                <a:solidFill>
                  <a:schemeClr val="dk1"/>
                </a:solidFill>
                <a:latin typeface="Cabin"/>
                <a:ea typeface="Cabin"/>
                <a:cs typeface="Cabin"/>
                <a:sym typeface="Cabin"/>
              </a:rPr>
              <a:t> I was reading and came across this scenario about headers being banned in soccer. How many of you know what a header is? </a:t>
            </a:r>
            <a:r>
              <a:rPr lang="en">
                <a:solidFill>
                  <a:schemeClr val="dk1"/>
                </a:solidFill>
                <a:latin typeface="Cabin"/>
                <a:ea typeface="Cabin"/>
                <a:cs typeface="Cabin"/>
                <a:sym typeface="Cabin"/>
              </a:rPr>
              <a:t>Listen for students' responses. If students do not know what a header is, explain that a header is when a player strikes the ball using their head.</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There have been discussions to ban headers in youth sports because some people believe they are dangerous and can cause concussions. I thought we could dig into these ideas and see if we can explain using our science ideas if a header can actually cause a concussion and determine if there are other collisions that occur in soccer that can cause concussions as well. </a:t>
            </a:r>
            <a:br>
              <a:rPr lang="en">
                <a:solidFill>
                  <a:schemeClr val="dk1"/>
                </a:solidFill>
                <a:latin typeface="Cabin"/>
                <a:ea typeface="Cabin"/>
                <a:cs typeface="Cabin"/>
                <a:sym typeface="Cabin"/>
              </a:rPr>
            </a:b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b="1" lang="en">
                <a:solidFill>
                  <a:schemeClr val="dk1"/>
                </a:solidFill>
                <a:latin typeface="Cabin"/>
                <a:ea typeface="Cabin"/>
                <a:cs typeface="Cabin"/>
                <a:sym typeface="Cabin"/>
              </a:rPr>
              <a:t>Distribute </a:t>
            </a:r>
            <a:r>
              <a:rPr b="1" i="1" lang="en">
                <a:solidFill>
                  <a:schemeClr val="dk1"/>
                </a:solidFill>
                <a:latin typeface="Cabin"/>
                <a:ea typeface="Cabin"/>
                <a:cs typeface="Cabin"/>
                <a:sym typeface="Cabin"/>
              </a:rPr>
              <a:t>Soccer Assessment</a:t>
            </a:r>
            <a:r>
              <a:rPr b="1" lang="en">
                <a:solidFill>
                  <a:schemeClr val="dk1"/>
                </a:solidFill>
                <a:latin typeface="Cabin"/>
                <a:ea typeface="Cabin"/>
                <a:cs typeface="Cabin"/>
                <a:sym typeface="Cabin"/>
              </a:rPr>
              <a:t>.</a:t>
            </a:r>
            <a:r>
              <a:rPr lang="en">
                <a:solidFill>
                  <a:schemeClr val="dk1"/>
                </a:solidFill>
                <a:latin typeface="Cabin"/>
                <a:ea typeface="Cabin"/>
                <a:cs typeface="Cabin"/>
                <a:sym typeface="Cabin"/>
              </a:rPr>
              <a:t> Project</a:t>
            </a:r>
            <a:r>
              <a:rPr b="1" lang="en">
                <a:solidFill>
                  <a:schemeClr val="dk1"/>
                </a:solidFill>
                <a:latin typeface="Cabin"/>
                <a:ea typeface="Cabin"/>
                <a:cs typeface="Cabin"/>
                <a:sym typeface="Cabin"/>
              </a:rPr>
              <a:t> slide D</a:t>
            </a:r>
            <a:r>
              <a:rPr lang="en">
                <a:solidFill>
                  <a:schemeClr val="dk1"/>
                </a:solidFill>
                <a:latin typeface="Cabin"/>
                <a:ea typeface="Cabin"/>
                <a:cs typeface="Cabin"/>
                <a:sym typeface="Cabin"/>
              </a:rPr>
              <a:t>. Direct students to put their names at the top of the paper and read questions 1-5 together. Answer any clarifying questions students may have about the assessment.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Once students understand what questions 1-5 are asking, read questions 6-7 of the assessment. Explain that the whole class will revisit the questions and answers from this section at the end of class. Tell the class to give their best guesses on questions 6-7 and to use experiences from real life and our prior investigations to help answer the questions. Questions 6-7 are not part of the assessment that we may be able to answer completely, but any ideas we have will help us determine our next steps as a class.</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rPr lang="en">
                <a:solidFill>
                  <a:schemeClr val="dk1"/>
                </a:solidFill>
                <a:latin typeface="Cabin"/>
                <a:ea typeface="Cabin"/>
                <a:cs typeface="Cabin"/>
                <a:sym typeface="Cabin"/>
              </a:rPr>
              <a:t>Ask students to complete </a:t>
            </a:r>
            <a:r>
              <a:rPr i="1" lang="en">
                <a:solidFill>
                  <a:schemeClr val="dk1"/>
                </a:solidFill>
                <a:latin typeface="Cabin"/>
                <a:ea typeface="Cabin"/>
                <a:cs typeface="Cabin"/>
                <a:sym typeface="Cabin"/>
              </a:rPr>
              <a:t>Soccer Assessment </a:t>
            </a:r>
            <a:r>
              <a:rPr lang="en">
                <a:solidFill>
                  <a:schemeClr val="dk1"/>
                </a:solidFill>
                <a:latin typeface="Cabin"/>
                <a:ea typeface="Cabin"/>
                <a:cs typeface="Cabin"/>
                <a:sym typeface="Cabin"/>
              </a:rPr>
              <a:t>on their own. Collect the assessment when students are finished. </a:t>
            </a:r>
            <a:endParaRPr>
              <a:solidFill>
                <a:schemeClr val="dk1"/>
              </a:solidFill>
              <a:latin typeface="Cabin"/>
              <a:ea typeface="Cabin"/>
              <a:cs typeface="Cabin"/>
              <a:sym typeface="Cabin"/>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5:notes"/>
          <p:cNvSpPr txBox="1"/>
          <p:nvPr>
            <p:ph idx="1" type="body"/>
          </p:nvPr>
        </p:nvSpPr>
        <p:spPr>
          <a:xfrm>
            <a:off x="914400" y="4343400"/>
            <a:ext cx="50292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400"/>
              <a:buNone/>
            </a:pPr>
            <a:r>
              <a:rPr b="1" lang="en">
                <a:solidFill>
                  <a:schemeClr val="dk1"/>
                </a:solidFill>
                <a:latin typeface="Cabin"/>
                <a:ea typeface="Cabin"/>
                <a:cs typeface="Cabin"/>
                <a:sym typeface="Cabin"/>
              </a:rPr>
              <a:t>Discuss questions about mass and speed. </a:t>
            </a: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As I was walking around and looking at your assessments, it seems that we have different ideas about mass and speed. Let’s share some of our ideas about questions 6. </a:t>
            </a:r>
            <a:r>
              <a:rPr lang="en">
                <a:solidFill>
                  <a:schemeClr val="dk1"/>
                </a:solidFill>
                <a:latin typeface="Cabin"/>
                <a:ea typeface="Cabin"/>
                <a:cs typeface="Cabin"/>
                <a:sym typeface="Cabin"/>
              </a:rPr>
              <a:t>Present </a:t>
            </a:r>
            <a:r>
              <a:rPr b="1" lang="en">
                <a:solidFill>
                  <a:schemeClr val="dk1"/>
                </a:solidFill>
                <a:latin typeface="Cabin"/>
                <a:ea typeface="Cabin"/>
                <a:cs typeface="Cabin"/>
                <a:sym typeface="Cabin"/>
              </a:rPr>
              <a:t>slide E</a:t>
            </a:r>
            <a:r>
              <a:rPr lang="en">
                <a:solidFill>
                  <a:schemeClr val="dk1"/>
                </a:solidFill>
                <a:latin typeface="Cabin"/>
                <a:ea typeface="Cabin"/>
                <a:cs typeface="Cabin"/>
                <a:sym typeface="Cabin"/>
              </a:rPr>
              <a:t>. Ask students to share their ideas about question 6.</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t/>
            </a:r>
            <a:endParaRPr>
              <a:solidFill>
                <a:schemeClr val="dk1"/>
              </a:solidFill>
              <a:latin typeface="Cabin"/>
              <a:ea typeface="Cabin"/>
              <a:cs typeface="Cabin"/>
              <a:sym typeface="Cabin"/>
            </a:endParaRPr>
          </a:p>
          <a:p>
            <a:pPr indent="0" lvl="0" marL="0" rtl="0" algn="l">
              <a:lnSpc>
                <a:spcPct val="115000"/>
              </a:lnSpc>
              <a:spcBef>
                <a:spcPts val="0"/>
              </a:spcBef>
              <a:spcAft>
                <a:spcPts val="0"/>
              </a:spcAft>
              <a:buSzPts val="1400"/>
              <a:buNone/>
            </a:pPr>
            <a:r>
              <a:rPr lang="en">
                <a:solidFill>
                  <a:schemeClr val="dk1"/>
                </a:solidFill>
                <a:latin typeface="Cabin"/>
                <a:ea typeface="Cabin"/>
                <a:cs typeface="Cabin"/>
                <a:sym typeface="Cabin"/>
              </a:rPr>
              <a:t>Say, </a:t>
            </a:r>
            <a:r>
              <a:rPr i="1" lang="en">
                <a:solidFill>
                  <a:schemeClr val="dk1"/>
                </a:solidFill>
                <a:latin typeface="Cabin"/>
                <a:ea typeface="Cabin"/>
                <a:cs typeface="Cabin"/>
                <a:sym typeface="Cabin"/>
              </a:rPr>
              <a:t>Wow, this is really interesting. We can all seem to agree that increasing the mass or the speed of a moving object would increase its kinetic energy which increases the peak forces in a collision. And we also agree this is related to the amount of damage in a collision. But where we have some disagreement is around which would increase the kinetic energy of an object more and the resulting damage from it hitting something else in a collision--doubling the mass of that moving object or doubling its speed. So it seems like we have something we need to figure out to better understand these relationships. I look forward to reading through some of the ideas you wrote down in question 7 for investigations that could help us figure that out. Let’s plan on investigating this question by pursuing some additional investigations and analyzing some additional source of data next time.</a:t>
            </a:r>
            <a:endParaRPr i="1">
              <a:solidFill>
                <a:schemeClr val="dk1"/>
              </a:solidFill>
              <a:latin typeface="Cabin"/>
              <a:ea typeface="Cabin"/>
              <a:cs typeface="Cabin"/>
              <a:sym typeface="Cabin"/>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latin typeface="Cabin"/>
              <a:ea typeface="Cabin"/>
              <a:cs typeface="Cabin"/>
              <a:sym typeface="Cabin"/>
            </a:endParaRPr>
          </a:p>
        </p:txBody>
      </p:sp>
      <p:sp>
        <p:nvSpPr>
          <p:cNvPr id="100" name="Google Shape;100;p5:notes"/>
          <p:cNvSpPr/>
          <p:nvPr>
            <p:ph idx="2" type="sldImg"/>
          </p:nvPr>
        </p:nvSpPr>
        <p:spPr>
          <a:xfrm>
            <a:off x="1714500" y="685800"/>
            <a:ext cx="3429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 name="Shape 7"/>
        <p:cNvGrpSpPr/>
        <p:nvPr/>
      </p:nvGrpSpPr>
      <p:grpSpPr>
        <a:xfrm>
          <a:off x="0" y="0"/>
          <a:ext cx="0" cy="0"/>
          <a:chOff x="0" y="0"/>
          <a:chExt cx="0" cy="0"/>
        </a:xfrm>
      </p:grpSpPr>
      <p:sp>
        <p:nvSpPr>
          <p:cNvPr id="8" name="Google Shape;8;p2"/>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9" name="Google Shape;9;p2"/>
          <p:cNvSpPr txBox="1"/>
          <p:nvPr>
            <p:ph idx="2" type="body"/>
          </p:nvPr>
        </p:nvSpPr>
        <p:spPr>
          <a:xfrm>
            <a:off x="457200" y="1536625"/>
            <a:ext cx="8229600" cy="4555200"/>
          </a:xfrm>
          <a:prstGeom prst="rect">
            <a:avLst/>
          </a:prstGeom>
          <a:noFill/>
          <a:ln>
            <a:noFill/>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0" name="Google Shape;10;p2"/>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1" name="Google Shape;11;p2"/>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hoto - Horizontal" showMasterSp="0">
  <p:cSld name="TITLE_AND_BODY_1">
    <p:bg>
      <p:bgPr>
        <a:solidFill>
          <a:srgbClr val="F3F3F3"/>
        </a:solidFill>
      </p:bgPr>
    </p:bg>
    <p:spTree>
      <p:nvGrpSpPr>
        <p:cNvPr id="12" name="Shape 12"/>
        <p:cNvGrpSpPr/>
        <p:nvPr/>
      </p:nvGrpSpPr>
      <p:grpSpPr>
        <a:xfrm>
          <a:off x="0" y="0"/>
          <a:ext cx="0" cy="0"/>
          <a:chOff x="0" y="0"/>
          <a:chExt cx="0" cy="0"/>
        </a:xfrm>
      </p:grpSpPr>
      <p:sp>
        <p:nvSpPr>
          <p:cNvPr id="13" name="Google Shape;13;p3"/>
          <p:cNvSpPr txBox="1"/>
          <p:nvPr>
            <p:ph idx="12" type="sldNum"/>
          </p:nvPr>
        </p:nvSpPr>
        <p:spPr>
          <a:xfrm>
            <a:off x="4475913" y="6500813"/>
            <a:ext cx="185400" cy="255600"/>
          </a:xfrm>
          <a:prstGeom prst="rect">
            <a:avLst/>
          </a:prstGeom>
          <a:noFill/>
          <a:ln>
            <a:noFill/>
          </a:ln>
        </p:spPr>
        <p:txBody>
          <a:bodyPr anchorCtr="0" anchor="t" bIns="29750" lIns="29750" spcFirstLastPara="1" rIns="29750" wrap="square" tIns="29750">
            <a:noAutofit/>
          </a:bodyPr>
          <a:lstStyle>
            <a:lvl1pPr indent="0" lvl="0"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1pPr>
            <a:lvl2pPr indent="0" lvl="1"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2pPr>
            <a:lvl3pPr indent="0" lvl="2"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3pPr>
            <a:lvl4pPr indent="0" lvl="3"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4pPr>
            <a:lvl5pPr indent="0" lvl="4"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5pPr>
            <a:lvl6pPr indent="0" lvl="5"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6pPr>
            <a:lvl7pPr indent="0" lvl="6"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7pPr>
            <a:lvl8pPr indent="0" lvl="7"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8pPr>
            <a:lvl9pPr indent="0" lvl="8" marL="0" marR="0" rtl="0" algn="ctr">
              <a:lnSpc>
                <a:spcPct val="100000"/>
              </a:lnSpc>
              <a:spcBef>
                <a:spcPts val="0"/>
              </a:spcBef>
              <a:spcAft>
                <a:spcPts val="0"/>
              </a:spcAft>
              <a:buClr>
                <a:srgbClr val="000000"/>
              </a:buClr>
              <a:buSzPts val="1000"/>
              <a:buFont typeface="Helvetica Neue"/>
              <a:buNone/>
              <a:defRPr b="0" i="0" sz="1000" u="none" cap="none" strike="noStrike">
                <a:solidFill>
                  <a:srgbClr val="000000"/>
                </a:solidFill>
                <a:latin typeface="Helvetica Neue"/>
                <a:ea typeface="Helvetica Neue"/>
                <a:cs typeface="Helvetica Neue"/>
                <a:sym typeface="Helvetica Neue"/>
              </a:defRPr>
            </a:lvl9pPr>
          </a:lstStyle>
          <a:p>
            <a:pPr indent="0" lvl="0" marL="0" rtl="0" algn="ctr">
              <a:spcBef>
                <a:spcPts val="0"/>
              </a:spcBef>
              <a:spcAft>
                <a:spcPts val="0"/>
              </a:spcAft>
              <a:buNone/>
            </a:pPr>
            <a:fld id="{00000000-1234-1234-1234-123412341234}" type="slidenum">
              <a:rPr lang="en"/>
              <a:t>‹#›</a:t>
            </a:fld>
            <a:endParaRPr sz="1400">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F3F3F3"/>
        </a:solidFill>
      </p:bgPr>
    </p:bg>
    <p:spTree>
      <p:nvGrpSpPr>
        <p:cNvPr id="14" name="Shape 14"/>
        <p:cNvGrpSpPr/>
        <p:nvPr/>
      </p:nvGrpSpPr>
      <p:grpSpPr>
        <a:xfrm>
          <a:off x="0" y="0"/>
          <a:ext cx="0" cy="0"/>
          <a:chOff x="0" y="0"/>
          <a:chExt cx="0" cy="0"/>
        </a:xfrm>
      </p:grpSpPr>
      <p:sp>
        <p:nvSpPr>
          <p:cNvPr id="15" name="Google Shape;15;p4"/>
          <p:cNvSpPr txBox="1"/>
          <p:nvPr>
            <p:ph type="ctrTitle"/>
          </p:nvPr>
        </p:nvSpPr>
        <p:spPr>
          <a:xfrm>
            <a:off x="457200" y="992775"/>
            <a:ext cx="8229600" cy="27369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16" name="Google Shape;16;p4"/>
          <p:cNvSpPr txBox="1"/>
          <p:nvPr>
            <p:ph idx="1" type="subTitle"/>
          </p:nvPr>
        </p:nvSpPr>
        <p:spPr>
          <a:xfrm>
            <a:off x="457200" y="3778825"/>
            <a:ext cx="8229600" cy="1056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400"/>
              <a:buFont typeface="Cabin Condensed"/>
              <a:buNone/>
              <a:defRPr sz="2400">
                <a:solidFill>
                  <a:schemeClr val="dk1"/>
                </a:solidFill>
                <a:latin typeface="Cabin Condensed"/>
                <a:ea typeface="Cabin Condensed"/>
                <a:cs typeface="Cabin Condensed"/>
                <a:sym typeface="Cabin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 name="Google Shape;17;p4"/>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18" name="Google Shape;18;p4"/>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19" name="Google Shape;19;p4"/>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5"/>
          <p:cNvSpPr txBox="1"/>
          <p:nvPr>
            <p:ph type="title"/>
          </p:nvPr>
        </p:nvSpPr>
        <p:spPr>
          <a:xfrm>
            <a:off x="457200" y="2867800"/>
            <a:ext cx="8229600" cy="11223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lvl="1"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3600"/>
              <a:buFont typeface="Arial"/>
              <a:buChar char="■"/>
              <a:defRPr b="0" i="0" sz="3600" u="none" cap="none" strike="noStrike">
                <a:solidFill>
                  <a:srgbClr val="000000"/>
                </a:solidFill>
                <a:latin typeface="Arial"/>
                <a:ea typeface="Arial"/>
                <a:cs typeface="Arial"/>
                <a:sym typeface="Arial"/>
              </a:defRPr>
            </a:lvl9pPr>
          </a:lstStyle>
          <a:p/>
        </p:txBody>
      </p:sp>
      <p:sp>
        <p:nvSpPr>
          <p:cNvPr id="22" name="Google Shape;22;p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23" name="Google Shape;23;p5"/>
          <p:cNvSpPr txBox="1"/>
          <p:nvPr>
            <p:ph idx="2"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24" name="Google Shape;24;p5"/>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Slide Title</a:t>
            </a:r>
            <a:endParaRPr b="0" i="0" sz="3200" u="none" cap="none" strike="noStrike">
              <a:solidFill>
                <a:srgbClr val="FFFFFF"/>
              </a:solidFill>
              <a:latin typeface="Boogaloo"/>
              <a:ea typeface="Boogaloo"/>
              <a:cs typeface="Boogaloo"/>
              <a:sym typeface="Boogaloo"/>
            </a:endParaRPr>
          </a:p>
        </p:txBody>
      </p:sp>
      <p:sp>
        <p:nvSpPr>
          <p:cNvPr id="27" name="Google Shape;27;p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Slide ID</a:t>
            </a:r>
            <a:endParaRPr b="0" i="0" sz="1800" u="none" cap="none" strike="noStrike">
              <a:solidFill>
                <a:srgbClr val="9A2F3E"/>
              </a:solidFill>
              <a:latin typeface="Boogaloo"/>
              <a:ea typeface="Boogaloo"/>
              <a:cs typeface="Boogaloo"/>
              <a:sym typeface="Boogaloo"/>
            </a:endParaRPr>
          </a:p>
        </p:txBody>
      </p:sp>
      <p:sp>
        <p:nvSpPr>
          <p:cNvPr id="28" name="Google Shape;28;p6"/>
          <p:cNvSpPr/>
          <p:nvPr/>
        </p:nvSpPr>
        <p:spPr>
          <a:xfrm>
            <a:off x="4967825"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r">
              <a:lnSpc>
                <a:spcPct val="100000"/>
              </a:lnSpc>
              <a:spcBef>
                <a:spcPts val="0"/>
              </a:spcBef>
              <a:spcAft>
                <a:spcPts val="0"/>
              </a:spcAft>
              <a:buClr>
                <a:srgbClr val="EA7D73"/>
              </a:buClr>
              <a:buSzPts val="2000"/>
              <a:buFont typeface="Arial"/>
              <a:buNone/>
            </a:pPr>
            <a:r>
              <a:rPr b="1" i="0" lang="en" sz="1800" u="none" cap="none" strike="noStrike">
                <a:solidFill>
                  <a:srgbClr val="9A2F3E"/>
                </a:solidFill>
                <a:latin typeface="Boogaloo"/>
                <a:ea typeface="Boogaloo"/>
                <a:cs typeface="Boogaloo"/>
                <a:sym typeface="Boogaloo"/>
              </a:rPr>
              <a:t>Unit ID • Lesson ID</a:t>
            </a:r>
            <a:endParaRPr b="0" i="0" sz="1800" u="none" cap="none" strike="noStrike">
              <a:solidFill>
                <a:srgbClr val="9A2F3E"/>
              </a:solidFill>
              <a:latin typeface="Boogaloo"/>
              <a:ea typeface="Boogaloo"/>
              <a:cs typeface="Boogaloo"/>
              <a:sym typeface="Boogaloo"/>
            </a:endParaRPr>
          </a:p>
        </p:txBody>
      </p:sp>
      <p:sp>
        <p:nvSpPr>
          <p:cNvPr id="29" name="Google Shape;29;p6"/>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0" name="Google Shape;30;p6"/>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1" name="Google Shape;31;p6"/>
          <p:cNvSpPr txBox="1"/>
          <p:nvPr>
            <p:ph idx="2"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2" name="Shape 32"/>
        <p:cNvGrpSpPr/>
        <p:nvPr/>
      </p:nvGrpSpPr>
      <p:grpSpPr>
        <a:xfrm>
          <a:off x="0" y="0"/>
          <a:ext cx="0" cy="0"/>
          <a:chOff x="0" y="0"/>
          <a:chExt cx="0" cy="0"/>
        </a:xfrm>
      </p:grpSpPr>
      <p:sp>
        <p:nvSpPr>
          <p:cNvPr id="33" name="Google Shape;33;p7"/>
          <p:cNvSpPr txBox="1"/>
          <p:nvPr>
            <p:ph type="title"/>
          </p:nvPr>
        </p:nvSpPr>
        <p:spPr>
          <a:xfrm>
            <a:off x="457200" y="1644225"/>
            <a:ext cx="3853500" cy="19764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34" name="Google Shape;34;p7"/>
          <p:cNvSpPr txBox="1"/>
          <p:nvPr>
            <p:ph idx="1" type="subTitle"/>
          </p:nvPr>
        </p:nvSpPr>
        <p:spPr>
          <a:xfrm>
            <a:off x="457225" y="3737425"/>
            <a:ext cx="3853500" cy="1646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7"/>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6" name="Google Shape;36;p7"/>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37" name="Google Shape;37;p7"/>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38" name="Google Shape;38;p7"/>
          <p:cNvSpPr txBox="1"/>
          <p:nvPr>
            <p:ph idx="5" type="body"/>
          </p:nvPr>
        </p:nvSpPr>
        <p:spPr>
          <a:xfrm>
            <a:off x="4568850" y="1676825"/>
            <a:ext cx="4117800" cy="4418100"/>
          </a:xfrm>
          <a:prstGeom prst="rect">
            <a:avLst/>
          </a:prstGeom>
          <a:solidFill>
            <a:srgbClr val="F5EDEF"/>
          </a:solidFill>
          <a:ln cap="flat" cmpd="sng" w="9525">
            <a:solidFill>
              <a:srgbClr val="9A2F3E"/>
            </a:solidFill>
            <a:prstDash val="solid"/>
            <a:round/>
            <a:headEnd len="sm" w="sm" type="none"/>
            <a:tailEnd len="sm" w="sm" type="none"/>
          </a:ln>
        </p:spPr>
        <p:txBody>
          <a:bodyPr anchorCtr="0" anchor="t" bIns="91425" lIns="91425" spcFirstLastPara="1" rIns="91425" wrap="square" tIns="91425">
            <a:noAutofit/>
          </a:bodyPr>
          <a:lstStyle>
            <a:lvl1pPr indent="-457200" lvl="0" marL="457200" algn="l">
              <a:lnSpc>
                <a:spcPct val="115000"/>
              </a:lnSpc>
              <a:spcBef>
                <a:spcPts val="0"/>
              </a:spcBef>
              <a:spcAft>
                <a:spcPts val="0"/>
              </a:spcAft>
              <a:buSzPts val="3600"/>
              <a:buChar char="●"/>
              <a:defRPr/>
            </a:lvl1pPr>
            <a:lvl2pPr indent="-431800" lvl="1" marL="914400" algn="l">
              <a:lnSpc>
                <a:spcPct val="115000"/>
              </a:lnSpc>
              <a:spcBef>
                <a:spcPts val="1600"/>
              </a:spcBef>
              <a:spcAft>
                <a:spcPts val="0"/>
              </a:spcAft>
              <a:buSzPts val="3200"/>
              <a:buChar char="○"/>
              <a:defRPr/>
            </a:lvl2pPr>
            <a:lvl3pPr indent="-381000" lvl="2" marL="1371600" algn="l">
              <a:lnSpc>
                <a:spcPct val="115000"/>
              </a:lnSpc>
              <a:spcBef>
                <a:spcPts val="1600"/>
              </a:spcBef>
              <a:spcAft>
                <a:spcPts val="0"/>
              </a:spcAft>
              <a:buSzPts val="2400"/>
              <a:buChar char="■"/>
              <a:defRPr/>
            </a:lvl3pPr>
            <a:lvl4pPr indent="-381000" lvl="3" marL="1828800" algn="l">
              <a:lnSpc>
                <a:spcPct val="115000"/>
              </a:lnSpc>
              <a:spcBef>
                <a:spcPts val="1600"/>
              </a:spcBef>
              <a:spcAft>
                <a:spcPts val="0"/>
              </a:spcAft>
              <a:buSzPts val="2400"/>
              <a:buChar char="●"/>
              <a:defRPr/>
            </a:lvl4pPr>
            <a:lvl5pPr indent="-342900" lvl="4" marL="2286000" algn="l">
              <a:lnSpc>
                <a:spcPct val="115000"/>
              </a:lnSpc>
              <a:spcBef>
                <a:spcPts val="1600"/>
              </a:spcBef>
              <a:spcAft>
                <a:spcPts val="0"/>
              </a:spcAft>
              <a:buSzPts val="18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l Content">
  <p:cSld name="SECTION_TITLE_AND_DESCRIPTION_1">
    <p:spTree>
      <p:nvGrpSpPr>
        <p:cNvPr id="39" name="Shape 39"/>
        <p:cNvGrpSpPr/>
        <p:nvPr/>
      </p:nvGrpSpPr>
      <p:grpSpPr>
        <a:xfrm>
          <a:off x="0" y="0"/>
          <a:ext cx="0" cy="0"/>
          <a:chOff x="0" y="0"/>
          <a:chExt cx="0" cy="0"/>
        </a:xfrm>
      </p:grpSpPr>
      <p:sp>
        <p:nvSpPr>
          <p:cNvPr id="40" name="Google Shape;40;p8"/>
          <p:cNvSpPr txBox="1"/>
          <p:nvPr>
            <p:ph type="title"/>
          </p:nvPr>
        </p:nvSpPr>
        <p:spPr>
          <a:xfrm>
            <a:off x="457200" y="1650950"/>
            <a:ext cx="8229600" cy="19728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1pPr>
            <a:lvl2pPr lvl="1"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4200"/>
              <a:buFont typeface="Arial"/>
              <a:buChar char="■"/>
              <a:defRPr b="0" i="0" sz="4200" u="none" cap="none" strike="noStrike">
                <a:solidFill>
                  <a:srgbClr val="000000"/>
                </a:solidFill>
                <a:latin typeface="Arial"/>
                <a:ea typeface="Arial"/>
                <a:cs typeface="Arial"/>
                <a:sym typeface="Arial"/>
              </a:defRPr>
            </a:lvl9pPr>
          </a:lstStyle>
          <a:p/>
        </p:txBody>
      </p:sp>
      <p:sp>
        <p:nvSpPr>
          <p:cNvPr id="41" name="Google Shape;41;p8"/>
          <p:cNvSpPr txBox="1"/>
          <p:nvPr>
            <p:ph idx="1" type="subTitle"/>
          </p:nvPr>
        </p:nvSpPr>
        <p:spPr>
          <a:xfrm>
            <a:off x="457200" y="3740375"/>
            <a:ext cx="8229600" cy="16437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8"/>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3" name="Google Shape;43;p8"/>
          <p:cNvSpPr txBox="1"/>
          <p:nvPr>
            <p:ph idx="3"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4" name="Google Shape;44;p8"/>
          <p:cNvSpPr txBox="1"/>
          <p:nvPr>
            <p:ph idx="4"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9"/>
          <p:cNvSpPr txBox="1"/>
          <p:nvPr>
            <p:ph idx="1" type="body"/>
          </p:nvPr>
        </p:nvSpPr>
        <p:spPr>
          <a:xfrm>
            <a:off x="457200" y="5640775"/>
            <a:ext cx="5853300" cy="80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rgbClr val="0B0B0B"/>
              </a:buClr>
              <a:buSzPts val="1800"/>
              <a:buFont typeface="Cabin"/>
              <a:buNone/>
              <a:defRPr sz="1800">
                <a:solidFill>
                  <a:srgbClr val="0B0B0B"/>
                </a:solidFill>
                <a:latin typeface="Cabin"/>
                <a:ea typeface="Cabin"/>
                <a:cs typeface="Cabin"/>
                <a:sym typeface="Cabin"/>
              </a:defRPr>
            </a:lvl1pPr>
          </a:lstStyle>
          <a:p/>
        </p:txBody>
      </p:sp>
      <p:sp>
        <p:nvSpPr>
          <p:cNvPr id="47" name="Google Shape;47;p9"/>
          <p:cNvSpPr txBox="1"/>
          <p:nvPr>
            <p:ph idx="2"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
        <p:nvSpPr>
          <p:cNvPr id="48" name="Google Shape;48;p9"/>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rgbClr val="000000"/>
              </a:buClr>
              <a:buSzPts val="3200"/>
              <a:buFont typeface="Arial"/>
              <a:buNone/>
              <a:defRPr b="0" i="0" sz="3200" u="none" cap="none" strike="noStrike">
                <a:solidFill>
                  <a:srgbClr val="FFFFFF"/>
                </a:solidFill>
                <a:latin typeface="Boogaloo"/>
                <a:ea typeface="Boogaloo"/>
                <a:cs typeface="Boogaloo"/>
                <a:sym typeface="Boogaloo"/>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Boogaloo"/>
                <a:ea typeface="Boogaloo"/>
                <a:cs typeface="Boogaloo"/>
                <a:sym typeface="Boogaloo"/>
              </a:defRPr>
            </a:lvl9pPr>
          </a:lstStyle>
          <a:p/>
        </p:txBody>
      </p:sp>
      <p:sp>
        <p:nvSpPr>
          <p:cNvPr id="49" name="Google Shape;49;p9"/>
          <p:cNvSpPr txBox="1"/>
          <p:nvPr>
            <p:ph idx="3" type="subTitle"/>
          </p:nvPr>
        </p:nvSpPr>
        <p:spPr>
          <a:xfrm>
            <a:off x="5538000" y="74350"/>
            <a:ext cx="3148800" cy="474300"/>
          </a:xfrm>
          <a:prstGeom prst="rect">
            <a:avLst/>
          </a:prstGeom>
          <a:noFill/>
          <a:ln>
            <a:noFill/>
          </a:ln>
        </p:spPr>
        <p:txBody>
          <a:bodyPr anchorCtr="0" anchor="t" bIns="91425" lIns="91425" spcFirstLastPara="1" rIns="91425" wrap="square" tIns="91425">
            <a:noAutofit/>
          </a:bodyPr>
          <a:lstStyle>
            <a:lvl1pPr lvl="0" algn="r">
              <a:lnSpc>
                <a:spcPct val="115000"/>
              </a:lnSpc>
              <a:spcBef>
                <a:spcPts val="0"/>
              </a:spcBef>
              <a:spcAft>
                <a:spcPts val="0"/>
              </a:spcAft>
              <a:buSzPts val="3600"/>
              <a:buNone/>
              <a:defRPr sz="1800"/>
            </a:lvl1pPr>
            <a:lvl2pPr lvl="1" algn="l">
              <a:lnSpc>
                <a:spcPct val="115000"/>
              </a:lnSpc>
              <a:spcBef>
                <a:spcPts val="1600"/>
              </a:spcBef>
              <a:spcAft>
                <a:spcPts val="0"/>
              </a:spcAft>
              <a:buSzPts val="3200"/>
              <a:buNone/>
              <a:defRPr/>
            </a:lvl2pPr>
            <a:lvl3pPr lvl="2" algn="l">
              <a:lnSpc>
                <a:spcPct val="115000"/>
              </a:lnSpc>
              <a:spcBef>
                <a:spcPts val="1600"/>
              </a:spcBef>
              <a:spcAft>
                <a:spcPts val="0"/>
              </a:spcAft>
              <a:buSzPts val="2400"/>
              <a:buNone/>
              <a:defRPr/>
            </a:lvl3pPr>
            <a:lvl4pPr lvl="3" algn="l">
              <a:lnSpc>
                <a:spcPct val="115000"/>
              </a:lnSpc>
              <a:spcBef>
                <a:spcPts val="1600"/>
              </a:spcBef>
              <a:spcAft>
                <a:spcPts val="0"/>
              </a:spcAft>
              <a:buSzPts val="2400"/>
              <a:buNone/>
              <a:defRPr/>
            </a:lvl4pPr>
            <a:lvl5pPr lvl="4" algn="l">
              <a:lnSpc>
                <a:spcPct val="115000"/>
              </a:lnSpc>
              <a:spcBef>
                <a:spcPts val="1600"/>
              </a:spcBef>
              <a:spcAft>
                <a:spcPts val="0"/>
              </a:spcAft>
              <a:buSzPts val="1800"/>
              <a:buNone/>
              <a:defRPr/>
            </a:lvl5pPr>
            <a:lvl6pPr lvl="5" algn="l">
              <a:lnSpc>
                <a:spcPct val="115000"/>
              </a:lnSpc>
              <a:spcBef>
                <a:spcPts val="1600"/>
              </a:spcBef>
              <a:spcAft>
                <a:spcPts val="0"/>
              </a:spcAft>
              <a:buSzPts val="1400"/>
              <a:buNone/>
              <a:defRPr/>
            </a:lvl6pPr>
            <a:lvl7pPr lvl="6" algn="l">
              <a:lnSpc>
                <a:spcPct val="115000"/>
              </a:lnSpc>
              <a:spcBef>
                <a:spcPts val="1600"/>
              </a:spcBef>
              <a:spcAft>
                <a:spcPts val="0"/>
              </a:spcAft>
              <a:buSzPts val="1400"/>
              <a:buNone/>
              <a:defRPr/>
            </a:lvl7pPr>
            <a:lvl8pPr lvl="7" algn="l">
              <a:lnSpc>
                <a:spcPct val="115000"/>
              </a:lnSpc>
              <a:spcBef>
                <a:spcPts val="1600"/>
              </a:spcBef>
              <a:spcAft>
                <a:spcPts val="0"/>
              </a:spcAft>
              <a:buSzPts val="1400"/>
              <a:buNone/>
              <a:defRPr/>
            </a:lvl8pPr>
            <a:lvl9pPr lvl="8" algn="l">
              <a:lnSpc>
                <a:spcPct val="115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p:cSld name="BLANK_1">
    <p:bg>
      <p:bgPr>
        <a:solidFill>
          <a:srgbClr val="FFFFFF"/>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3F3F3"/>
        </a:solidFill>
      </p:bgPr>
    </p:bg>
    <p:spTree>
      <p:nvGrpSpPr>
        <p:cNvPr id="5" name="Shape 5"/>
        <p:cNvGrpSpPr/>
        <p:nvPr/>
      </p:nvGrpSpPr>
      <p:grpSpPr>
        <a:xfrm>
          <a:off x="0" y="0"/>
          <a:ext cx="0" cy="0"/>
          <a:chOff x="0" y="0"/>
          <a:chExt cx="0" cy="0"/>
        </a:xfrm>
      </p:grpSpPr>
      <p:sp>
        <p:nvSpPr>
          <p:cNvPr id="6" name="Google Shape;6;p1"/>
          <p:cNvSpPr txBox="1"/>
          <p:nvPr>
            <p:ph idx="1" type="body"/>
          </p:nvPr>
        </p:nvSpPr>
        <p:spPr>
          <a:xfrm>
            <a:off x="489850" y="1536625"/>
            <a:ext cx="8342400" cy="4555200"/>
          </a:xfrm>
          <a:prstGeom prst="rect">
            <a:avLst/>
          </a:prstGeom>
          <a:noFill/>
          <a:ln>
            <a:noFill/>
          </a:ln>
        </p:spPr>
        <p:txBody>
          <a:bodyPr anchorCtr="0" anchor="t" bIns="91425" lIns="91425" spcFirstLastPara="1" rIns="91425" wrap="square" tIns="91425">
            <a:noAutofit/>
          </a:bodyPr>
          <a:lstStyle>
            <a:lvl1pPr indent="-457200" lvl="0" marL="457200" marR="0" rtl="0" algn="l">
              <a:lnSpc>
                <a:spcPct val="115000"/>
              </a:lnSpc>
              <a:spcBef>
                <a:spcPts val="0"/>
              </a:spcBef>
              <a:spcAft>
                <a:spcPts val="0"/>
              </a:spcAft>
              <a:buClr>
                <a:srgbClr val="9A2F3E"/>
              </a:buClr>
              <a:buSzPts val="3600"/>
              <a:buFont typeface="Boogaloo"/>
              <a:buChar char="●"/>
              <a:defRPr b="0" i="0" sz="3600" u="none" cap="none" strike="noStrike">
                <a:solidFill>
                  <a:srgbClr val="9A2F3E"/>
                </a:solidFill>
                <a:latin typeface="Boogaloo"/>
                <a:ea typeface="Boogaloo"/>
                <a:cs typeface="Boogaloo"/>
                <a:sym typeface="Boogaloo"/>
              </a:defRPr>
            </a:lvl1pPr>
            <a:lvl2pPr indent="-431800" lvl="1" marL="914400" marR="0" rtl="0" algn="l">
              <a:lnSpc>
                <a:spcPct val="115000"/>
              </a:lnSpc>
              <a:spcBef>
                <a:spcPts val="1600"/>
              </a:spcBef>
              <a:spcAft>
                <a:spcPts val="0"/>
              </a:spcAft>
              <a:buClr>
                <a:srgbClr val="9A2F3E"/>
              </a:buClr>
              <a:buSzPts val="3200"/>
              <a:buFont typeface="Boogaloo"/>
              <a:buChar char="○"/>
              <a:defRPr b="0" i="0" sz="3200" u="none" cap="none" strike="noStrike">
                <a:solidFill>
                  <a:srgbClr val="9A2F3E"/>
                </a:solidFill>
                <a:latin typeface="Boogaloo"/>
                <a:ea typeface="Boogaloo"/>
                <a:cs typeface="Boogaloo"/>
                <a:sym typeface="Boogaloo"/>
              </a:defRPr>
            </a:lvl2pPr>
            <a:lvl3pPr indent="-381000" lvl="2" marL="1371600" marR="0" rtl="0" algn="l">
              <a:lnSpc>
                <a:spcPct val="115000"/>
              </a:lnSpc>
              <a:spcBef>
                <a:spcPts val="1600"/>
              </a:spcBef>
              <a:spcAft>
                <a:spcPts val="0"/>
              </a:spcAft>
              <a:buClr>
                <a:srgbClr val="9A2F3E"/>
              </a:buClr>
              <a:buSzPts val="2400"/>
              <a:buFont typeface="Boogaloo"/>
              <a:buChar char="■"/>
              <a:defRPr b="0" i="0" sz="2400" u="none" cap="none" strike="noStrike">
                <a:solidFill>
                  <a:srgbClr val="9A2F3E"/>
                </a:solidFill>
                <a:latin typeface="Boogaloo"/>
                <a:ea typeface="Boogaloo"/>
                <a:cs typeface="Boogaloo"/>
                <a:sym typeface="Boogaloo"/>
              </a:defRPr>
            </a:lvl3pPr>
            <a:lvl4pPr indent="-381000" lvl="3" marL="1828800" marR="0" rtl="0" algn="l">
              <a:lnSpc>
                <a:spcPct val="115000"/>
              </a:lnSpc>
              <a:spcBef>
                <a:spcPts val="1600"/>
              </a:spcBef>
              <a:spcAft>
                <a:spcPts val="0"/>
              </a:spcAft>
              <a:buClr>
                <a:srgbClr val="9A2F3E"/>
              </a:buClr>
              <a:buSzPts val="2400"/>
              <a:buFont typeface="Cabin Condensed"/>
              <a:buChar char="●"/>
              <a:defRPr b="0" i="0" sz="2400" u="none" cap="none" strike="noStrike">
                <a:solidFill>
                  <a:srgbClr val="9A2F3E"/>
                </a:solidFill>
                <a:latin typeface="Cabin Condensed"/>
                <a:ea typeface="Cabin Condensed"/>
                <a:cs typeface="Cabin Condensed"/>
                <a:sym typeface="Cabin Condensed"/>
              </a:defRPr>
            </a:lvl4pPr>
            <a:lvl5pPr indent="-342900" lvl="4" marL="2286000" marR="0" rtl="0" algn="l">
              <a:lnSpc>
                <a:spcPct val="115000"/>
              </a:lnSpc>
              <a:spcBef>
                <a:spcPts val="1600"/>
              </a:spcBef>
              <a:spcAft>
                <a:spcPts val="0"/>
              </a:spcAft>
              <a:buClr>
                <a:srgbClr val="9A2F3E"/>
              </a:buClr>
              <a:buSzPts val="1800"/>
              <a:buFont typeface="Cabin Condensed"/>
              <a:buChar char="○"/>
              <a:defRPr b="0" i="0" sz="1800" u="none" cap="none" strike="noStrike">
                <a:solidFill>
                  <a:srgbClr val="9A2F3E"/>
                </a:solidFill>
                <a:latin typeface="Cabin Condensed"/>
                <a:ea typeface="Cabin Condensed"/>
                <a:cs typeface="Cabin Condensed"/>
                <a:sym typeface="Cabin Condensed"/>
              </a:defRPr>
            </a:lvl5pPr>
            <a:lvl6pPr indent="-317500" lvl="5" marL="2743200" marR="0" rtl="0" algn="l">
              <a:lnSpc>
                <a:spcPct val="115000"/>
              </a:lnSpc>
              <a:spcBef>
                <a:spcPts val="1600"/>
              </a:spcBef>
              <a:spcAft>
                <a:spcPts val="0"/>
              </a:spcAft>
              <a:buClr>
                <a:srgbClr val="0B0B0B"/>
              </a:buClr>
              <a:buSzPts val="1400"/>
              <a:buFont typeface="Cabin"/>
              <a:buChar char="■"/>
              <a:defRPr b="0" i="0" sz="1400" u="none" cap="none" strike="noStrike">
                <a:solidFill>
                  <a:srgbClr val="0B0B0B"/>
                </a:solidFill>
                <a:latin typeface="Cabin"/>
                <a:ea typeface="Cabin"/>
                <a:cs typeface="Cabin"/>
                <a:sym typeface="Cabin"/>
              </a:defRPr>
            </a:lvl6pPr>
            <a:lvl7pPr indent="-317500" lvl="6" marL="3200400" marR="0" rtl="0" algn="l">
              <a:lnSpc>
                <a:spcPct val="115000"/>
              </a:lnSpc>
              <a:spcBef>
                <a:spcPts val="1600"/>
              </a:spcBef>
              <a:spcAft>
                <a:spcPts val="0"/>
              </a:spcAft>
              <a:buClr>
                <a:srgbClr val="0B0B0B"/>
              </a:buClr>
              <a:buSzPts val="1400"/>
              <a:buFont typeface="Cabin Condensed"/>
              <a:buChar char="●"/>
              <a:defRPr b="0" i="0" sz="1400" u="none" cap="none" strike="noStrike">
                <a:solidFill>
                  <a:srgbClr val="0B0B0B"/>
                </a:solidFill>
                <a:latin typeface="Cabin Condensed"/>
                <a:ea typeface="Cabin Condensed"/>
                <a:cs typeface="Cabin Condensed"/>
                <a:sym typeface="Cabin Condensed"/>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2"/>
          <p:cNvSpPr/>
          <p:nvPr/>
        </p:nvSpPr>
        <p:spPr>
          <a:xfrm>
            <a:off x="487975" y="1406625"/>
            <a:ext cx="8198700" cy="5119200"/>
          </a:xfrm>
          <a:prstGeom prst="rect">
            <a:avLst/>
          </a:prstGeom>
          <a:solidFill>
            <a:srgbClr val="F5ED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2"/>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A</a:t>
            </a:r>
            <a:endParaRPr/>
          </a:p>
        </p:txBody>
      </p:sp>
      <p:sp>
        <p:nvSpPr>
          <p:cNvPr id="58" name="Google Shape;58;p12"/>
          <p:cNvSpPr txBox="1"/>
          <p:nvPr>
            <p:ph idx="2" type="body"/>
          </p:nvPr>
        </p:nvSpPr>
        <p:spPr>
          <a:xfrm>
            <a:off x="1803250" y="1815525"/>
            <a:ext cx="3148800" cy="796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Recap Our Learning</a:t>
            </a:r>
            <a:endParaRPr sz="3000"/>
          </a:p>
        </p:txBody>
      </p:sp>
      <p:sp>
        <p:nvSpPr>
          <p:cNvPr id="59" name="Google Shape;59;p12"/>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Navigation</a:t>
            </a:r>
            <a:endParaRPr/>
          </a:p>
        </p:txBody>
      </p:sp>
      <p:sp>
        <p:nvSpPr>
          <p:cNvPr id="60" name="Google Shape;60;p12"/>
          <p:cNvSpPr txBox="1"/>
          <p:nvPr/>
        </p:nvSpPr>
        <p:spPr>
          <a:xfrm>
            <a:off x="802900" y="2964175"/>
            <a:ext cx="4149300" cy="287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Last class we made a big discovery about peak forces in a collision.</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Cabin Condensed"/>
                <a:ea typeface="Cabin Condensed"/>
                <a:cs typeface="Cabin Condensed"/>
                <a:sym typeface="Cabin Condensed"/>
              </a:rPr>
              <a:t>Let’s take some time to look back and make a record of what we have discovered.</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p:txBody>
      </p:sp>
      <p:sp>
        <p:nvSpPr>
          <p:cNvPr id="61" name="Google Shape;61;p12"/>
          <p:cNvSpPr txBox="1"/>
          <p:nvPr/>
        </p:nvSpPr>
        <p:spPr>
          <a:xfrm>
            <a:off x="805825" y="5443775"/>
            <a:ext cx="7563000" cy="1131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Cabin Condensed"/>
                <a:ea typeface="Cabin Condensed"/>
                <a:cs typeface="Cabin Condensed"/>
                <a:sym typeface="Cabin Condensed"/>
              </a:rPr>
              <a:t>Turn to your Progress Tracker and help your teacher make a list of what we have discovered so far!</a:t>
            </a:r>
            <a:endParaRPr b="0" i="0" sz="2400" u="none" cap="none" strike="noStrike">
              <a:solidFill>
                <a:schemeClr val="dk1"/>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p:txBody>
      </p:sp>
      <p:pic>
        <p:nvPicPr>
          <p:cNvPr descr="With your class icon" id="62" name="Google Shape;62;p12"/>
          <p:cNvPicPr preferRelativeResize="0"/>
          <p:nvPr/>
        </p:nvPicPr>
        <p:blipFill rotWithShape="1">
          <a:blip r:embed="rId3">
            <a:alphaModFix/>
          </a:blip>
          <a:srcRect b="0" l="0" r="0" t="0"/>
          <a:stretch/>
        </p:blipFill>
        <p:spPr>
          <a:xfrm>
            <a:off x="789075" y="1796275"/>
            <a:ext cx="878074" cy="891650"/>
          </a:xfrm>
          <a:prstGeom prst="rect">
            <a:avLst/>
          </a:prstGeom>
          <a:noFill/>
          <a:ln>
            <a:noFill/>
          </a:ln>
        </p:spPr>
      </p:pic>
      <p:sp>
        <p:nvSpPr>
          <p:cNvPr descr="A piece of paper titled What We Have Discovered" id="63" name="Google Shape;63;p12"/>
          <p:cNvSpPr/>
          <p:nvPr/>
        </p:nvSpPr>
        <p:spPr>
          <a:xfrm>
            <a:off x="5217075" y="1520400"/>
            <a:ext cx="3071400" cy="38190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12"/>
          <p:cNvSpPr txBox="1"/>
          <p:nvPr/>
        </p:nvSpPr>
        <p:spPr>
          <a:xfrm rot="-6896">
            <a:off x="5332033" y="1745159"/>
            <a:ext cx="2841606" cy="292200"/>
          </a:xfrm>
          <a:prstGeom prst="rect">
            <a:avLst/>
          </a:prstGeom>
          <a:noFill/>
          <a:ln>
            <a:noFill/>
          </a:ln>
        </p:spPr>
        <p:txBody>
          <a:bodyPr anchorCtr="0" anchor="b"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000000"/>
                </a:solidFill>
                <a:latin typeface="Caveat"/>
                <a:ea typeface="Caveat"/>
                <a:cs typeface="Caveat"/>
                <a:sym typeface="Caveat"/>
              </a:rPr>
              <a:t>What We Have Discovered</a:t>
            </a:r>
            <a:endParaRPr b="1" i="0" sz="2000" u="none" cap="none" strike="noStrike">
              <a:solidFill>
                <a:srgbClr val="000000"/>
              </a:solidFill>
              <a:latin typeface="Caveat"/>
              <a:ea typeface="Caveat"/>
              <a:cs typeface="Caveat"/>
              <a:sym typeface="Caveat"/>
            </a:endParaRPr>
          </a:p>
        </p:txBody>
      </p:sp>
      <p:cxnSp>
        <p:nvCxnSpPr>
          <p:cNvPr id="65" name="Google Shape;65;p12"/>
          <p:cNvCxnSpPr/>
          <p:nvPr/>
        </p:nvCxnSpPr>
        <p:spPr>
          <a:xfrm flipH="1" rot="10800000">
            <a:off x="5264937" y="2166979"/>
            <a:ext cx="2950500" cy="34200"/>
          </a:xfrm>
          <a:prstGeom prst="straightConnector1">
            <a:avLst/>
          </a:prstGeom>
          <a:noFill/>
          <a:ln cap="flat" cmpd="sng" w="9525">
            <a:solidFill>
              <a:srgbClr val="000000"/>
            </a:solidFill>
            <a:prstDash val="solid"/>
            <a:round/>
            <a:headEnd len="sm" w="sm" type="none"/>
            <a:tailEnd len="sm" w="sm"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3"/>
          <p:cNvSpPr/>
          <p:nvPr/>
        </p:nvSpPr>
        <p:spPr>
          <a:xfrm>
            <a:off x="455475" y="1464025"/>
            <a:ext cx="8229600" cy="52167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3"/>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B</a:t>
            </a:r>
            <a:endParaRPr/>
          </a:p>
        </p:txBody>
      </p:sp>
      <p:sp>
        <p:nvSpPr>
          <p:cNvPr id="72" name="Google Shape;72;p13"/>
          <p:cNvSpPr txBox="1"/>
          <p:nvPr>
            <p:ph idx="2" type="body"/>
          </p:nvPr>
        </p:nvSpPr>
        <p:spPr>
          <a:xfrm>
            <a:off x="1754788" y="1615450"/>
            <a:ext cx="3427200" cy="140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1600"/>
              </a:spcAft>
              <a:buSzPts val="3600"/>
              <a:buNone/>
            </a:pPr>
            <a:r>
              <a:rPr lang="en" sz="3000"/>
              <a:t>Driving Question Board Check-in</a:t>
            </a:r>
            <a:endParaRPr sz="3000"/>
          </a:p>
        </p:txBody>
      </p:sp>
      <p:sp>
        <p:nvSpPr>
          <p:cNvPr id="73" name="Google Shape;73;p13"/>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Revisit the Driving Question Board</a:t>
            </a:r>
            <a:endParaRPr/>
          </a:p>
        </p:txBody>
      </p:sp>
      <p:pic>
        <p:nvPicPr>
          <p:cNvPr descr="Colorful sticky notes are arranged on a Driving Question Board under categories: Damage, Factors/Variables, Timing, Force/Energy, Not Breaking, and Breaking. Each note poses a scientific question related to the theme of its category." id="74" name="Google Shape;74;p13"/>
          <p:cNvPicPr preferRelativeResize="0"/>
          <p:nvPr/>
        </p:nvPicPr>
        <p:blipFill rotWithShape="1">
          <a:blip r:embed="rId3">
            <a:alphaModFix/>
          </a:blip>
          <a:srcRect b="0" l="5124" r="5132" t="0"/>
          <a:stretch/>
        </p:blipFill>
        <p:spPr>
          <a:xfrm>
            <a:off x="5375625" y="1615450"/>
            <a:ext cx="2954174" cy="3940076"/>
          </a:xfrm>
          <a:prstGeom prst="rect">
            <a:avLst/>
          </a:prstGeom>
          <a:noFill/>
          <a:ln>
            <a:noFill/>
          </a:ln>
        </p:spPr>
      </p:pic>
      <p:sp>
        <p:nvSpPr>
          <p:cNvPr id="75" name="Google Shape;75;p13"/>
          <p:cNvSpPr txBox="1"/>
          <p:nvPr/>
        </p:nvSpPr>
        <p:spPr>
          <a:xfrm>
            <a:off x="585500" y="3007875"/>
            <a:ext cx="4517700" cy="2535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Look over the list of questions from the Driving Question Board.</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rPr b="0" i="0" lang="en" sz="2400" u="none" cap="none" strike="noStrike">
                <a:solidFill>
                  <a:srgbClr val="000000"/>
                </a:solidFill>
                <a:latin typeface="Cabin Condensed"/>
                <a:ea typeface="Cabin Condensed"/>
                <a:cs typeface="Cabin Condensed"/>
                <a:sym typeface="Cabin Condensed"/>
              </a:rPr>
              <a:t>With a partner, use your handout to identify at least 3 questions we have made progress on in our unit.  </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000000"/>
              </a:solidFill>
              <a:latin typeface="Cabin Condensed"/>
              <a:ea typeface="Cabin Condensed"/>
              <a:cs typeface="Cabin Condensed"/>
              <a:sym typeface="Cabin Condensed"/>
            </a:endParaRPr>
          </a:p>
        </p:txBody>
      </p:sp>
      <p:pic>
        <p:nvPicPr>
          <p:cNvPr descr="With a partner icon" id="76" name="Google Shape;76;p13"/>
          <p:cNvPicPr preferRelativeResize="0"/>
          <p:nvPr/>
        </p:nvPicPr>
        <p:blipFill rotWithShape="1">
          <a:blip r:embed="rId4">
            <a:alphaModFix/>
          </a:blip>
          <a:srcRect b="0" l="0" r="0" t="0"/>
          <a:stretch/>
        </p:blipFill>
        <p:spPr>
          <a:xfrm>
            <a:off x="737900" y="1660425"/>
            <a:ext cx="823253" cy="964562"/>
          </a:xfrm>
          <a:prstGeom prst="rect">
            <a:avLst/>
          </a:prstGeom>
          <a:noFill/>
          <a:ln>
            <a:noFill/>
          </a:ln>
        </p:spPr>
      </p:pic>
      <p:sp>
        <p:nvSpPr>
          <p:cNvPr id="77" name="Google Shape;77;p13"/>
          <p:cNvSpPr txBox="1"/>
          <p:nvPr/>
        </p:nvSpPr>
        <p:spPr>
          <a:xfrm>
            <a:off x="585500" y="5656825"/>
            <a:ext cx="7744200" cy="893700"/>
          </a:xfrm>
          <a:prstGeom prst="rect">
            <a:avLst/>
          </a:prstGeom>
          <a:solidFill>
            <a:srgbClr val="F5EDEF"/>
          </a:solidFill>
          <a:ln cap="flat" cmpd="sng" w="19050">
            <a:solidFill>
              <a:srgbClr val="9A2F3E"/>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1"/>
              </a:buClr>
              <a:buSzPts val="1100"/>
              <a:buFont typeface="Arial"/>
              <a:buNone/>
            </a:pPr>
            <a:r>
              <a:rPr b="0" i="0" lang="en" sz="2400" u="none" cap="none" strike="noStrike">
                <a:solidFill>
                  <a:schemeClr val="dk1"/>
                </a:solidFill>
                <a:latin typeface="Cabin Condensed"/>
                <a:ea typeface="Cabin Condensed"/>
                <a:cs typeface="Cabin Condensed"/>
                <a:sym typeface="Cabin Condensed"/>
              </a:rPr>
              <a:t>Pick one question to answer and be sure to cite evidence from our past activities and investigations in your answer.</a:t>
            </a:r>
            <a:endParaRPr b="0" i="0" sz="1400" u="none" cap="none" strike="noStrike">
              <a:solidFill>
                <a:srgbClr val="000000"/>
              </a:solidFill>
              <a:latin typeface="Boogaloo"/>
              <a:ea typeface="Boogaloo"/>
              <a:cs typeface="Boogaloo"/>
              <a:sym typeface="Boogaloo"/>
            </a:endParaRPr>
          </a:p>
        </p:txBody>
      </p:sp>
      <p:pic>
        <p:nvPicPr>
          <p:cNvPr descr="Assessment icon" id="78" name="Google Shape;78;p13"/>
          <p:cNvPicPr preferRelativeResize="0"/>
          <p:nvPr/>
        </p:nvPicPr>
        <p:blipFill rotWithShape="1">
          <a:blip r:embed="rId5">
            <a:alphaModFix/>
          </a:blip>
          <a:srcRect b="0" l="0" r="0" t="0"/>
          <a:stretch/>
        </p:blipFill>
        <p:spPr>
          <a:xfrm>
            <a:off x="8583038" y="37175"/>
            <a:ext cx="524988" cy="474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4"/>
          <p:cNvSpPr/>
          <p:nvPr/>
        </p:nvSpPr>
        <p:spPr>
          <a:xfrm>
            <a:off x="487975" y="1339075"/>
            <a:ext cx="8076600" cy="50541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14"/>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C</a:t>
            </a:r>
            <a:endParaRPr/>
          </a:p>
        </p:txBody>
      </p:sp>
      <p:sp>
        <p:nvSpPr>
          <p:cNvPr id="85" name="Google Shape;85;p14"/>
          <p:cNvSpPr txBox="1"/>
          <p:nvPr>
            <p:ph idx="2" type="body"/>
          </p:nvPr>
        </p:nvSpPr>
        <p:spPr>
          <a:xfrm>
            <a:off x="2273400" y="1762125"/>
            <a:ext cx="4483500" cy="772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sz="3000"/>
              <a:t>Checking on Our Progress</a:t>
            </a:r>
            <a:endParaRPr sz="3000"/>
          </a:p>
        </p:txBody>
      </p:sp>
      <p:sp>
        <p:nvSpPr>
          <p:cNvPr id="86" name="Google Shape;86;p14"/>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Driving Question Board Debrief</a:t>
            </a:r>
            <a:endParaRPr/>
          </a:p>
        </p:txBody>
      </p:sp>
      <p:sp>
        <p:nvSpPr>
          <p:cNvPr id="87" name="Google Shape;87;p14"/>
          <p:cNvSpPr txBox="1"/>
          <p:nvPr/>
        </p:nvSpPr>
        <p:spPr>
          <a:xfrm>
            <a:off x="618000" y="3200425"/>
            <a:ext cx="7946700" cy="27804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chemeClr val="dk1"/>
              </a:buClr>
              <a:buSzPts val="2400"/>
              <a:buFont typeface="Cabin Condensed"/>
              <a:buChar char="●"/>
            </a:pPr>
            <a:r>
              <a:rPr b="0" i="0" lang="en" sz="2400" u="none" cap="none" strike="noStrike">
                <a:solidFill>
                  <a:schemeClr val="dk1"/>
                </a:solidFill>
                <a:latin typeface="Cabin Condensed"/>
                <a:ea typeface="Cabin Condensed"/>
                <a:cs typeface="Cabin Condensed"/>
                <a:sym typeface="Cabin Condensed"/>
              </a:rPr>
              <a:t>How many of you can now answer a question that we could not answer at the beginning of the unit?</a:t>
            </a:r>
            <a:endParaRPr b="0" i="0" sz="2400" u="none" cap="none" strike="noStrike">
              <a:solidFill>
                <a:schemeClr val="dk1"/>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chemeClr val="dk1"/>
              </a:buClr>
              <a:buSzPts val="2400"/>
              <a:buFont typeface="Cabin Condensed"/>
              <a:buChar char="●"/>
            </a:pPr>
            <a:r>
              <a:rPr b="0" i="0" lang="en" sz="2400" u="none" cap="none" strike="noStrike">
                <a:solidFill>
                  <a:schemeClr val="dk1"/>
                </a:solidFill>
                <a:latin typeface="Cabin Condensed"/>
                <a:ea typeface="Cabin Condensed"/>
                <a:cs typeface="Cabin Condensed"/>
                <a:sym typeface="Cabin Condensed"/>
              </a:rPr>
              <a:t>What questions do you now feel comfortable answering? What were your answers?</a:t>
            </a:r>
            <a:endParaRPr b="0" i="0" sz="2400" u="none" cap="none" strike="noStrike">
              <a:solidFill>
                <a:schemeClr val="dk1"/>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chemeClr val="dk1"/>
              </a:buClr>
              <a:buSzPts val="2400"/>
              <a:buFont typeface="Cabin Condensed"/>
              <a:buChar char="●"/>
            </a:pPr>
            <a:r>
              <a:rPr b="0" i="0" lang="en" sz="2400" u="none" cap="none" strike="noStrike">
                <a:solidFill>
                  <a:schemeClr val="dk1"/>
                </a:solidFill>
                <a:latin typeface="Cabin Condensed"/>
                <a:ea typeface="Cabin Condensed"/>
                <a:cs typeface="Cabin Condensed"/>
                <a:sym typeface="Cabin Condensed"/>
              </a:rPr>
              <a:t>Were there any questions about mass and speed that we couldn’t answer yet? Which ones?</a:t>
            </a:r>
            <a:endParaRPr b="0" i="0" sz="2400" u="none" cap="none" strike="noStrike">
              <a:solidFill>
                <a:schemeClr val="dk1"/>
              </a:solidFill>
              <a:latin typeface="Cabin Condensed"/>
              <a:ea typeface="Cabin Condensed"/>
              <a:cs typeface="Cabin Condensed"/>
              <a:sym typeface="Cabin Condensed"/>
            </a:endParaRPr>
          </a:p>
        </p:txBody>
      </p:sp>
      <p:pic>
        <p:nvPicPr>
          <p:cNvPr descr="With your class icon" id="88" name="Google Shape;88;p14"/>
          <p:cNvPicPr preferRelativeResize="0"/>
          <p:nvPr/>
        </p:nvPicPr>
        <p:blipFill rotWithShape="1">
          <a:blip r:embed="rId3">
            <a:alphaModFix/>
          </a:blip>
          <a:srcRect b="0" l="0" r="0" t="0"/>
          <a:stretch/>
        </p:blipFill>
        <p:spPr>
          <a:xfrm>
            <a:off x="941475" y="1685925"/>
            <a:ext cx="1046850" cy="1063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idx="1" type="subTitle"/>
          </p:nvPr>
        </p:nvSpPr>
        <p:spPr>
          <a:xfrm>
            <a:off x="457200" y="74350"/>
            <a:ext cx="3148800" cy="47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3600"/>
              <a:buNone/>
            </a:pPr>
            <a:r>
              <a:rPr lang="en"/>
              <a:t>Slide D</a:t>
            </a:r>
            <a:endParaRPr/>
          </a:p>
        </p:txBody>
      </p:sp>
      <p:sp>
        <p:nvSpPr>
          <p:cNvPr id="94" name="Google Shape;94;p15"/>
          <p:cNvSpPr txBox="1"/>
          <p:nvPr>
            <p:ph idx="2" type="body"/>
          </p:nvPr>
        </p:nvSpPr>
        <p:spPr>
          <a:xfrm>
            <a:off x="457200" y="1464200"/>
            <a:ext cx="6212700" cy="833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3600"/>
              <a:buNone/>
            </a:pPr>
            <a:r>
              <a:rPr lang="en" sz="3000"/>
              <a:t>Lesson Assessment</a:t>
            </a:r>
            <a:endParaRPr sz="3000"/>
          </a:p>
          <a:p>
            <a:pPr indent="0" lvl="0" marL="0" rtl="0" algn="l">
              <a:lnSpc>
                <a:spcPct val="115000"/>
              </a:lnSpc>
              <a:spcBef>
                <a:spcPts val="1600"/>
              </a:spcBef>
              <a:spcAft>
                <a:spcPts val="1600"/>
              </a:spcAft>
              <a:buSzPts val="3600"/>
              <a:buNone/>
            </a:pPr>
            <a:r>
              <a:t/>
            </a:r>
            <a:endParaRPr/>
          </a:p>
        </p:txBody>
      </p:sp>
      <p:sp>
        <p:nvSpPr>
          <p:cNvPr id="95" name="Google Shape;95;p15"/>
          <p:cNvSpPr txBox="1"/>
          <p:nvPr>
            <p:ph type="title"/>
          </p:nvPr>
        </p:nvSpPr>
        <p:spPr>
          <a:xfrm>
            <a:off x="457200" y="548650"/>
            <a:ext cx="8229600" cy="685800"/>
          </a:xfrm>
          <a:prstGeom prst="rect">
            <a:avLst/>
          </a:prstGeom>
          <a:solidFill>
            <a:srgbClr val="9A2F3E"/>
          </a:solid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200"/>
              <a:buNone/>
            </a:pPr>
            <a:r>
              <a:rPr lang="en"/>
              <a:t>Checking Our Understanding</a:t>
            </a:r>
            <a:endParaRPr/>
          </a:p>
        </p:txBody>
      </p:sp>
      <p:pic>
        <p:nvPicPr>
          <p:cNvPr descr="Assessment icon" id="96" name="Google Shape;96;p15"/>
          <p:cNvPicPr preferRelativeResize="0"/>
          <p:nvPr/>
        </p:nvPicPr>
        <p:blipFill rotWithShape="1">
          <a:blip r:embed="rId3">
            <a:alphaModFix/>
          </a:blip>
          <a:srcRect b="0" l="0" r="0" t="0"/>
          <a:stretch/>
        </p:blipFill>
        <p:spPr>
          <a:xfrm>
            <a:off x="8620541" y="0"/>
            <a:ext cx="524984" cy="474300"/>
          </a:xfrm>
          <a:prstGeom prst="rect">
            <a:avLst/>
          </a:prstGeom>
          <a:noFill/>
          <a:ln>
            <a:noFill/>
          </a:ln>
        </p:spPr>
      </p:pic>
      <p:sp>
        <p:nvSpPr>
          <p:cNvPr id="97" name="Google Shape;97;p15"/>
          <p:cNvSpPr txBox="1"/>
          <p:nvPr/>
        </p:nvSpPr>
        <p:spPr>
          <a:xfrm>
            <a:off x="491000" y="2502450"/>
            <a:ext cx="6907800" cy="40545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rgbClr val="000000"/>
              </a:buClr>
              <a:buSzPts val="2400"/>
              <a:buFont typeface="Cabin Condensed"/>
              <a:buChar char="●"/>
            </a:pPr>
            <a:r>
              <a:rPr b="0" i="0" lang="en" sz="2400" u="none" cap="none" strike="noStrike">
                <a:solidFill>
                  <a:srgbClr val="000000"/>
                </a:solidFill>
                <a:latin typeface="Cabin Condensed"/>
                <a:ea typeface="Cabin Condensed"/>
                <a:cs typeface="Cabin Condensed"/>
                <a:sym typeface="Cabin Condensed"/>
              </a:rPr>
              <a:t>Write your name on your assessment.</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000000"/>
              </a:buClr>
              <a:buSzPts val="2400"/>
              <a:buFont typeface="Cabin Condensed"/>
              <a:buChar char="●"/>
            </a:pPr>
            <a:r>
              <a:rPr b="0" i="0" lang="en" sz="2400" u="none" cap="none" strike="noStrike">
                <a:solidFill>
                  <a:srgbClr val="000000"/>
                </a:solidFill>
                <a:latin typeface="Cabin Condensed"/>
                <a:ea typeface="Cabin Condensed"/>
                <a:cs typeface="Cabin Condensed"/>
                <a:sym typeface="Cabin Condensed"/>
              </a:rPr>
              <a:t>We will read over the questions together.</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0"/>
              </a:spcAft>
              <a:buClr>
                <a:srgbClr val="000000"/>
              </a:buClr>
              <a:buSzPts val="2400"/>
              <a:buFont typeface="Cabin Condensed"/>
              <a:buChar char="●"/>
            </a:pPr>
            <a:r>
              <a:rPr b="0" i="0" lang="en" sz="2400" u="none" cap="none" strike="noStrike">
                <a:solidFill>
                  <a:srgbClr val="000000"/>
                </a:solidFill>
                <a:latin typeface="Cabin Condensed"/>
                <a:ea typeface="Cabin Condensed"/>
                <a:cs typeface="Cabin Condensed"/>
                <a:sym typeface="Cabin Condensed"/>
              </a:rPr>
              <a:t>Questions 6-7 will help us figure out where to go next.  Do your very best to explain your reasoning.</a:t>
            </a:r>
            <a:endParaRPr b="0" i="0" sz="2400" u="none" cap="none" strike="noStrike">
              <a:solidFill>
                <a:srgbClr val="000000"/>
              </a:solidFill>
              <a:latin typeface="Cabin Condensed"/>
              <a:ea typeface="Cabin Condensed"/>
              <a:cs typeface="Cabin Condensed"/>
              <a:sym typeface="Cabin Condensed"/>
            </a:endParaRPr>
          </a:p>
          <a:p>
            <a:pPr indent="-381000" lvl="0" marL="457200" marR="0" rtl="0" algn="l">
              <a:lnSpc>
                <a:spcPct val="100000"/>
              </a:lnSpc>
              <a:spcBef>
                <a:spcPts val="1000"/>
              </a:spcBef>
              <a:spcAft>
                <a:spcPts val="1000"/>
              </a:spcAft>
              <a:buClr>
                <a:srgbClr val="000000"/>
              </a:buClr>
              <a:buSzPts val="2400"/>
              <a:buFont typeface="Cabin Condensed"/>
              <a:buChar char="●"/>
            </a:pPr>
            <a:r>
              <a:rPr b="0" i="0" lang="en" sz="2400" u="none" cap="none" strike="noStrike">
                <a:solidFill>
                  <a:srgbClr val="000000"/>
                </a:solidFill>
                <a:latin typeface="Cabin Condensed"/>
                <a:ea typeface="Cabin Condensed"/>
                <a:cs typeface="Cabin Condensed"/>
                <a:sym typeface="Cabin Condensed"/>
              </a:rPr>
              <a:t>We will come back together to discuss our ideas about mass and speed at the end of class. Be ready to share your ideas.</a:t>
            </a:r>
            <a:endParaRPr b="0" i="0" sz="2400" u="none" cap="none" strike="noStrike">
              <a:solidFill>
                <a:srgbClr val="000000"/>
              </a:solidFill>
              <a:latin typeface="Cabin Condensed"/>
              <a:ea typeface="Cabin Condensed"/>
              <a:cs typeface="Cabin Condensed"/>
              <a:sym typeface="Cabin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3F3F3"/>
        </a:solidFill>
      </p:bgPr>
    </p:bg>
    <p:spTree>
      <p:nvGrpSpPr>
        <p:cNvPr id="101" name="Shape 101"/>
        <p:cNvGrpSpPr/>
        <p:nvPr/>
      </p:nvGrpSpPr>
      <p:grpSpPr>
        <a:xfrm>
          <a:off x="0" y="0"/>
          <a:ext cx="0" cy="0"/>
          <a:chOff x="0" y="0"/>
          <a:chExt cx="0" cy="0"/>
        </a:xfrm>
      </p:grpSpPr>
      <p:sp>
        <p:nvSpPr>
          <p:cNvPr id="102" name="Google Shape;102;p16"/>
          <p:cNvSpPr/>
          <p:nvPr/>
        </p:nvSpPr>
        <p:spPr>
          <a:xfrm>
            <a:off x="570425" y="1600200"/>
            <a:ext cx="8116500" cy="4804200"/>
          </a:xfrm>
          <a:prstGeom prst="rect">
            <a:avLst/>
          </a:prstGeom>
          <a:solidFill>
            <a:srgbClr val="FFFFFF"/>
          </a:solidFill>
          <a:ln cap="flat" cmpd="sng" w="19050">
            <a:solidFill>
              <a:srgbClr val="9A2F3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6"/>
          <p:cNvSpPr txBox="1"/>
          <p:nvPr/>
        </p:nvSpPr>
        <p:spPr>
          <a:xfrm>
            <a:off x="2469300" y="2453200"/>
            <a:ext cx="5196900" cy="1639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980000"/>
                </a:solidFill>
                <a:highlight>
                  <a:srgbClr val="FFFFFF"/>
                </a:highlight>
                <a:latin typeface="Cabin"/>
                <a:ea typeface="Cabin"/>
                <a:cs typeface="Cabin"/>
                <a:sym typeface="Cabin"/>
              </a:rPr>
              <a:t>If we were to compare one cart with double the mass and one cart with double the speed, would one have more kinetic energy than the other? </a:t>
            </a:r>
            <a:endParaRPr b="0" i="0" sz="2400" u="none" cap="none" strike="noStrike">
              <a:solidFill>
                <a:srgbClr val="980000"/>
              </a:solidFill>
              <a:highlight>
                <a:srgbClr val="FFFFFF"/>
              </a:highlight>
              <a:latin typeface="Cabin"/>
              <a:ea typeface="Cabin"/>
              <a:cs typeface="Cabin"/>
              <a:sym typeface="Cabin"/>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rgbClr val="9A2F3E"/>
              </a:solidFill>
              <a:latin typeface="Cabin Condensed"/>
              <a:ea typeface="Cabin Condensed"/>
              <a:cs typeface="Cabin Condensed"/>
              <a:sym typeface="Cabin Condensed"/>
            </a:endParaRPr>
          </a:p>
        </p:txBody>
      </p:sp>
      <p:sp>
        <p:nvSpPr>
          <p:cNvPr id="104" name="Google Shape;104;p16"/>
          <p:cNvSpPr/>
          <p:nvPr/>
        </p:nvSpPr>
        <p:spPr>
          <a:xfrm>
            <a:off x="457200" y="548640"/>
            <a:ext cx="8229600" cy="685800"/>
          </a:xfrm>
          <a:prstGeom prst="rect">
            <a:avLst/>
          </a:prstGeom>
          <a:solidFill>
            <a:srgbClr val="9A2F3E"/>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3200"/>
              <a:buFont typeface="Arial"/>
              <a:buNone/>
            </a:pPr>
            <a:r>
              <a:rPr b="0" i="0" lang="en" sz="3200" u="none" cap="none" strike="noStrike">
                <a:solidFill>
                  <a:srgbClr val="FFFFFF"/>
                </a:solidFill>
                <a:latin typeface="Boogaloo"/>
                <a:ea typeface="Boogaloo"/>
                <a:cs typeface="Boogaloo"/>
                <a:sym typeface="Boogaloo"/>
              </a:rPr>
              <a:t>Arguing from Evidence</a:t>
            </a:r>
            <a:endParaRPr b="0" i="0" sz="3200" u="none" cap="none" strike="noStrike">
              <a:solidFill>
                <a:srgbClr val="FFFFFF"/>
              </a:solidFill>
              <a:latin typeface="Boogaloo"/>
              <a:ea typeface="Boogaloo"/>
              <a:cs typeface="Boogaloo"/>
              <a:sym typeface="Boogaloo"/>
            </a:endParaRPr>
          </a:p>
        </p:txBody>
      </p:sp>
      <p:sp>
        <p:nvSpPr>
          <p:cNvPr id="105" name="Google Shape;105;p16"/>
          <p:cNvSpPr/>
          <p:nvPr/>
        </p:nvSpPr>
        <p:spPr>
          <a:xfrm>
            <a:off x="457200" y="0"/>
            <a:ext cx="3719034" cy="548640"/>
          </a:xfrm>
          <a:custGeom>
            <a:rect b="b" l="l" r="r" t="t"/>
            <a:pathLst>
              <a:path extrusionOk="0" h="21600" w="21600">
                <a:moveTo>
                  <a:pt x="0" y="0"/>
                </a:moveTo>
                <a:lnTo>
                  <a:pt x="21600" y="0"/>
                </a:lnTo>
                <a:lnTo>
                  <a:pt x="21501" y="21600"/>
                </a:lnTo>
                <a:lnTo>
                  <a:pt x="0" y="21600"/>
                </a:lnTo>
                <a:lnTo>
                  <a:pt x="0" y="0"/>
                </a:lnTo>
                <a:close/>
              </a:path>
            </a:pathLst>
          </a:cu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EA7D73"/>
              </a:buClr>
              <a:buSzPts val="2000"/>
              <a:buFont typeface="Arial"/>
              <a:buNone/>
            </a:pPr>
            <a:r>
              <a:rPr b="0" i="0" lang="en" sz="1800" u="none" cap="none" strike="noStrike">
                <a:solidFill>
                  <a:srgbClr val="9A2F3E"/>
                </a:solidFill>
                <a:latin typeface="Boogaloo"/>
                <a:ea typeface="Boogaloo"/>
                <a:cs typeface="Boogaloo"/>
                <a:sym typeface="Boogaloo"/>
              </a:rPr>
              <a:t>Slide E</a:t>
            </a:r>
            <a:endParaRPr b="0" i="0" sz="1800" u="none" cap="none" strike="noStrike">
              <a:solidFill>
                <a:srgbClr val="9A2F3E"/>
              </a:solidFill>
              <a:latin typeface="Boogaloo"/>
              <a:ea typeface="Boogaloo"/>
              <a:cs typeface="Boogaloo"/>
              <a:sym typeface="Boogaloo"/>
            </a:endParaRPr>
          </a:p>
        </p:txBody>
      </p:sp>
      <p:sp>
        <p:nvSpPr>
          <p:cNvPr id="106" name="Google Shape;106;p16"/>
          <p:cNvSpPr txBox="1"/>
          <p:nvPr/>
        </p:nvSpPr>
        <p:spPr>
          <a:xfrm>
            <a:off x="2345475" y="1699700"/>
            <a:ext cx="5853300" cy="920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1000"/>
              </a:spcAft>
              <a:buClr>
                <a:srgbClr val="000000"/>
              </a:buClr>
              <a:buSzPts val="3000"/>
              <a:buFont typeface="Arial"/>
              <a:buNone/>
            </a:pPr>
            <a:r>
              <a:rPr b="0" i="0" lang="en" sz="3000" u="none" cap="none" strike="noStrike">
                <a:solidFill>
                  <a:srgbClr val="9A2F3E"/>
                </a:solidFill>
                <a:latin typeface="Boogaloo"/>
                <a:ea typeface="Boogaloo"/>
                <a:cs typeface="Boogaloo"/>
                <a:sym typeface="Boogaloo"/>
              </a:rPr>
              <a:t>Whole-Group Discussion</a:t>
            </a:r>
            <a:endParaRPr b="0" i="0" sz="3000" u="none" cap="none" strike="noStrike">
              <a:solidFill>
                <a:srgbClr val="9A2F3E"/>
              </a:solidFill>
              <a:latin typeface="Boogaloo"/>
              <a:ea typeface="Boogaloo"/>
              <a:cs typeface="Boogaloo"/>
              <a:sym typeface="Boogaloo"/>
            </a:endParaRPr>
          </a:p>
        </p:txBody>
      </p:sp>
      <p:pic>
        <p:nvPicPr>
          <p:cNvPr descr="With your class icon" id="107" name="Google Shape;107;p16"/>
          <p:cNvPicPr preferRelativeResize="0"/>
          <p:nvPr/>
        </p:nvPicPr>
        <p:blipFill rotWithShape="1">
          <a:blip r:embed="rId3">
            <a:alphaModFix/>
          </a:blip>
          <a:srcRect b="0" l="0" r="0" t="0"/>
          <a:stretch/>
        </p:blipFill>
        <p:spPr>
          <a:xfrm>
            <a:off x="939149" y="1932400"/>
            <a:ext cx="1087400" cy="1182175"/>
          </a:xfrm>
          <a:prstGeom prst="rect">
            <a:avLst/>
          </a:prstGeom>
          <a:noFill/>
          <a:ln>
            <a:noFill/>
          </a:ln>
        </p:spPr>
      </p:pic>
      <p:sp>
        <p:nvSpPr>
          <p:cNvPr id="108" name="Google Shape;108;p16"/>
          <p:cNvSpPr txBox="1"/>
          <p:nvPr/>
        </p:nvSpPr>
        <p:spPr>
          <a:xfrm>
            <a:off x="769825" y="4104650"/>
            <a:ext cx="7793700" cy="1832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0" i="0" lang="en" sz="2400" u="none" cap="none" strike="noStrike">
                <a:solidFill>
                  <a:srgbClr val="000000"/>
                </a:solidFill>
                <a:highlight>
                  <a:srgbClr val="FFFFFF"/>
                </a:highlight>
                <a:latin typeface="Cabin"/>
                <a:ea typeface="Cabin"/>
                <a:cs typeface="Cabin"/>
                <a:sym typeface="Cabin"/>
              </a:rPr>
              <a:t>If you think one factor will increase kinetic energy more than the other, what do you think is a bigger factor contributing to damage in any collision: the speeds of the objects involved in the collision or the mass of the objects involved in the collision, and why?</a:t>
            </a:r>
            <a:endParaRPr b="0" i="0" sz="2400" u="none" cap="none" strike="noStrike">
              <a:solidFill>
                <a:srgbClr val="000000"/>
              </a:solidFill>
              <a:latin typeface="Cabin Condensed"/>
              <a:ea typeface="Cabin Condensed"/>
              <a:cs typeface="Cabin Condensed"/>
              <a:sym typeface="Cabin Condensed"/>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Boogaloo"/>
              <a:ea typeface="Boogaloo"/>
              <a:cs typeface="Boogaloo"/>
              <a:sym typeface="Boogalo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penSciEd-Stillet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