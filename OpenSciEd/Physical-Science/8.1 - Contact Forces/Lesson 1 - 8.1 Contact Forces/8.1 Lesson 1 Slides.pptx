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4"/>
    <p:sldMasterId id="214748366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6858000" cx="9144000"/>
  <p:notesSz cx="6858000" cy="9144000"/>
  <p:embeddedFontLst>
    <p:embeddedFont>
      <p:font typeface="Caveat"/>
      <p:regular r:id="rId28"/>
      <p:bold r:id="rId29"/>
    </p:embeddedFont>
    <p:embeddedFont>
      <p:font typeface="Nunito"/>
      <p:regular r:id="rId30"/>
      <p:bold r:id="rId31"/>
      <p:italic r:id="rId32"/>
      <p:boldItalic r:id="rId33"/>
    </p:embeddedFont>
    <p:embeddedFont>
      <p:font typeface="Boogaloo"/>
      <p:regular r:id="rId34"/>
    </p:embeddedFont>
    <p:embeddedFont>
      <p:font typeface="Cabin"/>
      <p:regular r:id="rId35"/>
      <p:bold r:id="rId36"/>
      <p:italic r:id="rId37"/>
      <p:boldItalic r:id="rId38"/>
    </p:embeddedFont>
    <p:embeddedFont>
      <p:font typeface="Quattrocento Sans"/>
      <p:regular r:id="rId39"/>
      <p:bold r:id="rId40"/>
      <p:italic r:id="rId41"/>
      <p:boldItalic r:id="rId42"/>
    </p:embeddedFont>
    <p:embeddedFont>
      <p:font typeface="Helvetica Neue"/>
      <p:regular r:id="rId43"/>
      <p:bold r:id="rId44"/>
      <p:italic r:id="rId45"/>
      <p:boldItalic r:id="rId46"/>
    </p:embeddedFont>
    <p:embeddedFont>
      <p:font typeface="Cabin Condensed"/>
      <p:regular r:id="rId47"/>
      <p:bold r:id="rId48"/>
    </p:embeddedFont>
    <p:embeddedFont>
      <p:font typeface="Open Sans"/>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0E55A38-AAA3-4A13-B69B-84FFE08AEA20}">
  <a:tblStyle styleId="{F0E55A38-AAA3-4A13-B69B-84FFE08AEA20}" styleName="Table_0">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QuattrocentoSans-bold.fntdata"/><Relationship Id="rId42" Type="http://schemas.openxmlformats.org/officeDocument/2006/relationships/font" Target="fonts/QuattrocentoSans-boldItalic.fntdata"/><Relationship Id="rId41" Type="http://schemas.openxmlformats.org/officeDocument/2006/relationships/font" Target="fonts/QuattrocentoSans-italic.fntdata"/><Relationship Id="rId44" Type="http://schemas.openxmlformats.org/officeDocument/2006/relationships/font" Target="fonts/HelveticaNeue-bold.fntdata"/><Relationship Id="rId43" Type="http://schemas.openxmlformats.org/officeDocument/2006/relationships/font" Target="fonts/HelveticaNeue-regular.fntdata"/><Relationship Id="rId46" Type="http://schemas.openxmlformats.org/officeDocument/2006/relationships/font" Target="fonts/HelveticaNeue-boldItalic.fntdata"/><Relationship Id="rId45" Type="http://schemas.openxmlformats.org/officeDocument/2006/relationships/font" Target="fonts/HelveticaNeue-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CabinCondensed-bold.fntdata"/><Relationship Id="rId47" Type="http://schemas.openxmlformats.org/officeDocument/2006/relationships/font" Target="fonts/CabinCondensed-regular.fntdata"/><Relationship Id="rId49" Type="http://schemas.openxmlformats.org/officeDocument/2006/relationships/font" Target="fonts/OpenSans-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unito-bold.fntdata"/><Relationship Id="rId30" Type="http://schemas.openxmlformats.org/officeDocument/2006/relationships/font" Target="fonts/Nunito-regular.fntdata"/><Relationship Id="rId33" Type="http://schemas.openxmlformats.org/officeDocument/2006/relationships/font" Target="fonts/Nunito-boldItalic.fntdata"/><Relationship Id="rId32" Type="http://schemas.openxmlformats.org/officeDocument/2006/relationships/font" Target="fonts/Nunito-italic.fntdata"/><Relationship Id="rId35" Type="http://schemas.openxmlformats.org/officeDocument/2006/relationships/font" Target="fonts/Cabin-regular.fntdata"/><Relationship Id="rId34" Type="http://schemas.openxmlformats.org/officeDocument/2006/relationships/font" Target="fonts/Boogaloo-regular.fntdata"/><Relationship Id="rId37" Type="http://schemas.openxmlformats.org/officeDocument/2006/relationships/font" Target="fonts/Cabin-italic.fntdata"/><Relationship Id="rId36" Type="http://schemas.openxmlformats.org/officeDocument/2006/relationships/font" Target="fonts/Cabin-bold.fntdata"/><Relationship Id="rId39" Type="http://schemas.openxmlformats.org/officeDocument/2006/relationships/font" Target="fonts/QuattrocentoSans-regular.fntdata"/><Relationship Id="rId38" Type="http://schemas.openxmlformats.org/officeDocument/2006/relationships/font" Target="fonts/Cabin-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Caveat-regular.fntdata"/><Relationship Id="rId27" Type="http://schemas.openxmlformats.org/officeDocument/2006/relationships/slide" Target="slides/slide21.xml"/><Relationship Id="rId29" Type="http://schemas.openxmlformats.org/officeDocument/2006/relationships/font" Target="fonts/Caveat-bold.fntdata"/><Relationship Id="rId51" Type="http://schemas.openxmlformats.org/officeDocument/2006/relationships/font" Target="fonts/OpenSans-italic.fntdata"/><Relationship Id="rId50" Type="http://schemas.openxmlformats.org/officeDocument/2006/relationships/font" Target="fonts/OpenSans-bold.fntdata"/><Relationship Id="rId52" Type="http://schemas.openxmlformats.org/officeDocument/2006/relationships/font" Target="fonts/OpenSans-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Introduce cell phone damage information.</a:t>
            </a:r>
            <a:r>
              <a:rPr lang="en">
                <a:solidFill>
                  <a:schemeClr val="dk1"/>
                </a:solidFill>
                <a:latin typeface="Cabin"/>
                <a:ea typeface="Cabin"/>
                <a:cs typeface="Cabin"/>
                <a:sym typeface="Cabin"/>
              </a:rPr>
              <a:t> Display </a:t>
            </a:r>
            <a:r>
              <a:rPr b="1" lang="en">
                <a:solidFill>
                  <a:schemeClr val="dk1"/>
                </a:solidFill>
                <a:latin typeface="Cabin"/>
                <a:ea typeface="Cabin"/>
                <a:cs typeface="Cabin"/>
                <a:sym typeface="Cabin"/>
              </a:rPr>
              <a:t>slide A</a:t>
            </a:r>
            <a:r>
              <a:rPr lang="en">
                <a:solidFill>
                  <a:schemeClr val="dk1"/>
                </a:solidFill>
                <a:latin typeface="Cabin"/>
                <a:ea typeface="Cabin"/>
                <a:cs typeface="Cabin"/>
                <a:sym typeface="Cabin"/>
              </a:rPr>
              <a:t>. Say,</a:t>
            </a:r>
            <a:r>
              <a:rPr i="1" lang="en">
                <a:solidFill>
                  <a:schemeClr val="dk1"/>
                </a:solidFill>
                <a:latin typeface="Cabin"/>
                <a:ea typeface="Cabin"/>
                <a:cs typeface="Cabin"/>
                <a:sym typeface="Cabin"/>
              </a:rPr>
              <a:t> I came across some interesting data about cell phone damages. Listen to the things I learned!</a:t>
            </a:r>
            <a:r>
              <a:rPr lang="en">
                <a:solidFill>
                  <a:schemeClr val="dk1"/>
                </a:solidFill>
                <a:latin typeface="Cabin"/>
                <a:ea typeface="Cabin"/>
                <a:cs typeface="Cabin"/>
                <a:sym typeface="Cabin"/>
              </a:rPr>
              <a:t> Read each statistic aloud. </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Americans break 2 smartphone screens every second.</a:t>
            </a:r>
            <a:endParaRPr i="1">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More than 50 million phone screens are cracked each year.</a:t>
            </a:r>
            <a:endParaRPr i="1">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An estimated 95 million phones were damaged in the world by dropping them.</a:t>
            </a:r>
            <a:endParaRPr i="1">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We spend $3.4 BILLION each year in replacing cracked screens--not counting the 38% of smartphone owners who don’t replace them at all.</a:t>
            </a:r>
            <a:endParaRPr i="1">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27% of people said that their phone was in a case when they broke it.</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a:t>
            </a:r>
            <a:r>
              <a:rPr b="1" lang="en">
                <a:solidFill>
                  <a:schemeClr val="dk1"/>
                </a:solidFill>
                <a:latin typeface="Cabin"/>
                <a:ea typeface="Cabin"/>
                <a:cs typeface="Cabin"/>
                <a:sym typeface="Cabin"/>
              </a:rPr>
              <a:t> </a:t>
            </a:r>
            <a:r>
              <a:rPr i="1" lang="en">
                <a:solidFill>
                  <a:schemeClr val="dk1"/>
                </a:solidFill>
                <a:latin typeface="Cabin"/>
                <a:ea typeface="Cabin"/>
                <a:cs typeface="Cabin"/>
                <a:sym typeface="Cabin"/>
              </a:rPr>
              <a:t>This seems like a lot of cell phone damage happening in our world. That got me wondering how common this sort of phenomenon is in our classroom community. Have any of you ever experienced cell phone damage before?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Instruct students to raise their hands if they have experienced a situation where they have seen a phone get damaged.</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t/>
            </a:r>
            <a:endParaRPr/>
          </a:p>
        </p:txBody>
      </p:sp>
      <p:sp>
        <p:nvSpPr>
          <p:cNvPr id="98" name="Google Shape;98;p1: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Elicit student experiences.</a:t>
            </a:r>
            <a:r>
              <a:rPr lang="en">
                <a:solidFill>
                  <a:schemeClr val="dk1"/>
                </a:solidFill>
                <a:latin typeface="Cabin"/>
                <a:ea typeface="Cabin"/>
                <a:cs typeface="Cabin"/>
                <a:sym typeface="Cabin"/>
              </a:rPr>
              <a:t> Display</a:t>
            </a:r>
            <a:r>
              <a:rPr b="1" lang="en">
                <a:solidFill>
                  <a:schemeClr val="dk1"/>
                </a:solidFill>
                <a:latin typeface="Cabin"/>
                <a:ea typeface="Cabin"/>
                <a:cs typeface="Cabin"/>
                <a:sym typeface="Cabin"/>
              </a:rPr>
              <a:t> slide B</a:t>
            </a:r>
            <a:r>
              <a:rPr lang="en">
                <a:solidFill>
                  <a:schemeClr val="dk1"/>
                </a:solidFill>
                <a:latin typeface="Cabin"/>
                <a:ea typeface="Cabin"/>
                <a:cs typeface="Cabin"/>
                <a:sym typeface="Cabin"/>
              </a:rPr>
              <a:t>. Ask students to turn and talk with a partner about the slide question: </a:t>
            </a:r>
            <a:r>
              <a:rPr i="1" lang="en">
                <a:solidFill>
                  <a:schemeClr val="dk1"/>
                </a:solidFill>
                <a:latin typeface="Cabin"/>
                <a:ea typeface="Cabin"/>
                <a:cs typeface="Cabin"/>
                <a:sym typeface="Cabin"/>
              </a:rPr>
              <a:t>“</a:t>
            </a:r>
            <a:r>
              <a:rPr lang="en">
                <a:solidFill>
                  <a:schemeClr val="dk1"/>
                </a:solidFill>
                <a:latin typeface="Cabin"/>
                <a:ea typeface="Cabin"/>
                <a:cs typeface="Cabin"/>
                <a:sym typeface="Cabin"/>
              </a:rPr>
              <a:t>Have you or someone you know ever broken a phone? What caused it to break? Describe your experiences.”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Wow, we seem to have a lot of experience with damaging cell phones! It sounds like some of you have been the ones to create the damage, and some of you have seen them damaged before.</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p>
        </p:txBody>
      </p:sp>
      <p:sp>
        <p:nvSpPr>
          <p:cNvPr id="109" name="Google Shape;109;p2: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Introduce a CD case to represent a phone in collisions.</a:t>
            </a:r>
            <a:r>
              <a:rPr lang="en">
                <a:solidFill>
                  <a:schemeClr val="dk1"/>
                </a:solidFill>
                <a:latin typeface="Cabin"/>
                <a:ea typeface="Cabin"/>
                <a:cs typeface="Cabin"/>
                <a:sym typeface="Cabin"/>
              </a:rPr>
              <a:t> Display </a:t>
            </a:r>
            <a:r>
              <a:rPr b="1" lang="en">
                <a:solidFill>
                  <a:schemeClr val="dk1"/>
                </a:solidFill>
                <a:latin typeface="Cabin"/>
                <a:ea typeface="Cabin"/>
                <a:cs typeface="Cabin"/>
                <a:sym typeface="Cabin"/>
              </a:rPr>
              <a:t>slide C</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I would love to hear about your experiences with phones breaking, but sometimes it's easier for us to understand a situation where something occurred when we can see a representation of how it happened rather than just hearing about it. Phones are expensive, so I have a CD case here that we are going to use as a substitute for a phone. I thought we could use this as a manipulative to represent what happened to the phone when it got damaged.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Demonstrate phone breaking experiences. </a:t>
            </a:r>
            <a:r>
              <a:rPr lang="en">
                <a:solidFill>
                  <a:schemeClr val="dk1"/>
                </a:solidFill>
                <a:latin typeface="Cabin"/>
                <a:ea typeface="Cabin"/>
                <a:cs typeface="Cabin"/>
                <a:sym typeface="Cabin"/>
              </a:rPr>
              <a:t>Select one volunteer at a time to come up in front of the class and demonstrate what happened with the cell phone when it broke. Let students know it's OK if what they show us ends up causing the CD case to break too, as we want to try to understand the interactions that happened and the results as accurately as possible. Remind them to be responsible and avoid moving the CD case or any other object in a direction that might remotely come in contact with another living thing or fragile object.</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Use the prompts from the teacher guide to elicit experiences from student volunteers so that you get at least one example that would represent each of the three collision types: A, B, and C.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lang="en">
                <a:solidFill>
                  <a:schemeClr val="dk1"/>
                </a:solidFill>
                <a:latin typeface="Cabin"/>
                <a:ea typeface="Cabin"/>
                <a:cs typeface="Cabin"/>
                <a:sym typeface="Cabin"/>
              </a:rPr>
              <a:t>As each student shares their experience, create a diagram on a blank piece of paper using squares to represent the two objects that collided. After creating each diagram, attach it on the</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Different Collisions poster. Draw large enough for students to see. The diagrams will become part of an anchor chart for students to refer to later. The three diagrams (A, B, C; that you will finish drawing in the subsequent conversation) should be similar to ones shown in the teacher guide. As you are drawing, remember to represent the phone as a white box and the other object as a shaded box instead of the actual objects being described by students. This will help students later to transfer and categorize the general diagrammatic representations into related phenomena experiences.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Discuss and alter frames of reference.</a:t>
            </a:r>
            <a:r>
              <a:rPr lang="en">
                <a:solidFill>
                  <a:schemeClr val="dk1"/>
                </a:solidFill>
                <a:latin typeface="Cabin"/>
                <a:ea typeface="Cabin"/>
                <a:cs typeface="Cabin"/>
                <a:sym typeface="Cabin"/>
              </a:rPr>
              <a:t> Revisit the drawings and place the Different Collisions poster in a spot that is easily viewable for students, if not already in a prominent spot in the classroom. First, remove the piece of paper with collision type A that shows the diagram that has a moving, fragile object colliding with a motionless object (collisions type A). Use the prompts in the teacher guide to help students consider changes to the frame of reference.</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p>
          <a:p>
            <a:pPr indent="0" lvl="0" marL="0" rtl="0" algn="l">
              <a:lnSpc>
                <a:spcPct val="115000"/>
              </a:lnSpc>
              <a:spcBef>
                <a:spcPts val="0"/>
              </a:spcBef>
              <a:spcAft>
                <a:spcPts val="0"/>
              </a:spcAft>
              <a:buSzPts val="1400"/>
              <a:buNone/>
            </a:pPr>
            <a:r>
              <a:rPr lang="en">
                <a:solidFill>
                  <a:srgbClr val="0B0B0B"/>
                </a:solidFill>
                <a:latin typeface="Cabin"/>
                <a:ea typeface="Cabin"/>
                <a:cs typeface="Cabin"/>
                <a:sym typeface="Cabin"/>
              </a:rPr>
              <a:t>Return collision type A back to the Different Collisions poster. If needed, remove the collision types B and C from the Different Collisions poster and repeat this line of questioning with collision types B and C.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SzPts val="1400"/>
              <a:buNone/>
            </a:pPr>
            <a:r>
              <a:rPr b="1" lang="en">
                <a:solidFill>
                  <a:schemeClr val="dk1"/>
                </a:solidFill>
                <a:latin typeface="Cabin"/>
                <a:ea typeface="Cabin"/>
                <a:cs typeface="Cabin"/>
                <a:sym typeface="Cabin"/>
              </a:rPr>
              <a:t>Categorize remaining interactions.</a:t>
            </a:r>
            <a:r>
              <a:rPr lang="en">
                <a:solidFill>
                  <a:schemeClr val="dk1"/>
                </a:solidFill>
                <a:latin typeface="Cabin"/>
                <a:ea typeface="Cabin"/>
                <a:cs typeface="Cabin"/>
                <a:sym typeface="Cabin"/>
              </a:rPr>
              <a:t> Ask students if they have any other stories that would be represented differently than our drawings. If a student says yes, have them demonstrate the interaction while you map it out on a blank piece of paper. Compare the interaction to the other collision types on the chart, turning it to see if the interaction matches any existing collision type scenarios. Help students draw the conclusion that the scenario is already on the collision types board by simply changing the frame of reference.</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b="1" lang="en">
                <a:solidFill>
                  <a:schemeClr val="dk1"/>
                </a:solidFill>
                <a:latin typeface="Cabin"/>
                <a:ea typeface="Cabin"/>
                <a:cs typeface="Cabin"/>
                <a:sym typeface="Cabin"/>
              </a:rPr>
              <a:t>Introduce the word </a:t>
            </a:r>
            <a:r>
              <a:rPr b="1" i="1" lang="en">
                <a:solidFill>
                  <a:schemeClr val="dk1"/>
                </a:solidFill>
                <a:latin typeface="Cabin"/>
                <a:ea typeface="Cabin"/>
                <a:cs typeface="Cabin"/>
                <a:sym typeface="Cabin"/>
              </a:rPr>
              <a:t>collision </a:t>
            </a:r>
            <a:r>
              <a:rPr b="1" lang="en">
                <a:solidFill>
                  <a:schemeClr val="dk1"/>
                </a:solidFill>
                <a:latin typeface="Cabin"/>
                <a:ea typeface="Cabin"/>
                <a:cs typeface="Cabin"/>
                <a:sym typeface="Cabin"/>
              </a:rPr>
              <a:t>to students.</a:t>
            </a:r>
            <a:r>
              <a:rPr lang="en">
                <a:solidFill>
                  <a:schemeClr val="dk1"/>
                </a:solidFill>
                <a:latin typeface="Quattrocento Sans"/>
                <a:ea typeface="Quattrocento Sans"/>
                <a:cs typeface="Quattrocento Sans"/>
                <a:sym typeface="Quattrocento Sans"/>
              </a:rPr>
              <a:t> </a:t>
            </a:r>
            <a:r>
              <a:rPr lang="en">
                <a:solidFill>
                  <a:schemeClr val="dk1"/>
                </a:solidFill>
                <a:latin typeface="Cabin"/>
                <a:ea typeface="Cabin"/>
                <a:cs typeface="Cabin"/>
                <a:sym typeface="Cabin"/>
              </a:rPr>
              <a:t>Use the CD case, if necessary, to enact the moment when the “phone” touches another object for any of the three collision scenario types.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lang="en">
                <a:solidFill>
                  <a:schemeClr val="dk1"/>
                </a:solidFill>
                <a:latin typeface="Cabin"/>
                <a:ea typeface="Cabin"/>
                <a:cs typeface="Cabin"/>
                <a:sym typeface="Cabin"/>
              </a:rPr>
              <a:t>Say,</a:t>
            </a:r>
            <a:r>
              <a:rPr i="1" lang="en">
                <a:solidFill>
                  <a:schemeClr val="dk1"/>
                </a:solidFill>
                <a:latin typeface="Cabin"/>
                <a:ea typeface="Cabin"/>
                <a:cs typeface="Cabin"/>
                <a:sym typeface="Cabin"/>
              </a:rPr>
              <a:t> There are a lot of words we can use to describe this phenomenon. When scientists describe this sort of phenomenon, where a moving object hits or runs into another object, they refer to it as a </a:t>
            </a:r>
            <a:r>
              <a:rPr lang="en">
                <a:solidFill>
                  <a:schemeClr val="dk1"/>
                </a:solidFill>
                <a:latin typeface="Cabin"/>
                <a:ea typeface="Cabin"/>
                <a:cs typeface="Cabin"/>
                <a:sym typeface="Cabin"/>
              </a:rPr>
              <a:t>collision</a:t>
            </a:r>
            <a:r>
              <a:rPr i="1" lang="en">
                <a:solidFill>
                  <a:schemeClr val="dk1"/>
                </a:solidFill>
                <a:latin typeface="Cabin"/>
                <a:ea typeface="Cabin"/>
                <a:cs typeface="Cabin"/>
                <a:sym typeface="Cabin"/>
              </a:rPr>
              <a:t>.</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lang="en">
                <a:solidFill>
                  <a:schemeClr val="dk1"/>
                </a:solidFill>
                <a:latin typeface="Cabin"/>
                <a:ea typeface="Cabin"/>
                <a:cs typeface="Cabin"/>
                <a:sym typeface="Cabin"/>
              </a:rPr>
              <a:t>Display the poster that says “Different collisions”.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Motivate related phenomena. </a:t>
            </a: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These categories of collisions could be useful for thinking about other related phenomena where something other than a phone was involved in a collision. But not all collisions result in damage. Think of examples where something other than a phone was damaged in the collision. I also want you to think of examples where you were surprised that something other than a phone was </a:t>
            </a:r>
            <a:r>
              <a:rPr lang="en">
                <a:solidFill>
                  <a:schemeClr val="dk1"/>
                </a:solidFill>
                <a:latin typeface="Cabin"/>
                <a:ea typeface="Cabin"/>
                <a:cs typeface="Cabin"/>
                <a:sym typeface="Cabin"/>
              </a:rPr>
              <a:t>not </a:t>
            </a:r>
            <a:r>
              <a:rPr i="1" lang="en">
                <a:solidFill>
                  <a:schemeClr val="dk1"/>
                </a:solidFill>
                <a:latin typeface="Cabin"/>
                <a:ea typeface="Cabin"/>
                <a:cs typeface="Cabin"/>
                <a:sym typeface="Cabin"/>
              </a:rPr>
              <a:t>damaged in a collision.</a:t>
            </a:r>
            <a:endParaRPr>
              <a:solidFill>
                <a:schemeClr val="dk1"/>
              </a:solidFill>
              <a:latin typeface="Cabin"/>
              <a:ea typeface="Cabin"/>
              <a:cs typeface="Cabin"/>
              <a:sym typeface="Cabi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Document related phenomena on index cards. </a:t>
            </a:r>
            <a:r>
              <a:rPr lang="en">
                <a:solidFill>
                  <a:schemeClr val="dk1"/>
                </a:solidFill>
                <a:latin typeface="Cabin"/>
                <a:ea typeface="Cabin"/>
                <a:cs typeface="Cabin"/>
                <a:sym typeface="Cabin"/>
              </a:rPr>
              <a:t>Project </a:t>
            </a:r>
            <a:r>
              <a:rPr b="1" lang="en">
                <a:solidFill>
                  <a:schemeClr val="dk1"/>
                </a:solidFill>
                <a:latin typeface="Cabin"/>
                <a:ea typeface="Cabin"/>
                <a:cs typeface="Cabin"/>
                <a:sym typeface="Cabin"/>
              </a:rPr>
              <a:t>slide D</a:t>
            </a:r>
            <a:r>
              <a:rPr lang="en">
                <a:solidFill>
                  <a:schemeClr val="dk1"/>
                </a:solidFill>
                <a:latin typeface="Cabin"/>
                <a:ea typeface="Cabin"/>
                <a:cs typeface="Cabin"/>
                <a:sym typeface="Cabin"/>
              </a:rPr>
              <a:t>. Read through the directions on the slide. Pass out 2-3 red and green index cards to each student. If red and green index cards are not being used, update slide D and slide E to reflect the colors of the index cards or sticky note being used.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Prompt students to record at least one collision where something has been damaged on red cards and at least one collision where something was surprisingly not damaged on green cards. For each thing listed, students should identify the objects that came into contact with each other during the collision and underline the object or objects that were moving before the collision occurred. Only one collision example should be written on each card.</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Provide students approximately 5 minutes to generate and record their related phenomena cards. Encourage students to use as many cards as they need as they think of other examples.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Hang the Different Collisions poster</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to the left of the</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Related Phenomena poster.</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Then, circulate during the remaining time to help any student who may become stuck while trying to brainstorm examples.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With about a minute left, remind students to go back over their index cards and make sure that they have identified the objects that came into contact with each other during the collision and have underlined which objects were moving before the collision occurred.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b="1">
              <a:solidFill>
                <a:srgbClr val="0B0B0B"/>
              </a:solidFill>
              <a:latin typeface="Cabin"/>
              <a:ea typeface="Cabin"/>
              <a:cs typeface="Cabin"/>
              <a:sym typeface="Cabin"/>
            </a:endParaRPr>
          </a:p>
        </p:txBody>
      </p:sp>
      <p:sp>
        <p:nvSpPr>
          <p:cNvPr id="132" name="Google Shape;132;p4: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Revisit the different collision types.</a:t>
            </a:r>
            <a:r>
              <a:rPr lang="en">
                <a:solidFill>
                  <a:schemeClr val="dk1"/>
                </a:solidFill>
                <a:latin typeface="Cabin"/>
                <a:ea typeface="Cabin"/>
                <a:cs typeface="Cabin"/>
                <a:sym typeface="Cabin"/>
              </a:rPr>
              <a:t> Display</a:t>
            </a:r>
            <a:r>
              <a:rPr b="1" lang="en">
                <a:solidFill>
                  <a:schemeClr val="dk1"/>
                </a:solidFill>
                <a:latin typeface="Cabin"/>
                <a:ea typeface="Cabin"/>
                <a:cs typeface="Cabin"/>
                <a:sym typeface="Cabin"/>
              </a:rPr>
              <a:t> slide E</a:t>
            </a:r>
            <a:r>
              <a:rPr lang="en">
                <a:solidFill>
                  <a:schemeClr val="dk1"/>
                </a:solidFill>
                <a:latin typeface="Cabin"/>
                <a:ea typeface="Cabin"/>
                <a:cs typeface="Cabin"/>
                <a:sym typeface="Cabin"/>
              </a:rPr>
              <a:t>. Read through slide E and go over each type of collision, emphasizing what objects were moving or not moving before the collision. A quick reference list is below.</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 A moving object was damaged OR wasn’t damaged when it collided with a motionless object.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B- A motionless object was damaged OR wasn’t damaged when a moving object collided with it.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C- A moving object was damaged OR wasn’t damaged when it collided with another moving object.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In class we have identified three different types of collisions. Let’s sort our related collisions into these categories and see if we notice any patterns or factors that may contribute to damage in the collisions. Look at your index cards and write the collision type at the top of each one--A. B. or C.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Have students ask an elbow partner to quickly check their collision types. If there is debate on the collision type, help students sort out the appropriate type individually.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400"/>
              <a:buNone/>
            </a:pPr>
            <a:r>
              <a:t/>
            </a:r>
            <a:endParaRPr/>
          </a:p>
        </p:txBody>
      </p:sp>
      <p:sp>
        <p:nvSpPr>
          <p:cNvPr id="146" name="Google Shape;146;p5: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Share related phenomena</a:t>
            </a:r>
            <a:r>
              <a:rPr lang="en">
                <a:solidFill>
                  <a:schemeClr val="dk1"/>
                </a:solidFill>
                <a:latin typeface="Cabin"/>
                <a:ea typeface="Cabin"/>
                <a:cs typeface="Cabin"/>
                <a:sym typeface="Cabin"/>
              </a:rPr>
              <a:t>. Display</a:t>
            </a:r>
            <a:r>
              <a:rPr b="1" lang="en">
                <a:solidFill>
                  <a:schemeClr val="dk1"/>
                </a:solidFill>
                <a:latin typeface="Cabin"/>
                <a:ea typeface="Cabin"/>
                <a:cs typeface="Cabin"/>
                <a:sym typeface="Cabin"/>
              </a:rPr>
              <a:t> slide F</a:t>
            </a:r>
            <a:r>
              <a:rPr lang="en">
                <a:solidFill>
                  <a:schemeClr val="dk1"/>
                </a:solidFill>
                <a:latin typeface="Cabin"/>
                <a:ea typeface="Cabin"/>
                <a:cs typeface="Cabin"/>
                <a:sym typeface="Cabin"/>
              </a:rPr>
              <a:t>. Students will organize themselves based upon related phenomena and share their phenomena with a partner. During this time students will be developing the idea of different factors or variables that impact damage.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In a moment, you will get the chance to share your related phenomena with someone else. There are 3 sections of the room labeled A, B, and C. When I ask you to, you will look at the collision type on one of your cards and go to the area with that collision type. Once you are there, find someone and share your collision. As you share, be thinking about what is similar and different between the two collisions.</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Ask students to look at one of their red, damage cards first. Direct them to move to the area of the room that matches their collision type. Give students 2 minutes to share and compare and contrast with their partners. After the two minutes are up, ask students to look at one of their green, no-damage cards. Direct students to move to the area that matches their green card collision type. Give students 2 minutes to share and compare and contrast with their partners.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Tell students to hand in all of their index cards and return to their seats.</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p>
        </p:txBody>
      </p:sp>
      <p:sp>
        <p:nvSpPr>
          <p:cNvPr id="191" name="Google Shape;191;p6: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b="1" lang="en">
                <a:solidFill>
                  <a:schemeClr val="dk1"/>
                </a:solidFill>
                <a:latin typeface="Cabin"/>
                <a:ea typeface="Cabin"/>
                <a:cs typeface="Cabin"/>
                <a:sym typeface="Cabin"/>
              </a:rPr>
              <a:t>Prepare science notebooks. </a:t>
            </a: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It seems like we were finding a lot of similarities, differences, and maybe even some important factors and variables across our collisions. Let’s make sure to record these ideas!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rPr b="1" lang="en">
                <a:solidFill>
                  <a:schemeClr val="dk1"/>
                </a:solidFill>
                <a:latin typeface="Cabin"/>
                <a:ea typeface="Cabin"/>
                <a:cs typeface="Cabin"/>
                <a:sym typeface="Cabin"/>
              </a:rPr>
              <a:t>Identifying factors in a collision</a:t>
            </a:r>
            <a:r>
              <a:rPr lang="en">
                <a:solidFill>
                  <a:schemeClr val="dk1"/>
                </a:solidFill>
                <a:latin typeface="Cabin"/>
                <a:ea typeface="Cabin"/>
                <a:cs typeface="Cabin"/>
                <a:sym typeface="Cabin"/>
              </a:rPr>
              <a:t>. Project </a:t>
            </a:r>
            <a:r>
              <a:rPr b="1" lang="en">
                <a:solidFill>
                  <a:schemeClr val="dk1"/>
                </a:solidFill>
                <a:latin typeface="Cabin"/>
                <a:ea typeface="Cabin"/>
                <a:cs typeface="Cabin"/>
                <a:sym typeface="Cabin"/>
              </a:rPr>
              <a:t>slide G</a:t>
            </a:r>
            <a:r>
              <a:rPr lang="en">
                <a:solidFill>
                  <a:schemeClr val="dk1"/>
                </a:solidFill>
                <a:latin typeface="Cabin"/>
                <a:ea typeface="Cabin"/>
                <a:cs typeface="Cabin"/>
                <a:sym typeface="Cabin"/>
              </a:rPr>
              <a:t>. Ask students to begin a new page in their science notebook to set up the related T-chart. Give students 4 minutes to record any patterns they saw in the collisions they discussed. Have students focus on looking for clues about possible factors or variables that would cause something to get damaged or not get damaged during a collision and record them on their charts. Some potential ideas for factors or variables include the following:</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mass of the object</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speed of the object</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direction of the object</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if the object was moving or not</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angle at which the object was struck</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material the object is made from</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Organize related phenomena. </a:t>
            </a:r>
            <a:r>
              <a:rPr lang="en">
                <a:solidFill>
                  <a:schemeClr val="dk1"/>
                </a:solidFill>
                <a:latin typeface="Cabin"/>
                <a:ea typeface="Cabin"/>
                <a:cs typeface="Cabin"/>
                <a:sym typeface="Cabin"/>
              </a:rPr>
              <a:t>While students complete their tables, use this independent writing time to tape the student-generated phenomena cards in the correct areas on the Related Phenomena poster. For larger classes, it is recommended to use 3 pieces of chart paper instead of 2 pieces to accommodate space for all index cards on the poster.</a:t>
            </a:r>
            <a:endParaRPr i="1">
              <a:solidFill>
                <a:schemeClr val="dk1"/>
              </a:solidFill>
              <a:latin typeface="Cabin"/>
              <a:ea typeface="Cabin"/>
              <a:cs typeface="Cabin"/>
              <a:sym typeface="Cabi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8: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a:solidFill>
                  <a:schemeClr val="dk1"/>
                </a:solidFill>
                <a:latin typeface="Cabin"/>
                <a:ea typeface="Cabin"/>
                <a:cs typeface="Cabin"/>
                <a:sym typeface="Cabin"/>
              </a:rPr>
              <a:t> </a:t>
            </a:r>
            <a:r>
              <a:rPr b="1" lang="en">
                <a:solidFill>
                  <a:schemeClr val="dk1"/>
                </a:solidFill>
                <a:latin typeface="Cabin"/>
                <a:ea typeface="Cabin"/>
                <a:cs typeface="Cabin"/>
                <a:sym typeface="Cabin"/>
              </a:rPr>
              <a:t>Develop initial models of objects during a collision. </a:t>
            </a:r>
            <a:r>
              <a:rPr lang="en">
                <a:solidFill>
                  <a:schemeClr val="dk1"/>
                </a:solidFill>
                <a:latin typeface="Cabin"/>
                <a:ea typeface="Cabin"/>
                <a:cs typeface="Cabin"/>
                <a:sym typeface="Cabin"/>
              </a:rPr>
              <a:t>Say,</a:t>
            </a:r>
            <a:r>
              <a:rPr i="1" lang="en">
                <a:solidFill>
                  <a:schemeClr val="dk1"/>
                </a:solidFill>
                <a:latin typeface="Cabin"/>
                <a:ea typeface="Cabin"/>
                <a:cs typeface="Cabin"/>
                <a:sym typeface="Cabin"/>
              </a:rPr>
              <a:t> Let’s try to develop a model to explain what is happening when two things come into contact in a collision. </a:t>
            </a:r>
            <a:r>
              <a:rPr lang="en">
                <a:solidFill>
                  <a:schemeClr val="dk1"/>
                </a:solidFill>
                <a:latin typeface="Cabin"/>
                <a:ea typeface="Cabin"/>
                <a:cs typeface="Cabin"/>
                <a:sym typeface="Cabin"/>
              </a:rPr>
              <a:t>Display </a:t>
            </a:r>
            <a:r>
              <a:rPr b="1" lang="en">
                <a:solidFill>
                  <a:schemeClr val="dk1"/>
                </a:solidFill>
                <a:latin typeface="Cabin"/>
                <a:ea typeface="Cabin"/>
                <a:cs typeface="Cabin"/>
                <a:sym typeface="Cabin"/>
              </a:rPr>
              <a:t>slide H</a:t>
            </a:r>
            <a:r>
              <a:rPr lang="en">
                <a:solidFill>
                  <a:schemeClr val="dk1"/>
                </a:solidFill>
                <a:latin typeface="Cabin"/>
                <a:ea typeface="Cabin"/>
                <a:cs typeface="Cabin"/>
                <a:sym typeface="Cabin"/>
              </a:rPr>
              <a: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lang="en">
                <a:solidFill>
                  <a:schemeClr val="dk1"/>
                </a:solidFill>
                <a:latin typeface="Cabin"/>
                <a:ea typeface="Cabin"/>
                <a:cs typeface="Cabin"/>
                <a:sym typeface="Cabin"/>
              </a:rPr>
              <a:t>Distribute a copy of </a:t>
            </a:r>
            <a:r>
              <a:rPr i="1" lang="en">
                <a:solidFill>
                  <a:schemeClr val="dk1"/>
                </a:solidFill>
                <a:latin typeface="Cabin"/>
                <a:ea typeface="Cabin"/>
                <a:cs typeface="Cabin"/>
                <a:sym typeface="Cabin"/>
              </a:rPr>
              <a:t>Initial Model: Objects During Collisions</a:t>
            </a:r>
            <a:r>
              <a:rPr lang="en">
                <a:solidFill>
                  <a:schemeClr val="dk1"/>
                </a:solidFill>
                <a:latin typeface="Cabin"/>
                <a:ea typeface="Cabin"/>
                <a:cs typeface="Cabin"/>
                <a:sym typeface="Cabin"/>
              </a:rPr>
              <a:t> to each student. Tell students that they should put their name on their handout but don’t add it to their notebooks yet, as you want to collect it at the end of the period to get a sense of what they are thinking. Ask students to look at the Related Phenomena poster where they listed examples of things that have been damaged or surprisingly not been damaged in collisions. Ask students to pick one of these examples to explain on their handout.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lang="en">
                <a:solidFill>
                  <a:schemeClr val="dk1"/>
                </a:solidFill>
                <a:latin typeface="Cabin"/>
                <a:ea typeface="Cabin"/>
                <a:cs typeface="Cabin"/>
                <a:sym typeface="Cabin"/>
              </a:rPr>
              <a:t>Say,</a:t>
            </a:r>
            <a:r>
              <a:rPr i="1" lang="en">
                <a:solidFill>
                  <a:schemeClr val="dk1"/>
                </a:solidFill>
                <a:latin typeface="Cabin"/>
                <a:ea typeface="Cabin"/>
                <a:cs typeface="Cabin"/>
                <a:sym typeface="Cabin"/>
              </a:rPr>
              <a:t> You are going to use this handout to develop a model to show what interactions are happening between the objects during a collision. On the first line, list the two objects that collided. Did you choose an example that matched collision type A, B, or C? List which scenario you chose. Look at the next question: Was there damage in this collision? Write “yes” if there was damage and “no” if there was not damage. </a:t>
            </a:r>
            <a:r>
              <a:rPr lang="en">
                <a:solidFill>
                  <a:schemeClr val="dk1"/>
                </a:solidFill>
                <a:latin typeface="Cabin"/>
                <a:ea typeface="Cabin"/>
                <a:cs typeface="Cabin"/>
                <a:sym typeface="Cabin"/>
              </a:rPr>
              <a:t>Give students a minute to answer the first three questions on their handout before moving on to the boxes below.</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a:t>
            </a:r>
            <a:r>
              <a:rPr i="1" lang="en">
                <a:solidFill>
                  <a:schemeClr val="dk1"/>
                </a:solidFill>
                <a:latin typeface="Cabin"/>
                <a:ea typeface="Cabin"/>
                <a:cs typeface="Cabin"/>
                <a:sym typeface="Cabin"/>
              </a:rPr>
              <a:t> In the space below, imagine you could slow time down and could also freeze or pause the collision at different points in time. What do you think you would see happening to the materials right at the moment the objects first touched or made contact with each other in the collision? That’s this box on the left labeled “Time point 1”. How about a split second later? That’s the box on the right labeled “Time point 2”. Draw and label or describe in words what you think you would see happening for both objects at each time point.</a:t>
            </a:r>
            <a:endParaRPr>
              <a:solidFill>
                <a:schemeClr val="dk1"/>
              </a:solidFill>
              <a:latin typeface="Cabin"/>
              <a:ea typeface="Cabin"/>
              <a:cs typeface="Cabin"/>
              <a:sym typeface="Cabin"/>
            </a:endParaRPr>
          </a:p>
        </p:txBody>
      </p:sp>
      <p:sp>
        <p:nvSpPr>
          <p:cNvPr id="253" name="Google Shape;253;p8: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After 3-4 minutes, distribute </a:t>
            </a:r>
            <a:r>
              <a:rPr i="1" lang="en">
                <a:solidFill>
                  <a:schemeClr val="dk1"/>
                </a:solidFill>
                <a:latin typeface="Cabin"/>
                <a:ea typeface="Cabin"/>
                <a:cs typeface="Cabin"/>
                <a:sym typeface="Cabin"/>
              </a:rPr>
              <a:t>Object Interactions During A Collision</a:t>
            </a:r>
            <a:r>
              <a:rPr lang="en">
                <a:solidFill>
                  <a:schemeClr val="dk1"/>
                </a:solidFill>
                <a:latin typeface="Cabin"/>
                <a:ea typeface="Cabin"/>
                <a:cs typeface="Cabin"/>
                <a:sym typeface="Cabin"/>
              </a:rPr>
              <a:t>. Project </a:t>
            </a:r>
            <a:r>
              <a:rPr b="1" lang="en">
                <a:solidFill>
                  <a:schemeClr val="dk1"/>
                </a:solidFill>
                <a:latin typeface="Cabin"/>
                <a:ea typeface="Cabin"/>
                <a:cs typeface="Cabin"/>
                <a:sym typeface="Cabin"/>
              </a:rPr>
              <a:t>slide I</a:t>
            </a:r>
            <a:r>
              <a:rPr lang="en">
                <a:solidFill>
                  <a:schemeClr val="dk1"/>
                </a:solidFill>
                <a:latin typeface="Cabin"/>
                <a:ea typeface="Cabin"/>
                <a:cs typeface="Cabin"/>
                <a:sym typeface="Cabin"/>
              </a:rPr>
              <a:t>. Say, </a:t>
            </a:r>
            <a:r>
              <a:rPr i="1" lang="en">
                <a:solidFill>
                  <a:schemeClr val="dk1"/>
                </a:solidFill>
                <a:latin typeface="Cabin"/>
                <a:ea typeface="Cabin"/>
                <a:cs typeface="Cabin"/>
                <a:sym typeface="Cabin"/>
              </a:rPr>
              <a:t>Look at the questions on this second handout and look at the model you just drew. The first question is asking you to think about what is happening with the objects between time point 1 and time point 2. What changes do you think you could see happening between those two points in time?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i="1" lang="en">
                <a:solidFill>
                  <a:schemeClr val="dk1"/>
                </a:solidFill>
                <a:latin typeface="Cabin"/>
                <a:ea typeface="Cabin"/>
                <a:cs typeface="Cabin"/>
                <a:sym typeface="Cabin"/>
              </a:rPr>
              <a:t>The second question asks you to think about the interactions that you cannot see happening with the objects in a collision. What interactions between those two points in time do you think you couldn’t see happening with those objects as they collided?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i="1" lang="en">
                <a:solidFill>
                  <a:schemeClr val="dk1"/>
                </a:solidFill>
                <a:latin typeface="Cabin"/>
                <a:ea typeface="Cabin"/>
                <a:cs typeface="Cabin"/>
                <a:sym typeface="Cabin"/>
              </a:rPr>
              <a:t>The third question wants you to think about what changes to these interactions might lead to more or less damage. When we are talking about their interactions, we are talking about the ways that they are acting on and affecting each other when they are touching. What changes to the way that they are acting on and affecting each other when they are touching would lead to more or less damage?</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Give students the remaining time to consider the questions and respond.</a:t>
            </a:r>
            <a:r>
              <a:rPr lang="en">
                <a:solidFill>
                  <a:schemeClr val="dk1"/>
                </a:solidFill>
                <a:latin typeface="Nunito"/>
                <a:ea typeface="Nunito"/>
                <a:cs typeface="Nunito"/>
                <a:sym typeface="Nunito"/>
              </a:rPr>
              <a:t> </a:t>
            </a:r>
            <a:r>
              <a:rPr lang="en">
                <a:solidFill>
                  <a:schemeClr val="dk1"/>
                </a:solidFill>
                <a:latin typeface="Cabin"/>
                <a:ea typeface="Cabin"/>
                <a:cs typeface="Cabin"/>
                <a:sym typeface="Cabin"/>
              </a:rPr>
              <a:t>At the end of the class period, have students hand in </a:t>
            </a:r>
            <a:r>
              <a:rPr i="1" lang="en">
                <a:solidFill>
                  <a:schemeClr val="dk1"/>
                </a:solidFill>
                <a:latin typeface="Cabin"/>
                <a:ea typeface="Cabin"/>
                <a:cs typeface="Cabin"/>
                <a:sym typeface="Cabin"/>
              </a:rPr>
              <a:t>Initial Model: Objects During Collisions</a:t>
            </a:r>
            <a:r>
              <a:rPr lang="en">
                <a:solidFill>
                  <a:schemeClr val="dk1"/>
                </a:solidFill>
                <a:latin typeface="Cabin"/>
                <a:ea typeface="Cabin"/>
                <a:cs typeface="Cabin"/>
                <a:sym typeface="Cabin"/>
              </a:rPr>
              <a:t> and </a:t>
            </a:r>
            <a:r>
              <a:rPr i="1" lang="en">
                <a:solidFill>
                  <a:schemeClr val="dk1"/>
                </a:solidFill>
                <a:latin typeface="Cabin"/>
                <a:ea typeface="Cabin"/>
                <a:cs typeface="Cabin"/>
                <a:sym typeface="Cabin"/>
              </a:rPr>
              <a:t>Object Interactions During A Collision </a:t>
            </a:r>
            <a:r>
              <a:rPr lang="en">
                <a:solidFill>
                  <a:schemeClr val="dk1"/>
                </a:solidFill>
                <a:latin typeface="Cabin"/>
                <a:ea typeface="Cabin"/>
                <a:cs typeface="Cabin"/>
                <a:sym typeface="Cabin"/>
              </a:rPr>
              <a:t>for a formative assessment. If students have constructed the initial models in their notebooks, have students hand in their notebooks.</a:t>
            </a:r>
            <a:endParaRPr b="1" u="sng">
              <a:solidFill>
                <a:srgbClr val="0B0B0B"/>
              </a:solidFill>
              <a:latin typeface="Cabin"/>
              <a:ea typeface="Cabin"/>
              <a:cs typeface="Cabin"/>
              <a:sym typeface="Cabin"/>
            </a:endParaRPr>
          </a:p>
        </p:txBody>
      </p:sp>
      <p:sp>
        <p:nvSpPr>
          <p:cNvPr id="262" name="Google Shape;262;p9: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Return materials to students. </a:t>
            </a:r>
            <a:r>
              <a:rPr lang="en">
                <a:solidFill>
                  <a:schemeClr val="dk1"/>
                </a:solidFill>
                <a:latin typeface="Cabin"/>
                <a:ea typeface="Cabin"/>
                <a:cs typeface="Cabin"/>
                <a:sym typeface="Cabin"/>
              </a:rPr>
              <a:t>Return </a:t>
            </a:r>
            <a:r>
              <a:rPr i="1" lang="en">
                <a:solidFill>
                  <a:schemeClr val="dk1"/>
                </a:solidFill>
                <a:latin typeface="Cabin"/>
                <a:ea typeface="Cabin"/>
                <a:cs typeface="Cabin"/>
                <a:sym typeface="Cabin"/>
              </a:rPr>
              <a:t>Initial Model: Objects During Collisions</a:t>
            </a:r>
            <a:r>
              <a:rPr lang="en">
                <a:solidFill>
                  <a:schemeClr val="dk1"/>
                </a:solidFill>
                <a:latin typeface="Cabin"/>
                <a:ea typeface="Cabin"/>
                <a:cs typeface="Cabin"/>
                <a:sym typeface="Cabin"/>
              </a:rPr>
              <a:t>, </a:t>
            </a:r>
            <a:r>
              <a:rPr i="1" lang="en">
                <a:solidFill>
                  <a:schemeClr val="dk1"/>
                </a:solidFill>
                <a:latin typeface="Cabin"/>
                <a:ea typeface="Cabin"/>
                <a:cs typeface="Cabin"/>
                <a:sym typeface="Cabin"/>
              </a:rPr>
              <a:t>Object Interactions During A Collision</a:t>
            </a:r>
            <a:r>
              <a:rPr lang="en">
                <a:solidFill>
                  <a:schemeClr val="dk1"/>
                </a:solidFill>
                <a:latin typeface="Cabin"/>
                <a:ea typeface="Cabin"/>
                <a:cs typeface="Cabin"/>
                <a:sym typeface="Cabin"/>
              </a:rPr>
              <a:t> and science notebooks to students. If students used the loose handouts instead of recording in their science notebooks, give students time to attach the handouts to a notebook page using tape.</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b="1">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rPr b="1" lang="en">
                <a:solidFill>
                  <a:schemeClr val="dk1"/>
                </a:solidFill>
                <a:latin typeface="Cabin"/>
                <a:ea typeface="Cabin"/>
                <a:cs typeface="Cabin"/>
                <a:sym typeface="Cabin"/>
              </a:rPr>
              <a:t>Form a Scientists Circle for the first time.</a:t>
            </a:r>
            <a:r>
              <a:rPr lang="en">
                <a:solidFill>
                  <a:schemeClr val="dk1"/>
                </a:solidFill>
                <a:latin typeface="Cabin"/>
                <a:ea typeface="Cabin"/>
                <a:cs typeface="Cabin"/>
                <a:sym typeface="Cabin"/>
              </a:rPr>
              <a:t> Ask students to assemble their chairs in a circle and to bring their science notebooks and something to write with. Students will remain in the circle for all of class, though they will move among partner, small-group, and whole-class discussions. This will help minimize the movement of chairs throughout the class period. As students get more comfortable with the Scientists Circle, they can move between it and other activity structures more quickly. Ideally, they will need to be able to see the slides and have access to a whiteboard, but if that is not possible, use only the whiteboard (or chart paper), which is where the more critical sensemaking will occur for the rest of the class.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b="1" lang="en">
                <a:solidFill>
                  <a:schemeClr val="dk1"/>
                </a:solidFill>
                <a:latin typeface="Cabin"/>
                <a:ea typeface="Cabin"/>
                <a:cs typeface="Cabin"/>
                <a:sym typeface="Cabin"/>
              </a:rPr>
              <a:t>Share initial models with a partner. </a:t>
            </a:r>
            <a:r>
              <a:rPr lang="en">
                <a:solidFill>
                  <a:schemeClr val="dk1"/>
                </a:solidFill>
                <a:latin typeface="Cabin"/>
                <a:ea typeface="Cabin"/>
                <a:cs typeface="Cabin"/>
                <a:sym typeface="Cabin"/>
              </a:rPr>
              <a:t>Display </a:t>
            </a:r>
            <a:r>
              <a:rPr b="1" lang="en">
                <a:solidFill>
                  <a:schemeClr val="dk1"/>
                </a:solidFill>
                <a:latin typeface="Cabin"/>
                <a:ea typeface="Cabin"/>
                <a:cs typeface="Cabin"/>
                <a:sym typeface="Cabin"/>
              </a:rPr>
              <a:t>slide J</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Ask students to keep track of similarities and differences between (1) what they think would happen at each point in time for each model and (2) the factors and variables that may have contributed to damage or no damage.</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Introduce the idea of coming to consensus as a class.</a:t>
            </a:r>
            <a:r>
              <a:rPr lang="en">
                <a:solidFill>
                  <a:schemeClr val="dk1"/>
                </a:solidFill>
                <a:latin typeface="Cabin"/>
                <a:ea typeface="Cabin"/>
                <a:cs typeface="Cabin"/>
                <a:sym typeface="Cabin"/>
              </a:rPr>
              <a:t> Tell students, </a:t>
            </a:r>
            <a:r>
              <a:rPr i="1" lang="en">
                <a:solidFill>
                  <a:schemeClr val="dk1"/>
                </a:solidFill>
                <a:latin typeface="Cabin"/>
                <a:ea typeface="Cabin"/>
                <a:cs typeface="Cabin"/>
                <a:sym typeface="Cabin"/>
              </a:rPr>
              <a:t>Soon, we’ll try to come to agreement with all our diagrams</a:t>
            </a:r>
            <a:r>
              <a:rPr lang="en">
                <a:solidFill>
                  <a:schemeClr val="dk1"/>
                </a:solidFill>
                <a:latin typeface="Cabin"/>
                <a:ea typeface="Cabin"/>
                <a:cs typeface="Cabin"/>
                <a:sym typeface="Cabin"/>
              </a:rPr>
              <a:t>. The purpose of introducing the consensus task before talking about classroom norms is to get students thinking about how difficult it will be to get all members of the learning community to agree and how we want to make sure everyone is included and all voices are heard.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Introduce science classroom norms</a:t>
            </a:r>
            <a:r>
              <a:rPr lang="en">
                <a:solidFill>
                  <a:schemeClr val="dk1"/>
                </a:solidFill>
                <a:latin typeface="Cabin"/>
                <a:ea typeface="Cabin"/>
                <a:cs typeface="Cabin"/>
                <a:sym typeface="Cabin"/>
              </a:rPr>
              <a:t>. Tell students that before the class moves on with further investigations, it is time to set up some norms for how the class wants to work and learn together. You may want to reiterate productive behaviors you witnessed in the first day of Lesson 1 as a way of communicating to students that they were already operating using some positive norms, but they had not yet talked about them.</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Display </a:t>
            </a:r>
            <a:r>
              <a:rPr b="1" lang="en">
                <a:solidFill>
                  <a:schemeClr val="dk1"/>
                </a:solidFill>
                <a:latin typeface="Cabin"/>
                <a:ea typeface="Cabin"/>
                <a:cs typeface="Cabin"/>
                <a:sym typeface="Cabin"/>
              </a:rPr>
              <a:t>slide K</a:t>
            </a:r>
            <a:r>
              <a:rPr lang="en">
                <a:solidFill>
                  <a:schemeClr val="dk1"/>
                </a:solidFill>
                <a:latin typeface="Cabin"/>
                <a:ea typeface="Cabin"/>
                <a:cs typeface="Cabin"/>
                <a:sym typeface="Cabin"/>
              </a:rPr>
              <a:t> and pass out the handout </a:t>
            </a:r>
            <a:r>
              <a:rPr i="1" lang="en">
                <a:solidFill>
                  <a:schemeClr val="dk1"/>
                </a:solidFill>
                <a:latin typeface="Cabin"/>
                <a:ea typeface="Cabin"/>
                <a:cs typeface="Cabin"/>
                <a:sym typeface="Cabin"/>
              </a:rPr>
              <a:t>Science Classroom Norms</a:t>
            </a:r>
            <a:r>
              <a:rPr lang="en">
                <a:solidFill>
                  <a:schemeClr val="dk1"/>
                </a:solidFill>
                <a:latin typeface="Cabin"/>
                <a:ea typeface="Cabin"/>
                <a:cs typeface="Cabin"/>
                <a:sym typeface="Cabin"/>
              </a:rPr>
              <a:t>. Note: Edit the handout and slide as desired for your classroom.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Remind students that in prior units we have used norms to help develop a productive and respectful learning environment. They are similar to rules but are intended to ensure that all students have a positive learning experience in science class.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The norms on the handout and the slide are a starting point for the class. It is important to talk through each one with students and ask them to provide an example or paraphrase the norm. The purpose of this is to develop a shared understanding of each norm. Also, provide opportunities for students to clarify a norm, ask for a modification, or develop a new norm. Allow students to write on their handouts if the class decides to change something. Norms are intended to be shared by the students and teacher, so even though a set has been provided, it is just a starting point.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Choose a norm to work on today.</a:t>
            </a:r>
            <a:r>
              <a:rPr lang="en">
                <a:solidFill>
                  <a:schemeClr val="dk1"/>
                </a:solidFill>
                <a:latin typeface="Cabin"/>
                <a:ea typeface="Cabin"/>
                <a:cs typeface="Cabin"/>
                <a:sym typeface="Cabin"/>
              </a:rPr>
              <a:t> Ask students to read through the norms one more time, nominate one norm that may be particularly hard to follow, and suggest a strategy that could help everyone adhere to it. Then, before the students end their conversation, ask them to silently pick one norm from the sheet that they personally will work on today. Give them at least 30 seconds of quiet, individual think-time to make this decision.</a:t>
            </a:r>
            <a:endParaRPr>
              <a:solidFill>
                <a:srgbClr val="0B0B0B"/>
              </a:solidFill>
              <a:latin typeface="Cabin"/>
              <a:ea typeface="Cabin"/>
              <a:cs typeface="Cabin"/>
              <a:sym typeface="Cabi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2: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Share initial models in the Scientists Circle. </a:t>
            </a:r>
            <a:r>
              <a:rPr lang="en">
                <a:solidFill>
                  <a:schemeClr val="dk1"/>
                </a:solidFill>
                <a:latin typeface="Cabin"/>
                <a:ea typeface="Cabin"/>
                <a:cs typeface="Cabin"/>
                <a:sym typeface="Cabin"/>
              </a:rPr>
              <a:t>Display </a:t>
            </a:r>
            <a:r>
              <a:rPr b="1" lang="en">
                <a:solidFill>
                  <a:schemeClr val="dk1"/>
                </a:solidFill>
                <a:latin typeface="Cabin"/>
                <a:ea typeface="Cabin"/>
                <a:cs typeface="Cabin"/>
                <a:sym typeface="Cabin"/>
              </a:rPr>
              <a:t>slide L</a:t>
            </a:r>
            <a:r>
              <a:rPr lang="en">
                <a:solidFill>
                  <a:schemeClr val="dk1"/>
                </a:solidFill>
                <a:latin typeface="Cabin"/>
                <a:ea typeface="Cabin"/>
                <a:cs typeface="Cabin"/>
                <a:sym typeface="Cabin"/>
              </a:rPr>
              <a:t>. Arrange students around the Consensus Model for Collisions poster.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Let’s start with a model of when the objects in the collision </a:t>
            </a:r>
            <a:r>
              <a:rPr lang="en">
                <a:solidFill>
                  <a:schemeClr val="dk1"/>
                </a:solidFill>
                <a:latin typeface="Cabin"/>
                <a:ea typeface="Cabin"/>
                <a:cs typeface="Cabin"/>
                <a:sym typeface="Cabin"/>
              </a:rPr>
              <a:t>did </a:t>
            </a:r>
            <a:r>
              <a:rPr i="1" lang="en">
                <a:solidFill>
                  <a:schemeClr val="dk1"/>
                </a:solidFill>
                <a:latin typeface="Cabin"/>
                <a:ea typeface="Cabin"/>
                <a:cs typeface="Cabin"/>
                <a:sym typeface="Cabin"/>
              </a:rPr>
              <a:t>have damage. Let’s have a couple of people share their ideas with the class.</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Pick two students with different models  from </a:t>
            </a:r>
            <a:r>
              <a:rPr i="1" lang="en">
                <a:solidFill>
                  <a:schemeClr val="dk1"/>
                </a:solidFill>
                <a:latin typeface="Cabin"/>
                <a:ea typeface="Cabin"/>
                <a:cs typeface="Cabin"/>
                <a:sym typeface="Cabin"/>
              </a:rPr>
              <a:t>Initial Model: Objects During Collisions</a:t>
            </a:r>
            <a:r>
              <a:rPr lang="en">
                <a:solidFill>
                  <a:schemeClr val="dk1"/>
                </a:solidFill>
                <a:latin typeface="Cabin"/>
                <a:ea typeface="Cabin"/>
                <a:cs typeface="Cabin"/>
                <a:sym typeface="Cabin"/>
              </a:rPr>
              <a:t> to come up and show their models to the class. Try to pick examples that look different than the others. Tell students that as their classmates share their models, they should place a small check mark (✓) near what is similar and a question mark (?) near what is different on their own model. Ask students to explain what they think is happening that we can and cannot see between the two objects.</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Lead a Consensus Discussion to create an initial consensus model. </a:t>
            </a:r>
            <a:r>
              <a:rPr lang="en">
                <a:solidFill>
                  <a:schemeClr val="dk1"/>
                </a:solidFill>
                <a:latin typeface="Cabin"/>
                <a:ea typeface="Cabin"/>
                <a:cs typeface="Cabin"/>
                <a:sym typeface="Cabin"/>
              </a:rPr>
              <a:t>Use the Consensus Model for Collisions poster to incorporate the areas on which we agree. Allow students to share their agreements and disagreements verbally as they naturally arise in the conversation. After you hear a few examples where there is both agreement and controversy, suggest that we should start recording some of these on our poster.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This poster represents our whole-class thinking. We should feel free to say if it does not represent everyone’s thinking so we can figure out what we know and what we are less certain about. We will need to know if we have competing ideas in future lessons so we can figure out what we still need to investigate. Make sure to say something if this does not represent our whole-class thinking.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Shift to the column labeled ”Changes we can see” and ”Interactions we cannot see”. Start with the students’ responses for the changes we can see. Then move to the interactions we cannot see. Use two different colored markers to represent the two different categories of responses. Refer students to </a:t>
            </a:r>
            <a:r>
              <a:rPr i="1" lang="en">
                <a:solidFill>
                  <a:schemeClr val="dk1"/>
                </a:solidFill>
                <a:latin typeface="Cabin"/>
                <a:ea typeface="Cabin"/>
                <a:cs typeface="Cabin"/>
                <a:sym typeface="Cabin"/>
              </a:rPr>
              <a:t>Object Interactions During A Collision</a:t>
            </a:r>
            <a:r>
              <a:rPr lang="en">
                <a:solidFill>
                  <a:schemeClr val="dk1"/>
                </a:solidFill>
                <a:latin typeface="Cabin"/>
                <a:ea typeface="Cabin"/>
                <a:cs typeface="Cabin"/>
                <a:sym typeface="Cabin"/>
              </a:rPr>
              <a:t> for ideas on what we can all agree upon and areas of disagreement. Have students share out what changes we can see occurring between the two objects. Begin with the collision with the damage box and record student ideas. If students can agree across the class on a change we can see, put an exclamation point or other symbol to indicate that there is a whole-class agreement on this idea. If students do not agree on an idea or it does not represent every student’s thinking, add a question mark beside the idea. If students have an idea as something that can be seen as well as cannot be seen, star the idea with the marker use to represent the other category (can be seen vs. cannot be seen) to represent that this idea falls into the two different categories (visible and nonvisible) and will be revisited in later lessons. An example of this can be seen in the chart below.  On the example chart in the teacher guide, fracturing was listed first as an interaction we cannot see AND a change that we can see.  A pink star was added next to it to indicate that it falls into both categories.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After potential agreements and disagreements have been identified and recorded, move to the remaining empty box that represents a collision without damage.</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p:txBody>
      </p:sp>
      <p:sp>
        <p:nvSpPr>
          <p:cNvPr id="291" name="Google Shape;291;p12: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Reflect and record questions. </a:t>
            </a:r>
            <a:r>
              <a:rPr lang="en">
                <a:solidFill>
                  <a:schemeClr val="dk1"/>
                </a:solidFill>
                <a:latin typeface="Cabin"/>
                <a:ea typeface="Cabin"/>
                <a:cs typeface="Cabin"/>
                <a:sym typeface="Cabin"/>
              </a:rPr>
              <a:t>Project</a:t>
            </a:r>
            <a:r>
              <a:rPr b="1" lang="en">
                <a:solidFill>
                  <a:schemeClr val="dk1"/>
                </a:solidFill>
                <a:latin typeface="Cabin"/>
                <a:ea typeface="Cabin"/>
                <a:cs typeface="Cabin"/>
                <a:sym typeface="Cabin"/>
              </a:rPr>
              <a:t> slide M</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Take a moment to reflect on this Consensus Model for Collisions poster as a class. Ask students to title a new page in their notebooks</a:t>
            </a:r>
            <a:r>
              <a:rPr i="1" lang="en">
                <a:solidFill>
                  <a:schemeClr val="dk1"/>
                </a:solidFill>
                <a:latin typeface="Cabin"/>
                <a:ea typeface="Cabin"/>
                <a:cs typeface="Cabin"/>
                <a:sym typeface="Cabin"/>
              </a:rPr>
              <a:t> </a:t>
            </a:r>
            <a:r>
              <a:rPr lang="en">
                <a:solidFill>
                  <a:schemeClr val="dk1"/>
                </a:solidFill>
                <a:latin typeface="Cabin"/>
                <a:ea typeface="Cabin"/>
                <a:cs typeface="Cabin"/>
                <a:sym typeface="Cabin"/>
              </a:rPr>
              <a:t>“Initial Collision Questions” and record on that page any new questions they have regarding the initial consensus model. We want to make sure to capture these wonderings we have about what is happening during the collision while we still have them fresh in our minds. These questions will be revisited while creating stickies to add to the Driving Question Board on day 3.</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Wow, we’ve captured a lot of questions. All of these appear to be related to the ideas we were discussing about what was occurring during the collision. Let’s take a different perspective now and think about what other variables and factors in the system might influence whether a collision would result in damage or no visible damage from before the objects were even touching.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4: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Show </a:t>
            </a:r>
            <a:r>
              <a:rPr b="1" lang="en">
                <a:solidFill>
                  <a:schemeClr val="dk1"/>
                </a:solidFill>
                <a:latin typeface="Cabin"/>
                <a:ea typeface="Cabin"/>
                <a:cs typeface="Cabin"/>
                <a:sym typeface="Cabin"/>
              </a:rPr>
              <a:t>slide N</a:t>
            </a:r>
            <a:r>
              <a:rPr lang="en">
                <a:solidFill>
                  <a:schemeClr val="dk1"/>
                </a:solidFill>
                <a:latin typeface="Cabin"/>
                <a:ea typeface="Cabin"/>
                <a:cs typeface="Cabin"/>
                <a:sym typeface="Cabin"/>
              </a:rPr>
              <a:t>. Have students look back at the Patterns in collisions T-chart in their notebooks.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Create a public record of students’ ideas.</a:t>
            </a:r>
            <a:r>
              <a:rPr lang="en">
                <a:solidFill>
                  <a:schemeClr val="dk1"/>
                </a:solidFill>
                <a:latin typeface="Cabin"/>
                <a:ea typeface="Cabin"/>
                <a:cs typeface="Cabin"/>
                <a:sym typeface="Cabin"/>
              </a:rPr>
              <a:t> Display the </a:t>
            </a:r>
            <a:r>
              <a:rPr lang="en">
                <a:solidFill>
                  <a:srgbClr val="0B0B0B"/>
                </a:solidFill>
                <a:latin typeface="Cabin"/>
                <a:ea typeface="Cabin"/>
                <a:cs typeface="Cabin"/>
                <a:sym typeface="Cabin"/>
              </a:rPr>
              <a:t>Factors and Variables poster</a:t>
            </a:r>
            <a:r>
              <a:rPr lang="en">
                <a:solidFill>
                  <a:schemeClr val="dk1"/>
                </a:solidFill>
                <a:latin typeface="Cabin"/>
                <a:ea typeface="Cabin"/>
                <a:cs typeface="Cabin"/>
                <a:sym typeface="Cabin"/>
              </a:rPr>
              <a:t>.</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This will be a record of our initial ideas, and even though we might all agree on some of these being important variables, we don’t yet know how important each one is or which variables or factors make the biggest difference, so I want to put a question mark next to each to indicate that as we quickly record a running list of different possibilities you share</a:t>
            </a:r>
            <a:r>
              <a:rPr lang="en">
                <a:solidFill>
                  <a:schemeClr val="dk1"/>
                </a:solidFill>
                <a:latin typeface="Cabin"/>
                <a:ea typeface="Cabin"/>
                <a:cs typeface="Cabin"/>
                <a:sym typeface="Cabin"/>
              </a:rPr>
              <a:t>.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If students become stuck on wanting to not add a question mark to a particular idea that is shared (e.g., we are all certain that mass is an important factor), ask questions such as these:</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Is X factor or variable more influential in a collision than Y factor or variable?</a:t>
            </a:r>
            <a:endParaRPr i="1">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So is this factor or variable more important than another factor or variable in a collision?</a:t>
            </a:r>
            <a:endParaRPr i="1">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Would this factor or variable still have as much of an impact on the outcome as this other factor or variable. What if we changed only this one variable instead of the other or vice versa?</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Record student ideas. Students might suggest these ideas:</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speed of the moving object(s)</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size, weight, or mass of the moving object(s)</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shape of the objects</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material those objects are made of</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how hard or soft those objects are</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angle they hit each other from</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any padding or protective material around either object</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At the end of the period, ask students to think more about what factors and variables that are not on our chart might have an affect on the outcome of a collision. Students can ask family, friends, or community about what they think affects damage in a collision if they need more ideas.</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It is OK if you do not complete this chart during this class period. It will be revisited at the beginning of day 3. </a:t>
            </a:r>
            <a:endParaRPr>
              <a:latin typeface="Cabin"/>
              <a:ea typeface="Cabin"/>
              <a:cs typeface="Cabin"/>
              <a:sym typeface="Cabin"/>
            </a:endParaRPr>
          </a:p>
        </p:txBody>
      </p:sp>
      <p:sp>
        <p:nvSpPr>
          <p:cNvPr id="311" name="Google Shape;311;p14: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Choose a norm to work on today.</a:t>
            </a:r>
            <a:r>
              <a:rPr lang="en">
                <a:solidFill>
                  <a:schemeClr val="dk1"/>
                </a:solidFill>
                <a:latin typeface="Cabin"/>
                <a:ea typeface="Cabin"/>
                <a:cs typeface="Cabin"/>
                <a:sym typeface="Cabin"/>
              </a:rPr>
              <a:t> Display </a:t>
            </a:r>
            <a:r>
              <a:rPr b="1" lang="en">
                <a:solidFill>
                  <a:schemeClr val="dk1"/>
                </a:solidFill>
                <a:latin typeface="Cabin"/>
                <a:ea typeface="Cabin"/>
                <a:cs typeface="Cabin"/>
                <a:sym typeface="Cabin"/>
              </a:rPr>
              <a:t>slide O</a:t>
            </a:r>
            <a:r>
              <a:rPr lang="en">
                <a:solidFill>
                  <a:schemeClr val="dk1"/>
                </a:solidFill>
                <a:latin typeface="Cabin"/>
                <a:ea typeface="Cabin"/>
                <a:cs typeface="Cabin"/>
                <a:sym typeface="Cabin"/>
              </a:rPr>
              <a:t>. Tell students, </a:t>
            </a:r>
            <a:r>
              <a:rPr i="1" lang="en">
                <a:solidFill>
                  <a:schemeClr val="dk1"/>
                </a:solidFill>
                <a:latin typeface="Cabin"/>
                <a:ea typeface="Cabin"/>
                <a:cs typeface="Cabin"/>
                <a:sym typeface="Cabin"/>
              </a:rPr>
              <a:t>We will spend all day in our Scientists Circle again, working on turning our ideas into questions that we can investigate</a:t>
            </a:r>
            <a:r>
              <a:rPr lang="en">
                <a:solidFill>
                  <a:schemeClr val="dk1"/>
                </a:solidFill>
                <a:latin typeface="Cabin"/>
                <a:ea typeface="Cabin"/>
                <a:cs typeface="Cabin"/>
                <a:sym typeface="Cabin"/>
              </a:rPr>
              <a:t>. Direct them to look over the Classroom Norms chart again. Ask students to nominate a norm that the class should work on as a group. Take a vote and choose a norm to focus on together today.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What strategies can we use to stick to this norm together? </a:t>
            </a:r>
            <a:r>
              <a:rPr lang="en">
                <a:solidFill>
                  <a:schemeClr val="dk1"/>
                </a:solidFill>
                <a:latin typeface="Cabin"/>
                <a:ea typeface="Cabin"/>
                <a:cs typeface="Cabin"/>
                <a:sym typeface="Cabin"/>
              </a:rPr>
              <a:t>Solicit 2-3 student ideas before revising the Factors and Variables poster.</a:t>
            </a:r>
            <a:endParaRPr b="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Project </a:t>
            </a:r>
            <a:r>
              <a:rPr b="1" lang="en">
                <a:solidFill>
                  <a:schemeClr val="dk1"/>
                </a:solidFill>
                <a:latin typeface="Cabin"/>
                <a:ea typeface="Cabin"/>
                <a:cs typeface="Cabin"/>
                <a:sym typeface="Cabin"/>
              </a:rPr>
              <a:t>slide P</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Revisit the Factors and Variables poster with students. Ask if they have identified any other factors that may affect damage in a collision. Record student ideas on the poster. </a:t>
            </a:r>
            <a:endParaRPr>
              <a:latin typeface="Cabin"/>
              <a:ea typeface="Cabin"/>
              <a:cs typeface="Cabin"/>
              <a:sym typeface="Cabin"/>
            </a:endParaRPr>
          </a:p>
        </p:txBody>
      </p:sp>
      <p:sp>
        <p:nvSpPr>
          <p:cNvPr id="333" name="Google Shape;333;p16: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Write additional questions individually.</a:t>
            </a:r>
            <a:r>
              <a:rPr lang="en">
                <a:solidFill>
                  <a:schemeClr val="dk1"/>
                </a:solidFill>
                <a:latin typeface="Cabin"/>
                <a:ea typeface="Cabin"/>
                <a:cs typeface="Cabin"/>
                <a:sym typeface="Cabin"/>
              </a:rPr>
              <a:t> Project </a:t>
            </a:r>
            <a:r>
              <a:rPr b="1" lang="en">
                <a:solidFill>
                  <a:schemeClr val="dk1"/>
                </a:solidFill>
                <a:latin typeface="Cabin"/>
                <a:ea typeface="Cabin"/>
                <a:cs typeface="Cabin"/>
                <a:sym typeface="Cabin"/>
              </a:rPr>
              <a:t>slide Q</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Pass out 1-2 index cards or sticky notes to each student. Remind them that though we generated questions last time based on what was happening during the collision, they may have new questions about some of these variables and factors from today. Direct students to look back at their Initial Collision Questions notebook page and the Factors and Variables poster. Ask students to use a marker to write on the sticky notes or index cards one or two questions they have developed, one question per card. They should write their questions so they are big and bold. We want to be able to see the questions clearly. Remind students that it will be part of our mission over the next few weeks to try to answer these questions as well as the ones they wrote last time.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8: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Start our Driving Question Board (DQB).</a:t>
            </a:r>
            <a:r>
              <a:rPr lang="en">
                <a:solidFill>
                  <a:schemeClr val="dk1"/>
                </a:solidFill>
                <a:latin typeface="Cabin"/>
                <a:ea typeface="Cabin"/>
                <a:cs typeface="Cabin"/>
                <a:sym typeface="Cabin"/>
              </a:rPr>
              <a:t> Before class begins, be sure to have the DQB set up in the room. Place the Consensus Model for Collisions poster near the DQB. Say, </a:t>
            </a:r>
            <a:r>
              <a:rPr i="1" lang="en">
                <a:solidFill>
                  <a:schemeClr val="dk1"/>
                </a:solidFill>
                <a:latin typeface="Cabin"/>
                <a:ea typeface="Cabin"/>
                <a:cs typeface="Cabin"/>
                <a:sym typeface="Cabin"/>
              </a:rPr>
              <a:t>We have been analyzing different types of collisions and the results of those collisions. We have identified possible variables and factors that contribute to damage or no damage, and we want to find out exactly how those collisions cause damage.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Write the unit question at the top of the DQB: “Why do things sometimes get damaged when they hit each other?” Give students a moment to gather their index cards from the last activity and record any new questions on new index cards they may have related to collisions.</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b="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Gather in a Scientists Circle around the DQB. </a:t>
            </a:r>
            <a:r>
              <a:rPr lang="en">
                <a:solidFill>
                  <a:schemeClr val="dk1"/>
                </a:solidFill>
                <a:latin typeface="Cabin"/>
                <a:ea typeface="Cabin"/>
                <a:cs typeface="Cabin"/>
                <a:sym typeface="Cabin"/>
              </a:rPr>
              <a:t>Display</a:t>
            </a:r>
            <a:r>
              <a:rPr b="1" lang="en">
                <a:solidFill>
                  <a:schemeClr val="dk1"/>
                </a:solidFill>
                <a:latin typeface="Cabin"/>
                <a:ea typeface="Cabin"/>
                <a:cs typeface="Cabin"/>
                <a:sym typeface="Cabin"/>
              </a:rPr>
              <a:t> slide R</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Instruct students that when they have their questions ready, they need to bring them and chairs to meet in a Scientists Circle around the DQB. Explain to students how you will create the DQB (also shown on </a:t>
            </a:r>
            <a:r>
              <a:rPr b="1" lang="en">
                <a:solidFill>
                  <a:schemeClr val="dk1"/>
                </a:solidFill>
                <a:latin typeface="Cabin"/>
                <a:ea typeface="Cabin"/>
                <a:cs typeface="Cabin"/>
                <a:sym typeface="Cabin"/>
              </a:rPr>
              <a:t>slide R</a:t>
            </a:r>
            <a:r>
              <a:rPr lang="en">
                <a:solidFill>
                  <a:schemeClr val="dk1"/>
                </a:solidFill>
                <a:latin typeface="Cabin"/>
                <a:ea typeface="Cabin"/>
                <a:cs typeface="Cabin"/>
                <a:sym typeface="Cabin"/>
              </a:rPr>
              <a:t>):</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first student reads a question aloud to the class, then posts it on the DQB.</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Students who are listening should raise their hands if they have a question that relates to the question that was just read aloud.</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first student selects the next student whose hand is raised.</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second student reads a question, says why or how it relates, and posts it near the question it most relates to on the DQB. </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That student selects the next student.</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If another student has shared the same question that you have, try to share a different question that has not been shared.</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We will continue until everyone has at least one question on the DQB.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Organize questions into categories.</a:t>
            </a:r>
            <a:r>
              <a:rPr lang="en">
                <a:solidFill>
                  <a:schemeClr val="dk1"/>
                </a:solidFill>
                <a:latin typeface="Cabin"/>
                <a:ea typeface="Cabin"/>
                <a:cs typeface="Cabin"/>
                <a:sym typeface="Cabin"/>
              </a:rPr>
              <a:t> As students share, questions will naturally start clustering into similar parts of the model or similar questions. Once students have finished their sharing, ask them to identify the categories of questions and write these category names near each cluster of questions. To stay on track, save at least 8 minutes of class time for students to think about investigations. See the image in the step above for an example of student questions divided into potential categories. If you are short on time, create candidate categories yourself after this lesson, post them, and then share these with students at the start of the next class, asking them to make any suggested modifications to these if they think they don’t quite capture the themes that emerged on the board.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An example of a Driving Question Board created using student questions from a pilot classroom can be found in the teacher guide</a:t>
            </a:r>
            <a:endParaRPr b="1" sz="1000">
              <a:solidFill>
                <a:schemeClr val="dk1"/>
              </a:solidFill>
              <a:latin typeface="Open Sans"/>
              <a:ea typeface="Open Sans"/>
              <a:cs typeface="Open Sans"/>
              <a:sym typeface="Open Sans"/>
            </a:endParaRPr>
          </a:p>
        </p:txBody>
      </p:sp>
      <p:sp>
        <p:nvSpPr>
          <p:cNvPr id="361" name="Google Shape;361;p18: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Stay in a Scientists Circle to brainstorm investigations. </a:t>
            </a:r>
            <a:r>
              <a:rPr lang="en">
                <a:solidFill>
                  <a:schemeClr val="dk1"/>
                </a:solidFill>
                <a:latin typeface="Cabin"/>
                <a:ea typeface="Cabin"/>
                <a:cs typeface="Cabin"/>
                <a:sym typeface="Cabin"/>
              </a:rPr>
              <a:t>Show </a:t>
            </a:r>
            <a:r>
              <a:rPr b="1" lang="en">
                <a:solidFill>
                  <a:schemeClr val="dk1"/>
                </a:solidFill>
                <a:latin typeface="Cabin"/>
                <a:ea typeface="Cabin"/>
                <a:cs typeface="Cabin"/>
                <a:sym typeface="Cabin"/>
              </a:rPr>
              <a:t>slide S</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Read the slide. Give students about five minutes to individually record in their notebooks some ideas for future investigations. As students are doing this, create a new poster titled “Ideas for Investigations and Data We Need.” Put this right next to the DQB.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1000"/>
              </a:spcAft>
              <a:buClr>
                <a:schemeClr val="dk1"/>
              </a:buClr>
              <a:buSzPts val="1100"/>
              <a:buFont typeface="Arial"/>
              <a:buNone/>
            </a:pPr>
            <a:r>
              <a:rPr lang="en">
                <a:solidFill>
                  <a:schemeClr val="dk1"/>
                </a:solidFill>
                <a:latin typeface="Cabin"/>
                <a:ea typeface="Cabin"/>
                <a:cs typeface="Cabin"/>
                <a:sym typeface="Cabin"/>
              </a:rPr>
              <a:t>Tell students that you are going to record their ideas and that you want everyone’s idea to be represented. As students are sharing their ideas, underline repeated statements to keep track of common ideas among students. Emphasize that the list is what we want to do that we think might help us answer our questions and that we may need to add to this list and update our DQB throughout the unit as we go.</a:t>
            </a:r>
            <a:endParaRPr/>
          </a:p>
        </p:txBody>
      </p:sp>
      <p:sp>
        <p:nvSpPr>
          <p:cNvPr id="370" name="Google Shape;370;p19: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0: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Clr>
                <a:schemeClr val="dk1"/>
              </a:buClr>
              <a:buSzPts val="1100"/>
              <a:buFont typeface="Arial"/>
              <a:buNone/>
            </a:pPr>
            <a:r>
              <a:rPr b="1" lang="en">
                <a:solidFill>
                  <a:schemeClr val="dk1"/>
                </a:solidFill>
                <a:latin typeface="Cabin"/>
                <a:ea typeface="Cabin"/>
                <a:cs typeface="Cabin"/>
                <a:sym typeface="Cabin"/>
              </a:rPr>
              <a:t>Forecast that we will investigate our questions.</a:t>
            </a:r>
            <a:r>
              <a:rPr lang="en">
                <a:solidFill>
                  <a:schemeClr val="dk1"/>
                </a:solidFill>
                <a:latin typeface="Cabin"/>
                <a:ea typeface="Cabin"/>
                <a:cs typeface="Cabin"/>
                <a:sym typeface="Cabin"/>
              </a:rPr>
              <a:t> Display </a:t>
            </a:r>
            <a:r>
              <a:rPr b="1" lang="en">
                <a:solidFill>
                  <a:schemeClr val="dk1"/>
                </a:solidFill>
                <a:latin typeface="Cabin"/>
                <a:ea typeface="Cabin"/>
                <a:cs typeface="Cabin"/>
                <a:sym typeface="Cabin"/>
              </a:rPr>
              <a:t>slide T</a:t>
            </a:r>
            <a:r>
              <a:rPr lang="en">
                <a:solidFill>
                  <a:schemeClr val="dk1"/>
                </a:solidFill>
                <a:latin typeface="Cabin"/>
                <a:ea typeface="Cabin"/>
                <a:cs typeface="Cabin"/>
                <a:sym typeface="Cabin"/>
              </a:rPr>
              <a:t>. Say,</a:t>
            </a:r>
            <a:r>
              <a:rPr b="1" i="1" lang="en">
                <a:solidFill>
                  <a:schemeClr val="dk1"/>
                </a:solidFill>
                <a:latin typeface="Cabin"/>
                <a:ea typeface="Cabin"/>
                <a:cs typeface="Cabin"/>
                <a:sym typeface="Cabin"/>
              </a:rPr>
              <a:t> </a:t>
            </a:r>
            <a:r>
              <a:rPr i="1" lang="en">
                <a:solidFill>
                  <a:schemeClr val="dk1"/>
                </a:solidFill>
                <a:latin typeface="Cabin"/>
                <a:ea typeface="Cabin"/>
                <a:cs typeface="Cabin"/>
                <a:sym typeface="Cabin"/>
              </a:rPr>
              <a:t>Wow. We have accomplished so much. We now have a broad mission to accomplish as a class. That is thanks to all the questions you shared and how you connected them together. These questions really represent what it is we hope to be able to figure out. And we have a lot of ideas for investigations we could do to try to figure this all out. I am very excited for us to be able to get started on investigating all of this. Let’s plan to start exploring some of those questions and ideas in our next lesson.</a:t>
            </a:r>
            <a:endParaRPr/>
          </a:p>
        </p:txBody>
      </p:sp>
      <p:sp>
        <p:nvSpPr>
          <p:cNvPr id="383" name="Google Shape;383;p20: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Debrief how we did with our focal norm.</a:t>
            </a:r>
            <a:r>
              <a:rPr lang="en">
                <a:solidFill>
                  <a:schemeClr val="dk1"/>
                </a:solidFill>
                <a:latin typeface="Cabin"/>
                <a:ea typeface="Cabin"/>
                <a:cs typeface="Cabin"/>
                <a:sym typeface="Cabin"/>
              </a:rPr>
              <a:t> Display </a:t>
            </a:r>
            <a:r>
              <a:rPr b="1" lang="en">
                <a:solidFill>
                  <a:schemeClr val="dk1"/>
                </a:solidFill>
                <a:latin typeface="Cabin"/>
                <a:ea typeface="Cabin"/>
                <a:cs typeface="Cabin"/>
                <a:sym typeface="Cabin"/>
              </a:rPr>
              <a:t>slide U</a:t>
            </a:r>
            <a:r>
              <a:rPr lang="en">
                <a:solidFill>
                  <a:schemeClr val="dk1"/>
                </a:solidFill>
                <a:latin typeface="Cabin"/>
                <a:ea typeface="Cabin"/>
                <a:cs typeface="Cabin"/>
                <a:sym typeface="Cabin"/>
              </a:rPr>
              <a:t>. Have students turn and talk and share how they did with the norm they selected. Ask students, </a:t>
            </a:r>
            <a:r>
              <a:rPr i="1" lang="en">
                <a:solidFill>
                  <a:schemeClr val="dk1"/>
                </a:solidFill>
                <a:latin typeface="Cabin"/>
                <a:ea typeface="Cabin"/>
                <a:cs typeface="Cabin"/>
                <a:sym typeface="Cabin"/>
              </a:rPr>
              <a:t>How did the norms help us talk together and come up with some ideas of what we think is happening</a:t>
            </a:r>
            <a:r>
              <a:rPr lang="en">
                <a:solidFill>
                  <a:schemeClr val="dk1"/>
                </a:solidFill>
                <a:latin typeface="Cabin"/>
                <a:ea typeface="Cabin"/>
                <a:cs typeface="Cabin"/>
                <a:sym typeface="Cabin"/>
              </a:rPr>
              <a:t>? Allow a few students to share and tell students they will continue to work on the norms.</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Update the table of contents with students.</a:t>
            </a:r>
            <a:r>
              <a:rPr lang="en">
                <a:solidFill>
                  <a:schemeClr val="dk1"/>
                </a:solidFill>
                <a:latin typeface="Cabin"/>
                <a:ea typeface="Cabin"/>
                <a:cs typeface="Cabin"/>
                <a:sym typeface="Cabin"/>
              </a:rPr>
              <a:t> Say, </a:t>
            </a:r>
            <a:r>
              <a:rPr i="1" lang="en">
                <a:solidFill>
                  <a:schemeClr val="dk1"/>
                </a:solidFill>
                <a:latin typeface="Cabin"/>
                <a:ea typeface="Cabin"/>
                <a:cs typeface="Cabin"/>
                <a:sym typeface="Cabin"/>
              </a:rPr>
              <a:t>But before we start on one of our investigation ideas, let’s organize the work we have done so far.</a:t>
            </a:r>
            <a:r>
              <a:rPr lang="en">
                <a:solidFill>
                  <a:schemeClr val="dk1"/>
                </a:solidFill>
                <a:latin typeface="Cabin"/>
                <a:ea typeface="Cabin"/>
                <a:cs typeface="Cabin"/>
                <a:sym typeface="Cabin"/>
              </a:rPr>
              <a:t> Take any remaining time to have students update their table of contents and page numbering to include references to all the work they have done so far. Develop a sample table of contents with students on chart paper to show one way to name the work they have in their notebooks and reference the related pages it is on. If you run out of time for this today, make sure to do this before the start of the next lesson the next time you meet.</a:t>
            </a:r>
            <a:endParaRPr>
              <a:solidFill>
                <a:schemeClr val="dk1"/>
              </a:solidFill>
              <a:latin typeface="Cabin"/>
              <a:ea typeface="Cabin"/>
              <a:cs typeface="Cabin"/>
              <a:sym typeface="Cabi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showMasterSp="0">
  <p:cSld name="TITLE_AND_BODY_1">
    <p:bg>
      <p:bgPr>
        <a:solidFill>
          <a:srgbClr val="F3F3F3"/>
        </a:solidFill>
      </p:bgPr>
    </p:bg>
    <p:spTree>
      <p:nvGrpSpPr>
        <p:cNvPr id="7" name="Shape 7"/>
        <p:cNvGrpSpPr/>
        <p:nvPr/>
      </p:nvGrpSpPr>
      <p:grpSpPr>
        <a:xfrm>
          <a:off x="0" y="0"/>
          <a:ext cx="0" cy="0"/>
          <a:chOff x="0" y="0"/>
          <a:chExt cx="0" cy="0"/>
        </a:xfrm>
      </p:grpSpPr>
      <p:sp>
        <p:nvSpPr>
          <p:cNvPr id="8" name="Google Shape;8;p2"/>
          <p:cNvSpPr txBox="1"/>
          <p:nvPr>
            <p:ph idx="12" type="sldNum"/>
          </p:nvPr>
        </p:nvSpPr>
        <p:spPr>
          <a:xfrm>
            <a:off x="4475913" y="6500813"/>
            <a:ext cx="185400" cy="255600"/>
          </a:xfrm>
          <a:prstGeom prst="rect">
            <a:avLst/>
          </a:prstGeom>
          <a:noFill/>
          <a:ln>
            <a:noFill/>
          </a:ln>
        </p:spPr>
        <p:txBody>
          <a:bodyPr anchorCtr="0" anchor="t" bIns="29750" lIns="29750" spcFirstLastPara="1" rIns="29750" wrap="square" tIns="29750">
            <a:noAutofit/>
          </a:bodyPr>
          <a:lstStyle>
            <a:lvl1pPr indent="0" lvl="0"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400">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 name="Shape 9"/>
        <p:cNvGrpSpPr/>
        <p:nvPr/>
      </p:nvGrpSpPr>
      <p:grpSpPr>
        <a:xfrm>
          <a:off x="0" y="0"/>
          <a:ext cx="0" cy="0"/>
          <a:chOff x="0" y="0"/>
          <a:chExt cx="0" cy="0"/>
        </a:xfrm>
      </p:grpSpPr>
      <p:sp>
        <p:nvSpPr>
          <p:cNvPr id="10" name="Google Shape;10;p3"/>
          <p:cNvSpPr txBox="1"/>
          <p:nvPr>
            <p:ph type="title"/>
          </p:nvPr>
        </p:nvSpPr>
        <p:spPr>
          <a:xfrm>
            <a:off x="457200" y="1644225"/>
            <a:ext cx="3853500" cy="19764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9A2F3E"/>
              </a:buClr>
              <a:buSzPts val="2400"/>
              <a:buFont typeface="Cabin Condensed"/>
              <a:buChar char="●"/>
              <a:defRPr b="0" i="0" sz="2400" u="none" cap="none" strike="noStrike">
                <a:solidFill>
                  <a:srgbClr val="9A2F3E"/>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11" name="Google Shape;11;p3"/>
          <p:cNvSpPr txBox="1"/>
          <p:nvPr>
            <p:ph idx="1" type="subTitle"/>
          </p:nvPr>
        </p:nvSpPr>
        <p:spPr>
          <a:xfrm>
            <a:off x="457225" y="3737425"/>
            <a:ext cx="38535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 name="Google Shape;12;p3"/>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3" name="Google Shape;13;p3"/>
          <p:cNvSpPr txBox="1"/>
          <p:nvPr>
            <p:ph idx="3"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4" name="Google Shape;14;p3"/>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5" name="Google Shape;15;p3"/>
          <p:cNvSpPr txBox="1"/>
          <p:nvPr>
            <p:ph idx="5" type="body"/>
          </p:nvPr>
        </p:nvSpPr>
        <p:spPr>
          <a:xfrm>
            <a:off x="4568850" y="1676825"/>
            <a:ext cx="4117800" cy="4418100"/>
          </a:xfrm>
          <a:prstGeom prst="rect">
            <a:avLst/>
          </a:prstGeom>
          <a:solidFill>
            <a:srgbClr val="F5EDEF"/>
          </a:solidFill>
          <a:ln cap="flat" cmpd="sng" w="9525">
            <a:solidFill>
              <a:srgbClr val="9A2F3E"/>
            </a:solidFill>
            <a:prstDash val="solid"/>
            <a:round/>
            <a:headEnd len="sm" w="sm" type="none"/>
            <a:tailEnd len="sm" w="sm" type="none"/>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8" name="Google Shape;18;p4"/>
          <p:cNvSpPr txBox="1"/>
          <p:nvPr>
            <p:ph idx="2"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9" name="Google Shape;19;p4"/>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20" name="Google Shape;20;p4"/>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3F3F3"/>
        </a:solidFill>
      </p:bgPr>
    </p:bg>
    <p:spTree>
      <p:nvGrpSpPr>
        <p:cNvPr id="21" name="Shape 21"/>
        <p:cNvGrpSpPr/>
        <p:nvPr/>
      </p:nvGrpSpPr>
      <p:grpSpPr>
        <a:xfrm>
          <a:off x="0" y="0"/>
          <a:ext cx="0" cy="0"/>
          <a:chOff x="0" y="0"/>
          <a:chExt cx="0" cy="0"/>
        </a:xfrm>
      </p:grpSpPr>
      <p:sp>
        <p:nvSpPr>
          <p:cNvPr id="22" name="Google Shape;22;p5"/>
          <p:cNvSpPr txBox="1"/>
          <p:nvPr>
            <p:ph type="ctrTitle"/>
          </p:nvPr>
        </p:nvSpPr>
        <p:spPr>
          <a:xfrm>
            <a:off x="457200" y="992775"/>
            <a:ext cx="8229600" cy="27369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9A2F3E"/>
              </a:buClr>
              <a:buSzPts val="3600"/>
              <a:buFont typeface="Boogaloo"/>
              <a:buChar char="●"/>
              <a:defRPr b="0" i="0" sz="3600" u="none" cap="none" strike="noStrike">
                <a:solidFill>
                  <a:srgbClr val="9A2F3E"/>
                </a:solidFill>
                <a:latin typeface="Boogaloo"/>
                <a:ea typeface="Boogaloo"/>
                <a:cs typeface="Boogaloo"/>
                <a:sym typeface="Boogaloo"/>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23" name="Google Shape;23;p5"/>
          <p:cNvSpPr txBox="1"/>
          <p:nvPr>
            <p:ph idx="1" type="subTitle"/>
          </p:nvPr>
        </p:nvSpPr>
        <p:spPr>
          <a:xfrm>
            <a:off x="457200" y="3778825"/>
            <a:ext cx="8229600" cy="105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Cabin Condensed"/>
              <a:buNone/>
              <a:defRPr sz="2400">
                <a:solidFill>
                  <a:schemeClr val="dk1"/>
                </a:solidFill>
                <a:latin typeface="Cabin Condensed"/>
                <a:ea typeface="Cabin Condensed"/>
                <a:cs typeface="Cabin Condensed"/>
                <a:sym typeface="Cabin Condensed"/>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4" name="Google Shape;24;p5"/>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25" name="Google Shape;25;p5"/>
          <p:cNvSpPr txBox="1"/>
          <p:nvPr>
            <p:ph idx="3"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26" name="Google Shape;26;p5"/>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6"/>
          <p:cNvSpPr txBox="1"/>
          <p:nvPr>
            <p:ph type="title"/>
          </p:nvPr>
        </p:nvSpPr>
        <p:spPr>
          <a:xfrm>
            <a:off x="457200" y="2867800"/>
            <a:ext cx="8229600" cy="11223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9A2F3E"/>
              </a:buClr>
              <a:buSzPts val="3600"/>
              <a:buFont typeface="Boogaloo"/>
              <a:buChar char="●"/>
              <a:defRPr b="0" i="0" sz="3600" u="none" cap="none" strike="noStrike">
                <a:solidFill>
                  <a:srgbClr val="9A2F3E"/>
                </a:solidFill>
                <a:latin typeface="Boogaloo"/>
                <a:ea typeface="Boogaloo"/>
                <a:cs typeface="Boogaloo"/>
                <a:sym typeface="Boogaloo"/>
              </a:defRPr>
            </a:lvl1pPr>
            <a:lvl2pPr lvl="1"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9pPr>
          </a:lstStyle>
          <a:p/>
        </p:txBody>
      </p:sp>
      <p:sp>
        <p:nvSpPr>
          <p:cNvPr id="29" name="Google Shape;29;p6"/>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0" name="Google Shape;30;p6"/>
          <p:cNvSpPr txBox="1"/>
          <p:nvPr>
            <p:ph idx="2"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31" name="Google Shape;31;p6"/>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7"/>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Slide Title</a:t>
            </a:r>
            <a:endParaRPr b="0" i="0" sz="3200" u="none" cap="none" strike="noStrike">
              <a:solidFill>
                <a:srgbClr val="FFFFFF"/>
              </a:solidFill>
              <a:latin typeface="Boogaloo"/>
              <a:ea typeface="Boogaloo"/>
              <a:cs typeface="Boogaloo"/>
              <a:sym typeface="Boogaloo"/>
            </a:endParaRPr>
          </a:p>
        </p:txBody>
      </p:sp>
      <p:sp>
        <p:nvSpPr>
          <p:cNvPr id="34" name="Google Shape;34;p7"/>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1" i="0" lang="en" sz="1800" u="none" cap="none" strike="noStrike">
                <a:solidFill>
                  <a:srgbClr val="9A2F3E"/>
                </a:solidFill>
                <a:latin typeface="Boogaloo"/>
                <a:ea typeface="Boogaloo"/>
                <a:cs typeface="Boogaloo"/>
                <a:sym typeface="Boogaloo"/>
              </a:rPr>
              <a:t>Slide ID</a:t>
            </a:r>
            <a:endParaRPr b="0" i="0" sz="1800" u="none" cap="none" strike="noStrike">
              <a:solidFill>
                <a:srgbClr val="9A2F3E"/>
              </a:solidFill>
              <a:latin typeface="Boogaloo"/>
              <a:ea typeface="Boogaloo"/>
              <a:cs typeface="Boogaloo"/>
              <a:sym typeface="Boogaloo"/>
            </a:endParaRPr>
          </a:p>
        </p:txBody>
      </p:sp>
      <p:sp>
        <p:nvSpPr>
          <p:cNvPr id="35" name="Google Shape;35;p7"/>
          <p:cNvSpPr/>
          <p:nvPr/>
        </p:nvSpPr>
        <p:spPr>
          <a:xfrm>
            <a:off x="4967825"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EA7D73"/>
              </a:buClr>
              <a:buSzPts val="2000"/>
              <a:buFont typeface="Arial"/>
              <a:buNone/>
            </a:pPr>
            <a:r>
              <a:rPr b="1" i="0" lang="en" sz="1800" u="none" cap="none" strike="noStrike">
                <a:solidFill>
                  <a:srgbClr val="9A2F3E"/>
                </a:solidFill>
                <a:latin typeface="Boogaloo"/>
                <a:ea typeface="Boogaloo"/>
                <a:cs typeface="Boogaloo"/>
                <a:sym typeface="Boogaloo"/>
              </a:rPr>
              <a:t>Unit ID • Lesson ID</a:t>
            </a:r>
            <a:endParaRPr b="0" i="0" sz="1800" u="none" cap="none" strike="noStrike">
              <a:solidFill>
                <a:srgbClr val="9A2F3E"/>
              </a:solidFill>
              <a:latin typeface="Boogaloo"/>
              <a:ea typeface="Boogaloo"/>
              <a:cs typeface="Boogaloo"/>
              <a:sym typeface="Boogaloo"/>
            </a:endParaRPr>
          </a:p>
        </p:txBody>
      </p:sp>
      <p:sp>
        <p:nvSpPr>
          <p:cNvPr id="36" name="Google Shape;36;p7"/>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7" name="Google Shape;37;p7"/>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38" name="Google Shape;38;p7"/>
          <p:cNvSpPr txBox="1"/>
          <p:nvPr>
            <p:ph idx="2"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Content">
  <p:cSld name="SECTION_TITLE_AND_DESCRIPTION_1">
    <p:spTree>
      <p:nvGrpSpPr>
        <p:cNvPr id="39" name="Shape 39"/>
        <p:cNvGrpSpPr/>
        <p:nvPr/>
      </p:nvGrpSpPr>
      <p:grpSpPr>
        <a:xfrm>
          <a:off x="0" y="0"/>
          <a:ext cx="0" cy="0"/>
          <a:chOff x="0" y="0"/>
          <a:chExt cx="0" cy="0"/>
        </a:xfrm>
      </p:grpSpPr>
      <p:sp>
        <p:nvSpPr>
          <p:cNvPr id="40" name="Google Shape;40;p8"/>
          <p:cNvSpPr txBox="1"/>
          <p:nvPr>
            <p:ph type="title"/>
          </p:nvPr>
        </p:nvSpPr>
        <p:spPr>
          <a:xfrm>
            <a:off x="457200" y="1650950"/>
            <a:ext cx="8229600" cy="19728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9A2F3E"/>
              </a:buClr>
              <a:buSzPts val="2400"/>
              <a:buFont typeface="Cabin Condensed"/>
              <a:buChar char="●"/>
              <a:defRPr b="0" i="0" sz="2400" u="none" cap="none" strike="noStrike">
                <a:solidFill>
                  <a:srgbClr val="9A2F3E"/>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41" name="Google Shape;41;p8"/>
          <p:cNvSpPr txBox="1"/>
          <p:nvPr>
            <p:ph idx="1" type="subTitle"/>
          </p:nvPr>
        </p:nvSpPr>
        <p:spPr>
          <a:xfrm>
            <a:off x="457200" y="3740375"/>
            <a:ext cx="8229600" cy="1643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8"/>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3" name="Google Shape;43;p8"/>
          <p:cNvSpPr txBox="1"/>
          <p:nvPr>
            <p:ph idx="3"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44" name="Google Shape;44;p8"/>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9"/>
          <p:cNvSpPr txBox="1"/>
          <p:nvPr>
            <p:ph idx="1" type="body"/>
          </p:nvPr>
        </p:nvSpPr>
        <p:spPr>
          <a:xfrm>
            <a:off x="457200" y="5640775"/>
            <a:ext cx="5853300" cy="80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stStyle>
          <a:p/>
        </p:txBody>
      </p:sp>
      <p:sp>
        <p:nvSpPr>
          <p:cNvPr id="47" name="Google Shape;47;p9"/>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8" name="Google Shape;48;p9"/>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49" name="Google Shape;49;p9"/>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rgbClr val="FFFFFF"/>
        </a:solidFill>
      </p:bgPr>
    </p:bg>
    <p:spTree>
      <p:nvGrpSpPr>
        <p:cNvPr id="51" name="Shape 51"/>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13"/>
          <p:cNvSpPr txBox="1"/>
          <p:nvPr>
            <p:ph idx="1" type="subTitle"/>
          </p:nvPr>
        </p:nvSpPr>
        <p:spPr>
          <a:xfrm>
            <a:off x="457200" y="75200"/>
            <a:ext cx="3520200" cy="465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56" name="Google Shape;56;p13"/>
          <p:cNvSpPr txBox="1"/>
          <p:nvPr>
            <p:ph type="title"/>
          </p:nvPr>
        </p:nvSpPr>
        <p:spPr>
          <a:xfrm>
            <a:off x="457200" y="548650"/>
            <a:ext cx="8229600" cy="685800"/>
          </a:xfrm>
          <a:prstGeom prst="rect">
            <a:avLst/>
          </a:prstGeom>
          <a:solidFill>
            <a:srgbClr val="87A96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57" name="Google Shape;57;p13"/>
          <p:cNvSpPr txBox="1"/>
          <p:nvPr>
            <p:ph idx="2" type="subTitle"/>
          </p:nvPr>
        </p:nvSpPr>
        <p:spPr>
          <a:xfrm>
            <a:off x="5166600" y="75200"/>
            <a:ext cx="3520200" cy="4659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3F3F3"/>
        </a:solidFill>
      </p:bgPr>
    </p:bg>
    <p:spTree>
      <p:nvGrpSpPr>
        <p:cNvPr id="58" name="Shape 58"/>
        <p:cNvGrpSpPr/>
        <p:nvPr/>
      </p:nvGrpSpPr>
      <p:grpSpPr>
        <a:xfrm>
          <a:off x="0" y="0"/>
          <a:ext cx="0" cy="0"/>
          <a:chOff x="0" y="0"/>
          <a:chExt cx="0" cy="0"/>
        </a:xfrm>
      </p:grpSpPr>
      <p:sp>
        <p:nvSpPr>
          <p:cNvPr id="59" name="Google Shape;59;p14"/>
          <p:cNvSpPr txBox="1"/>
          <p:nvPr>
            <p:ph idx="1" type="subTitle"/>
          </p:nvPr>
        </p:nvSpPr>
        <p:spPr>
          <a:xfrm>
            <a:off x="457200" y="75200"/>
            <a:ext cx="3520200" cy="465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60" name="Google Shape;60;p14"/>
          <p:cNvSpPr txBox="1"/>
          <p:nvPr>
            <p:ph type="title"/>
          </p:nvPr>
        </p:nvSpPr>
        <p:spPr>
          <a:xfrm>
            <a:off x="457200" y="548650"/>
            <a:ext cx="8229600" cy="685800"/>
          </a:xfrm>
          <a:prstGeom prst="rect">
            <a:avLst/>
          </a:prstGeom>
          <a:solidFill>
            <a:srgbClr val="87A96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61" name="Google Shape;61;p14"/>
          <p:cNvSpPr txBox="1"/>
          <p:nvPr>
            <p:ph idx="2" type="ctrTitle"/>
          </p:nvPr>
        </p:nvSpPr>
        <p:spPr>
          <a:xfrm>
            <a:off x="457200" y="1446750"/>
            <a:ext cx="8229600" cy="22830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87A96B"/>
              </a:buClr>
              <a:buSzPts val="3600"/>
              <a:buFont typeface="Boogaloo"/>
              <a:buChar char="●"/>
              <a:defRPr b="0" i="0" sz="3600" u="none" cap="none" strike="noStrike">
                <a:solidFill>
                  <a:srgbClr val="87A96B"/>
                </a:solidFill>
                <a:latin typeface="Boogaloo"/>
                <a:ea typeface="Boogaloo"/>
                <a:cs typeface="Boogaloo"/>
                <a:sym typeface="Boogaloo"/>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62" name="Google Shape;62;p14"/>
          <p:cNvSpPr txBox="1"/>
          <p:nvPr>
            <p:ph idx="3" type="subTitle"/>
          </p:nvPr>
        </p:nvSpPr>
        <p:spPr>
          <a:xfrm>
            <a:off x="457200" y="3778825"/>
            <a:ext cx="8229600" cy="105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Cabin Condensed"/>
              <a:buNone/>
              <a:defRPr sz="2400">
                <a:solidFill>
                  <a:schemeClr val="dk1"/>
                </a:solidFill>
                <a:latin typeface="Cabin Condensed"/>
                <a:ea typeface="Cabin Condensed"/>
                <a:cs typeface="Cabin Condensed"/>
                <a:sym typeface="Cabin Condensed"/>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3" name="Google Shape;63;p14"/>
          <p:cNvSpPr txBox="1"/>
          <p:nvPr>
            <p:ph idx="4" type="subTitle"/>
          </p:nvPr>
        </p:nvSpPr>
        <p:spPr>
          <a:xfrm>
            <a:off x="5166600" y="75200"/>
            <a:ext cx="3520200" cy="4659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4" name="Shape 64"/>
        <p:cNvGrpSpPr/>
        <p:nvPr/>
      </p:nvGrpSpPr>
      <p:grpSpPr>
        <a:xfrm>
          <a:off x="0" y="0"/>
          <a:ext cx="0" cy="0"/>
          <a:chOff x="0" y="0"/>
          <a:chExt cx="0" cy="0"/>
        </a:xfrm>
      </p:grpSpPr>
      <p:sp>
        <p:nvSpPr>
          <p:cNvPr id="65" name="Google Shape;65;p15"/>
          <p:cNvSpPr txBox="1"/>
          <p:nvPr>
            <p:ph type="title"/>
          </p:nvPr>
        </p:nvSpPr>
        <p:spPr>
          <a:xfrm>
            <a:off x="457200" y="2867800"/>
            <a:ext cx="8229600" cy="11223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87A96B"/>
              </a:buClr>
              <a:buSzPts val="3600"/>
              <a:buFont typeface="Boogaloo"/>
              <a:buChar char="●"/>
              <a:defRPr b="0" i="0" sz="3600" u="none" cap="none" strike="noStrike">
                <a:solidFill>
                  <a:srgbClr val="87A96B"/>
                </a:solidFill>
                <a:latin typeface="Boogaloo"/>
                <a:ea typeface="Boogaloo"/>
                <a:cs typeface="Boogaloo"/>
                <a:sym typeface="Boogaloo"/>
              </a:defRPr>
            </a:lvl1pPr>
            <a:lvl2pPr lvl="1"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9pPr>
          </a:lstStyle>
          <a:p/>
        </p:txBody>
      </p:sp>
      <p:sp>
        <p:nvSpPr>
          <p:cNvPr id="66" name="Google Shape;66;p15"/>
          <p:cNvSpPr txBox="1"/>
          <p:nvPr>
            <p:ph idx="1" type="subTitle"/>
          </p:nvPr>
        </p:nvSpPr>
        <p:spPr>
          <a:xfrm>
            <a:off x="457200" y="75200"/>
            <a:ext cx="3520200" cy="465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67" name="Google Shape;67;p15"/>
          <p:cNvSpPr txBox="1"/>
          <p:nvPr>
            <p:ph idx="2" type="title"/>
          </p:nvPr>
        </p:nvSpPr>
        <p:spPr>
          <a:xfrm>
            <a:off x="457200" y="548650"/>
            <a:ext cx="8229600" cy="685800"/>
          </a:xfrm>
          <a:prstGeom prst="rect">
            <a:avLst/>
          </a:prstGeom>
          <a:solidFill>
            <a:srgbClr val="87A96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68" name="Google Shape;68;p15"/>
          <p:cNvSpPr txBox="1"/>
          <p:nvPr>
            <p:ph idx="3" type="subTitle"/>
          </p:nvPr>
        </p:nvSpPr>
        <p:spPr>
          <a:xfrm>
            <a:off x="5166600" y="75200"/>
            <a:ext cx="3520200" cy="4659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9" name="Shape 69"/>
        <p:cNvGrpSpPr/>
        <p:nvPr/>
      </p:nvGrpSpPr>
      <p:grpSpPr>
        <a:xfrm>
          <a:off x="0" y="0"/>
          <a:ext cx="0" cy="0"/>
          <a:chOff x="0" y="0"/>
          <a:chExt cx="0" cy="0"/>
        </a:xfrm>
      </p:grpSpPr>
      <p:sp>
        <p:nvSpPr>
          <p:cNvPr id="70" name="Google Shape;70;p16"/>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71" name="Google Shape;71;p16"/>
          <p:cNvSpPr txBox="1"/>
          <p:nvPr>
            <p:ph idx="2" type="subTitle"/>
          </p:nvPr>
        </p:nvSpPr>
        <p:spPr>
          <a:xfrm>
            <a:off x="457200" y="75200"/>
            <a:ext cx="3520200" cy="465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72" name="Google Shape;72;p16"/>
          <p:cNvSpPr txBox="1"/>
          <p:nvPr>
            <p:ph type="title"/>
          </p:nvPr>
        </p:nvSpPr>
        <p:spPr>
          <a:xfrm>
            <a:off x="457200" y="548650"/>
            <a:ext cx="8229600" cy="685800"/>
          </a:xfrm>
          <a:prstGeom prst="rect">
            <a:avLst/>
          </a:prstGeom>
          <a:solidFill>
            <a:srgbClr val="87A96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73" name="Google Shape;73;p16"/>
          <p:cNvSpPr txBox="1"/>
          <p:nvPr>
            <p:ph idx="3" type="subTitle"/>
          </p:nvPr>
        </p:nvSpPr>
        <p:spPr>
          <a:xfrm>
            <a:off x="5166600" y="75200"/>
            <a:ext cx="3520200" cy="4659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4" name="Shape 74"/>
        <p:cNvGrpSpPr/>
        <p:nvPr/>
      </p:nvGrpSpPr>
      <p:grpSpPr>
        <a:xfrm>
          <a:off x="0" y="0"/>
          <a:ext cx="0" cy="0"/>
          <a:chOff x="0" y="0"/>
          <a:chExt cx="0" cy="0"/>
        </a:xfrm>
      </p:grpSpPr>
      <p:sp>
        <p:nvSpPr>
          <p:cNvPr id="75" name="Google Shape;75;p17"/>
          <p:cNvSpPr txBox="1"/>
          <p:nvPr>
            <p:ph idx="1" type="body"/>
          </p:nvPr>
        </p:nvSpPr>
        <p:spPr>
          <a:xfrm>
            <a:off x="4572000" y="1574425"/>
            <a:ext cx="4114800" cy="4713300"/>
          </a:xfrm>
          <a:prstGeom prst="rect">
            <a:avLst/>
          </a:prstGeom>
          <a:solidFill>
            <a:srgbClr val="E8EBE0"/>
          </a:solidFill>
          <a:ln cap="flat" cmpd="sng" w="9525">
            <a:solidFill>
              <a:srgbClr val="87A96B"/>
            </a:solidFill>
            <a:prstDash val="solid"/>
            <a:round/>
            <a:headEnd len="sm" w="sm" type="none"/>
            <a:tailEnd len="sm" w="sm" type="none"/>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76" name="Google Shape;76;p17"/>
          <p:cNvSpPr txBox="1"/>
          <p:nvPr>
            <p:ph type="title"/>
          </p:nvPr>
        </p:nvSpPr>
        <p:spPr>
          <a:xfrm>
            <a:off x="457200" y="1644225"/>
            <a:ext cx="3853500" cy="19764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87A96B"/>
              </a:buClr>
              <a:buSzPts val="2400"/>
              <a:buFont typeface="Cabin Condensed"/>
              <a:buChar char="●"/>
              <a:defRPr b="0" i="0" sz="2400" u="none" cap="none" strike="noStrike">
                <a:solidFill>
                  <a:srgbClr val="87A96B"/>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77" name="Google Shape;77;p17"/>
          <p:cNvSpPr txBox="1"/>
          <p:nvPr>
            <p:ph idx="2" type="subTitle"/>
          </p:nvPr>
        </p:nvSpPr>
        <p:spPr>
          <a:xfrm>
            <a:off x="457200" y="3737425"/>
            <a:ext cx="38535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8" name="Google Shape;78;p17"/>
          <p:cNvSpPr txBox="1"/>
          <p:nvPr>
            <p:ph idx="3" type="subTitle"/>
          </p:nvPr>
        </p:nvSpPr>
        <p:spPr>
          <a:xfrm>
            <a:off x="457200" y="75200"/>
            <a:ext cx="3520200" cy="465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79" name="Google Shape;79;p17"/>
          <p:cNvSpPr txBox="1"/>
          <p:nvPr>
            <p:ph idx="4" type="title"/>
          </p:nvPr>
        </p:nvSpPr>
        <p:spPr>
          <a:xfrm>
            <a:off x="457200" y="548650"/>
            <a:ext cx="8229600" cy="685800"/>
          </a:xfrm>
          <a:prstGeom prst="rect">
            <a:avLst/>
          </a:prstGeom>
          <a:solidFill>
            <a:srgbClr val="87A96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80" name="Google Shape;80;p17"/>
          <p:cNvSpPr txBox="1"/>
          <p:nvPr>
            <p:ph idx="5" type="subTitle"/>
          </p:nvPr>
        </p:nvSpPr>
        <p:spPr>
          <a:xfrm>
            <a:off x="5166600" y="75200"/>
            <a:ext cx="3520200" cy="4659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Content">
  <p:cSld name="SECTION_TITLE_AND_DESCRIPTION_1">
    <p:spTree>
      <p:nvGrpSpPr>
        <p:cNvPr id="81" name="Shape 81"/>
        <p:cNvGrpSpPr/>
        <p:nvPr/>
      </p:nvGrpSpPr>
      <p:grpSpPr>
        <a:xfrm>
          <a:off x="0" y="0"/>
          <a:ext cx="0" cy="0"/>
          <a:chOff x="0" y="0"/>
          <a:chExt cx="0" cy="0"/>
        </a:xfrm>
      </p:grpSpPr>
      <p:sp>
        <p:nvSpPr>
          <p:cNvPr id="82" name="Google Shape;82;p18"/>
          <p:cNvSpPr txBox="1"/>
          <p:nvPr>
            <p:ph type="title"/>
          </p:nvPr>
        </p:nvSpPr>
        <p:spPr>
          <a:xfrm>
            <a:off x="457200" y="1650950"/>
            <a:ext cx="8229600" cy="19728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87A96B"/>
              </a:buClr>
              <a:buSzPts val="2400"/>
              <a:buFont typeface="Cabin Condensed"/>
              <a:buChar char="●"/>
              <a:defRPr b="0" i="0" sz="2400" u="none" cap="none" strike="noStrike">
                <a:solidFill>
                  <a:srgbClr val="87A96B"/>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83" name="Google Shape;83;p18"/>
          <p:cNvSpPr txBox="1"/>
          <p:nvPr>
            <p:ph idx="1" type="subTitle"/>
          </p:nvPr>
        </p:nvSpPr>
        <p:spPr>
          <a:xfrm>
            <a:off x="457200" y="3740375"/>
            <a:ext cx="8229600" cy="1643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18"/>
          <p:cNvSpPr txBox="1"/>
          <p:nvPr>
            <p:ph idx="2" type="subTitle"/>
          </p:nvPr>
        </p:nvSpPr>
        <p:spPr>
          <a:xfrm>
            <a:off x="457200" y="75200"/>
            <a:ext cx="3520200" cy="465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85" name="Google Shape;85;p18"/>
          <p:cNvSpPr txBox="1"/>
          <p:nvPr>
            <p:ph idx="3" type="title"/>
          </p:nvPr>
        </p:nvSpPr>
        <p:spPr>
          <a:xfrm>
            <a:off x="457200" y="548650"/>
            <a:ext cx="8229600" cy="685800"/>
          </a:xfrm>
          <a:prstGeom prst="rect">
            <a:avLst/>
          </a:prstGeom>
          <a:solidFill>
            <a:srgbClr val="87A96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86" name="Google Shape;86;p18"/>
          <p:cNvSpPr txBox="1"/>
          <p:nvPr>
            <p:ph idx="4" type="subTitle"/>
          </p:nvPr>
        </p:nvSpPr>
        <p:spPr>
          <a:xfrm>
            <a:off x="5166600" y="75200"/>
            <a:ext cx="3520200" cy="4659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7" name="Shape 87"/>
        <p:cNvGrpSpPr/>
        <p:nvPr/>
      </p:nvGrpSpPr>
      <p:grpSpPr>
        <a:xfrm>
          <a:off x="0" y="0"/>
          <a:ext cx="0" cy="0"/>
          <a:chOff x="0" y="0"/>
          <a:chExt cx="0" cy="0"/>
        </a:xfrm>
      </p:grpSpPr>
      <p:sp>
        <p:nvSpPr>
          <p:cNvPr id="88" name="Google Shape;88;p19"/>
          <p:cNvSpPr txBox="1"/>
          <p:nvPr>
            <p:ph idx="1" type="body"/>
          </p:nvPr>
        </p:nvSpPr>
        <p:spPr>
          <a:xfrm>
            <a:off x="457200" y="5640775"/>
            <a:ext cx="5853300" cy="80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stStyle>
          <a:p/>
        </p:txBody>
      </p:sp>
      <p:sp>
        <p:nvSpPr>
          <p:cNvPr id="89" name="Google Shape;89;p19"/>
          <p:cNvSpPr txBox="1"/>
          <p:nvPr>
            <p:ph idx="2" type="subTitle"/>
          </p:nvPr>
        </p:nvSpPr>
        <p:spPr>
          <a:xfrm>
            <a:off x="457200" y="75200"/>
            <a:ext cx="3520200" cy="465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90" name="Google Shape;90;p19"/>
          <p:cNvSpPr txBox="1"/>
          <p:nvPr>
            <p:ph type="title"/>
          </p:nvPr>
        </p:nvSpPr>
        <p:spPr>
          <a:xfrm>
            <a:off x="457200" y="548650"/>
            <a:ext cx="8229600" cy="685800"/>
          </a:xfrm>
          <a:prstGeom prst="rect">
            <a:avLst/>
          </a:prstGeom>
          <a:solidFill>
            <a:srgbClr val="87A96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91" name="Google Shape;91;p19"/>
          <p:cNvSpPr txBox="1"/>
          <p:nvPr>
            <p:ph idx="3" type="subTitle"/>
          </p:nvPr>
        </p:nvSpPr>
        <p:spPr>
          <a:xfrm>
            <a:off x="5166600" y="75200"/>
            <a:ext cx="3520200" cy="4659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2" name="Shape 92"/>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rgbClr val="FFFFFF"/>
        </a:solidFill>
      </p:bgPr>
    </p:bg>
    <p:spTree>
      <p:nvGrpSpPr>
        <p:cNvPr id="93" name="Shape 93"/>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showMasterSp="0">
  <p:cSld name="TITLE_AND_BODY_1">
    <p:bg>
      <p:bgPr>
        <a:solidFill>
          <a:srgbClr val="F3F3F3"/>
        </a:solidFill>
      </p:bgPr>
    </p:bg>
    <p:spTree>
      <p:nvGrpSpPr>
        <p:cNvPr id="94" name="Shape 94"/>
        <p:cNvGrpSpPr/>
        <p:nvPr/>
      </p:nvGrpSpPr>
      <p:grpSpPr>
        <a:xfrm>
          <a:off x="0" y="0"/>
          <a:ext cx="0" cy="0"/>
          <a:chOff x="0" y="0"/>
          <a:chExt cx="0" cy="0"/>
        </a:xfrm>
      </p:grpSpPr>
      <p:sp>
        <p:nvSpPr>
          <p:cNvPr id="95" name="Google Shape;95;p22"/>
          <p:cNvSpPr txBox="1"/>
          <p:nvPr>
            <p:ph idx="12" type="sldNum"/>
          </p:nvPr>
        </p:nvSpPr>
        <p:spPr>
          <a:xfrm>
            <a:off x="4475913" y="6500813"/>
            <a:ext cx="185400" cy="255600"/>
          </a:xfrm>
          <a:prstGeom prst="rect">
            <a:avLst/>
          </a:prstGeom>
          <a:noFill/>
          <a:ln>
            <a:noFill/>
          </a:ln>
        </p:spPr>
        <p:txBody>
          <a:bodyPr anchorCtr="0" anchor="t" bIns="29750" lIns="29750" spcFirstLastPara="1" rIns="29750" wrap="square" tIns="29750">
            <a:noAutofit/>
          </a:bodyPr>
          <a:lstStyle>
            <a:lvl1pPr indent="0" lvl="0"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400">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11" Type="http://schemas.openxmlformats.org/officeDocument/2006/relationships/theme" Target="../theme/theme1.xml"/><Relationship Id="rId10" Type="http://schemas.openxmlformats.org/officeDocument/2006/relationships/slideLayout" Target="../slideLayouts/slideLayout20.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3F3F3"/>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489850" y="1536625"/>
            <a:ext cx="8342400" cy="4555200"/>
          </a:xfrm>
          <a:prstGeom prst="rect">
            <a:avLst/>
          </a:prstGeom>
          <a:noFill/>
          <a:ln>
            <a:noFill/>
          </a:ln>
        </p:spPr>
        <p:txBody>
          <a:bodyPr anchorCtr="0" anchor="t" bIns="91425" lIns="91425" spcFirstLastPara="1" rIns="91425" wrap="square" tIns="91425">
            <a:noAutofit/>
          </a:bodyPr>
          <a:lstStyle>
            <a:lvl1pPr indent="-457200" lvl="0" marL="457200" marR="0" rtl="0" algn="l">
              <a:lnSpc>
                <a:spcPct val="115000"/>
              </a:lnSpc>
              <a:spcBef>
                <a:spcPts val="0"/>
              </a:spcBef>
              <a:spcAft>
                <a:spcPts val="0"/>
              </a:spcAft>
              <a:buClr>
                <a:srgbClr val="9A2F3E"/>
              </a:buClr>
              <a:buSzPts val="3600"/>
              <a:buFont typeface="Boogaloo"/>
              <a:buChar char="●"/>
              <a:defRPr b="0" i="0" sz="3600" u="none" cap="none" strike="noStrike">
                <a:solidFill>
                  <a:srgbClr val="9A2F3E"/>
                </a:solidFill>
                <a:latin typeface="Boogaloo"/>
                <a:ea typeface="Boogaloo"/>
                <a:cs typeface="Boogaloo"/>
                <a:sym typeface="Boogaloo"/>
              </a:defRPr>
            </a:lvl1pPr>
            <a:lvl2pPr indent="-431800" lvl="1" marL="914400" marR="0" rtl="0" algn="l">
              <a:lnSpc>
                <a:spcPct val="115000"/>
              </a:lnSpc>
              <a:spcBef>
                <a:spcPts val="1600"/>
              </a:spcBef>
              <a:spcAft>
                <a:spcPts val="0"/>
              </a:spcAft>
              <a:buClr>
                <a:srgbClr val="9A2F3E"/>
              </a:buClr>
              <a:buSzPts val="3200"/>
              <a:buFont typeface="Boogaloo"/>
              <a:buChar char="○"/>
              <a:defRPr b="0" i="0" sz="3200" u="none" cap="none" strike="noStrike">
                <a:solidFill>
                  <a:srgbClr val="9A2F3E"/>
                </a:solidFill>
                <a:latin typeface="Boogaloo"/>
                <a:ea typeface="Boogaloo"/>
                <a:cs typeface="Boogaloo"/>
                <a:sym typeface="Boogaloo"/>
              </a:defRPr>
            </a:lvl2pPr>
            <a:lvl3pPr indent="-381000" lvl="2" marL="1371600" marR="0" rtl="0" algn="l">
              <a:lnSpc>
                <a:spcPct val="115000"/>
              </a:lnSpc>
              <a:spcBef>
                <a:spcPts val="1600"/>
              </a:spcBef>
              <a:spcAft>
                <a:spcPts val="0"/>
              </a:spcAft>
              <a:buClr>
                <a:srgbClr val="9A2F3E"/>
              </a:buClr>
              <a:buSzPts val="2400"/>
              <a:buFont typeface="Boogaloo"/>
              <a:buChar char="■"/>
              <a:defRPr b="0" i="0" sz="2400" u="none" cap="none" strike="noStrike">
                <a:solidFill>
                  <a:srgbClr val="9A2F3E"/>
                </a:solidFill>
                <a:latin typeface="Boogaloo"/>
                <a:ea typeface="Boogaloo"/>
                <a:cs typeface="Boogaloo"/>
                <a:sym typeface="Boogaloo"/>
              </a:defRPr>
            </a:lvl3pPr>
            <a:lvl4pPr indent="-381000" lvl="3" marL="1828800" marR="0" rtl="0" algn="l">
              <a:lnSpc>
                <a:spcPct val="115000"/>
              </a:lnSpc>
              <a:spcBef>
                <a:spcPts val="1600"/>
              </a:spcBef>
              <a:spcAft>
                <a:spcPts val="0"/>
              </a:spcAft>
              <a:buClr>
                <a:srgbClr val="9A2F3E"/>
              </a:buClr>
              <a:buSzPts val="2400"/>
              <a:buFont typeface="Cabin Condensed"/>
              <a:buChar char="●"/>
              <a:defRPr b="0" i="0" sz="2400" u="none" cap="none" strike="noStrike">
                <a:solidFill>
                  <a:srgbClr val="9A2F3E"/>
                </a:solidFill>
                <a:latin typeface="Cabin Condensed"/>
                <a:ea typeface="Cabin Condensed"/>
                <a:cs typeface="Cabin Condensed"/>
                <a:sym typeface="Cabin Condensed"/>
              </a:defRPr>
            </a:lvl4pPr>
            <a:lvl5pPr indent="-342900" lvl="4" marL="2286000" marR="0" rtl="0" algn="l">
              <a:lnSpc>
                <a:spcPct val="115000"/>
              </a:lnSpc>
              <a:spcBef>
                <a:spcPts val="1600"/>
              </a:spcBef>
              <a:spcAft>
                <a:spcPts val="0"/>
              </a:spcAft>
              <a:buClr>
                <a:srgbClr val="9A2F3E"/>
              </a:buClr>
              <a:buSzPts val="1800"/>
              <a:buFont typeface="Cabin Condensed"/>
              <a:buChar char="○"/>
              <a:defRPr b="0" i="0" sz="1800" u="none" cap="none" strike="noStrike">
                <a:solidFill>
                  <a:srgbClr val="9A2F3E"/>
                </a:solidFill>
                <a:latin typeface="Cabin Condensed"/>
                <a:ea typeface="Cabin Condensed"/>
                <a:cs typeface="Cabin Condensed"/>
                <a:sym typeface="Cabin Condensed"/>
              </a:defRPr>
            </a:lvl5pPr>
            <a:lvl6pPr indent="-317500" lvl="5" marL="2743200" marR="0" rtl="0" algn="l">
              <a:lnSpc>
                <a:spcPct val="115000"/>
              </a:lnSpc>
              <a:spcBef>
                <a:spcPts val="1600"/>
              </a:spcBef>
              <a:spcAft>
                <a:spcPts val="0"/>
              </a:spcAft>
              <a:buClr>
                <a:srgbClr val="0B0B0B"/>
              </a:buClr>
              <a:buSzPts val="1400"/>
              <a:buFont typeface="Cabin"/>
              <a:buChar char="■"/>
              <a:defRPr b="0" i="0" sz="1400" u="none" cap="none" strike="noStrike">
                <a:solidFill>
                  <a:srgbClr val="0B0B0B"/>
                </a:solidFill>
                <a:latin typeface="Cabin"/>
                <a:ea typeface="Cabin"/>
                <a:cs typeface="Cabin"/>
                <a:sym typeface="Cabin"/>
              </a:defRPr>
            </a:lvl6pPr>
            <a:lvl7pPr indent="-317500" lvl="6" marL="3200400" marR="0" rtl="0" algn="l">
              <a:lnSpc>
                <a:spcPct val="115000"/>
              </a:lnSpc>
              <a:spcBef>
                <a:spcPts val="1600"/>
              </a:spcBef>
              <a:spcAft>
                <a:spcPts val="0"/>
              </a:spcAft>
              <a:buClr>
                <a:srgbClr val="0B0B0B"/>
              </a:buClr>
              <a:buSzPts val="1400"/>
              <a:buFont typeface="Cabin Condensed"/>
              <a:buChar char="●"/>
              <a:defRPr b="0" i="0" sz="1400" u="none" cap="none" strike="noStrike">
                <a:solidFill>
                  <a:srgbClr val="0B0B0B"/>
                </a:solidFill>
                <a:latin typeface="Cabin Condensed"/>
                <a:ea typeface="Cabin Condensed"/>
                <a:cs typeface="Cabin Condensed"/>
                <a:sym typeface="Cabin Condensed"/>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3F3F3"/>
        </a:solidFill>
      </p:bgPr>
    </p:bg>
    <p:spTree>
      <p:nvGrpSpPr>
        <p:cNvPr id="52" name="Shape 52"/>
        <p:cNvGrpSpPr/>
        <p:nvPr/>
      </p:nvGrpSpPr>
      <p:grpSpPr>
        <a:xfrm>
          <a:off x="0" y="0"/>
          <a:ext cx="0" cy="0"/>
          <a:chOff x="0" y="0"/>
          <a:chExt cx="0" cy="0"/>
        </a:xfrm>
      </p:grpSpPr>
      <p:sp>
        <p:nvSpPr>
          <p:cNvPr id="53" name="Google Shape;53;p12"/>
          <p:cNvSpPr txBox="1"/>
          <p:nvPr>
            <p:ph idx="1" type="body"/>
          </p:nvPr>
        </p:nvSpPr>
        <p:spPr>
          <a:xfrm>
            <a:off x="555100" y="1536625"/>
            <a:ext cx="8277300" cy="4555200"/>
          </a:xfrm>
          <a:prstGeom prst="rect">
            <a:avLst/>
          </a:prstGeom>
          <a:noFill/>
          <a:ln>
            <a:noFill/>
          </a:ln>
        </p:spPr>
        <p:txBody>
          <a:bodyPr anchorCtr="0" anchor="t" bIns="91425" lIns="91425" spcFirstLastPara="1" rIns="91425" wrap="square" tIns="91425">
            <a:noAutofit/>
          </a:bodyPr>
          <a:lstStyle>
            <a:lvl1pPr indent="-457200" lvl="0" marL="457200" marR="0" rtl="0" algn="l">
              <a:lnSpc>
                <a:spcPct val="115000"/>
              </a:lnSpc>
              <a:spcBef>
                <a:spcPts val="0"/>
              </a:spcBef>
              <a:spcAft>
                <a:spcPts val="0"/>
              </a:spcAft>
              <a:buClr>
                <a:srgbClr val="87A96B"/>
              </a:buClr>
              <a:buSzPts val="3600"/>
              <a:buFont typeface="Boogaloo"/>
              <a:buChar char="●"/>
              <a:defRPr b="0" i="0" sz="3600" u="none" cap="none" strike="noStrike">
                <a:solidFill>
                  <a:srgbClr val="87A96B"/>
                </a:solidFill>
                <a:latin typeface="Boogaloo"/>
                <a:ea typeface="Boogaloo"/>
                <a:cs typeface="Boogaloo"/>
                <a:sym typeface="Boogaloo"/>
              </a:defRPr>
            </a:lvl1pPr>
            <a:lvl2pPr indent="-431800" lvl="1" marL="914400" marR="0" rtl="0" algn="l">
              <a:lnSpc>
                <a:spcPct val="115000"/>
              </a:lnSpc>
              <a:spcBef>
                <a:spcPts val="1600"/>
              </a:spcBef>
              <a:spcAft>
                <a:spcPts val="0"/>
              </a:spcAft>
              <a:buClr>
                <a:srgbClr val="87A96B"/>
              </a:buClr>
              <a:buSzPts val="3200"/>
              <a:buFont typeface="Boogaloo"/>
              <a:buChar char="○"/>
              <a:defRPr b="0" i="0" sz="3200" u="none" cap="none" strike="noStrike">
                <a:solidFill>
                  <a:srgbClr val="87A96B"/>
                </a:solidFill>
                <a:latin typeface="Boogaloo"/>
                <a:ea typeface="Boogaloo"/>
                <a:cs typeface="Boogaloo"/>
                <a:sym typeface="Boogaloo"/>
              </a:defRPr>
            </a:lvl2pPr>
            <a:lvl3pPr indent="-381000" lvl="2" marL="1371600" marR="0" rtl="0" algn="l">
              <a:lnSpc>
                <a:spcPct val="115000"/>
              </a:lnSpc>
              <a:spcBef>
                <a:spcPts val="1600"/>
              </a:spcBef>
              <a:spcAft>
                <a:spcPts val="0"/>
              </a:spcAft>
              <a:buClr>
                <a:srgbClr val="87A96B"/>
              </a:buClr>
              <a:buSzPts val="2400"/>
              <a:buFont typeface="Boogaloo"/>
              <a:buChar char="■"/>
              <a:defRPr b="0" i="0" sz="2400" u="none" cap="none" strike="noStrike">
                <a:solidFill>
                  <a:srgbClr val="87A96B"/>
                </a:solidFill>
                <a:latin typeface="Boogaloo"/>
                <a:ea typeface="Boogaloo"/>
                <a:cs typeface="Boogaloo"/>
                <a:sym typeface="Boogaloo"/>
              </a:defRPr>
            </a:lvl3pPr>
            <a:lvl4pPr indent="-381000" lvl="3" marL="1828800" marR="0" rtl="0" algn="l">
              <a:lnSpc>
                <a:spcPct val="115000"/>
              </a:lnSpc>
              <a:spcBef>
                <a:spcPts val="1600"/>
              </a:spcBef>
              <a:spcAft>
                <a:spcPts val="0"/>
              </a:spcAft>
              <a:buClr>
                <a:srgbClr val="87A96B"/>
              </a:buClr>
              <a:buSzPts val="2400"/>
              <a:buFont typeface="Cabin Condensed"/>
              <a:buChar char="●"/>
              <a:defRPr b="0" i="0" sz="2400" u="none" cap="none" strike="noStrike">
                <a:solidFill>
                  <a:srgbClr val="87A96B"/>
                </a:solidFill>
                <a:latin typeface="Cabin Condensed"/>
                <a:ea typeface="Cabin Condensed"/>
                <a:cs typeface="Cabin Condensed"/>
                <a:sym typeface="Cabin Condensed"/>
              </a:defRPr>
            </a:lvl4pPr>
            <a:lvl5pPr indent="-342900" lvl="4" marL="2286000" marR="0" rtl="0" algn="l">
              <a:lnSpc>
                <a:spcPct val="115000"/>
              </a:lnSpc>
              <a:spcBef>
                <a:spcPts val="1600"/>
              </a:spcBef>
              <a:spcAft>
                <a:spcPts val="0"/>
              </a:spcAft>
              <a:buClr>
                <a:srgbClr val="87A96B"/>
              </a:buClr>
              <a:buSzPts val="1800"/>
              <a:buFont typeface="Cabin Condensed"/>
              <a:buChar char="○"/>
              <a:defRPr b="0" i="0" sz="1800" u="none" cap="none" strike="noStrike">
                <a:solidFill>
                  <a:srgbClr val="87A96B"/>
                </a:solidFill>
                <a:latin typeface="Cabin Condensed"/>
                <a:ea typeface="Cabin Condensed"/>
                <a:cs typeface="Cabin Condensed"/>
                <a:sym typeface="Cabin Condensed"/>
              </a:defRPr>
            </a:lvl5pPr>
            <a:lvl6pPr indent="-317500" lvl="5" marL="2743200" marR="0" rtl="0" algn="l">
              <a:lnSpc>
                <a:spcPct val="115000"/>
              </a:lnSpc>
              <a:spcBef>
                <a:spcPts val="1600"/>
              </a:spcBef>
              <a:spcAft>
                <a:spcPts val="0"/>
              </a:spcAft>
              <a:buClr>
                <a:srgbClr val="0B0B0B"/>
              </a:buClr>
              <a:buSzPts val="1400"/>
              <a:buFont typeface="Cabin"/>
              <a:buChar char="■"/>
              <a:defRPr b="0" i="0" sz="1400" u="none" cap="none" strike="noStrike">
                <a:solidFill>
                  <a:srgbClr val="0B0B0B"/>
                </a:solidFill>
                <a:latin typeface="Cabin"/>
                <a:ea typeface="Cabin"/>
                <a:cs typeface="Cabin"/>
                <a:sym typeface="Cabin"/>
              </a:defRPr>
            </a:lvl6pPr>
            <a:lvl7pPr indent="-317500" lvl="6" marL="3200400" marR="0" rtl="0" algn="l">
              <a:lnSpc>
                <a:spcPct val="115000"/>
              </a:lnSpc>
              <a:spcBef>
                <a:spcPts val="1600"/>
              </a:spcBef>
              <a:spcAft>
                <a:spcPts val="0"/>
              </a:spcAft>
              <a:buClr>
                <a:srgbClr val="0B0B0B"/>
              </a:buClr>
              <a:buSzPts val="1400"/>
              <a:buFont typeface="Cabin Condensed"/>
              <a:buChar char="●"/>
              <a:defRPr b="0" i="0" sz="1400" u="none" cap="none" strike="noStrike">
                <a:solidFill>
                  <a:srgbClr val="0B0B0B"/>
                </a:solidFill>
                <a:latin typeface="Cabin Condensed"/>
                <a:ea typeface="Cabin Condensed"/>
                <a:cs typeface="Cabin Condensed"/>
                <a:sym typeface="Cabin Condensed"/>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hyperlink" Target="https://www.miamiherald.com/news/nation-world/national/article222040170.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5.jp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99" name="Shape 99"/>
        <p:cNvGrpSpPr/>
        <p:nvPr/>
      </p:nvGrpSpPr>
      <p:grpSpPr>
        <a:xfrm>
          <a:off x="0" y="0"/>
          <a:ext cx="0" cy="0"/>
          <a:chOff x="0" y="0"/>
          <a:chExt cx="0" cy="0"/>
        </a:xfrm>
      </p:grpSpPr>
      <p:sp>
        <p:nvSpPr>
          <p:cNvPr id="100" name="Google Shape;100;p23"/>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Exploring a Phenomenon</a:t>
            </a:r>
            <a:endParaRPr b="0" i="0" sz="3200" u="none" cap="none" strike="noStrike">
              <a:solidFill>
                <a:srgbClr val="FFFFFF"/>
              </a:solidFill>
              <a:latin typeface="Boogaloo"/>
              <a:ea typeface="Boogaloo"/>
              <a:cs typeface="Boogaloo"/>
              <a:sym typeface="Boogaloo"/>
            </a:endParaRPr>
          </a:p>
        </p:txBody>
      </p:sp>
      <p:sp>
        <p:nvSpPr>
          <p:cNvPr id="101" name="Google Shape;101;p23"/>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A</a:t>
            </a:r>
            <a:endParaRPr b="0" i="0" sz="1800" u="none" cap="none" strike="noStrike">
              <a:solidFill>
                <a:srgbClr val="9A2F3E"/>
              </a:solidFill>
              <a:latin typeface="Boogaloo"/>
              <a:ea typeface="Boogaloo"/>
              <a:cs typeface="Boogaloo"/>
              <a:sym typeface="Boogaloo"/>
            </a:endParaRPr>
          </a:p>
        </p:txBody>
      </p:sp>
      <p:sp>
        <p:nvSpPr>
          <p:cNvPr id="102" name="Google Shape;102;p23"/>
          <p:cNvSpPr/>
          <p:nvPr/>
        </p:nvSpPr>
        <p:spPr>
          <a:xfrm>
            <a:off x="3469575" y="1377350"/>
            <a:ext cx="5217000" cy="53091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23"/>
          <p:cNvSpPr txBox="1"/>
          <p:nvPr/>
        </p:nvSpPr>
        <p:spPr>
          <a:xfrm>
            <a:off x="3541025" y="1962150"/>
            <a:ext cx="5010300" cy="4620900"/>
          </a:xfrm>
          <a:prstGeom prst="rect">
            <a:avLst/>
          </a:prstGeom>
          <a:noFill/>
          <a:ln>
            <a:noFill/>
          </a:ln>
        </p:spPr>
        <p:txBody>
          <a:bodyPr anchorCtr="0" anchor="t" bIns="91425" lIns="114300" spcFirstLastPara="1" rIns="91425" wrap="square" tIns="91425">
            <a:noAutofit/>
          </a:bodyPr>
          <a:lstStyle/>
          <a:p>
            <a:pPr indent="-228600" lvl="0" marL="228600" marR="0" rtl="0" algn="l">
              <a:lnSpc>
                <a:spcPct val="100000"/>
              </a:lnSpc>
              <a:spcBef>
                <a:spcPts val="0"/>
              </a:spcBef>
              <a:spcAft>
                <a:spcPts val="0"/>
              </a:spcAft>
              <a:buClr>
                <a:srgbClr val="980000"/>
              </a:buClr>
              <a:buSzPts val="2400"/>
              <a:buFont typeface="Cabin Condensed"/>
              <a:buChar char="●"/>
            </a:pPr>
            <a:r>
              <a:rPr b="0" i="0" lang="en" sz="2400" u="none" cap="none" strike="noStrike">
                <a:solidFill>
                  <a:srgbClr val="980000"/>
                </a:solidFill>
                <a:latin typeface="Cabin Condensed"/>
                <a:ea typeface="Cabin Condensed"/>
                <a:cs typeface="Cabin Condensed"/>
                <a:sym typeface="Cabin Condensed"/>
              </a:rPr>
              <a:t>Americans break 2 smartphone screens every second.</a:t>
            </a:r>
            <a:endParaRPr b="0" i="0" sz="2400" u="none" cap="none" strike="noStrike">
              <a:solidFill>
                <a:srgbClr val="980000"/>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80000"/>
              </a:buClr>
              <a:buSzPts val="2400"/>
              <a:buFont typeface="Cabin Condensed"/>
              <a:buChar char="●"/>
            </a:pPr>
            <a:r>
              <a:rPr b="0" i="0" lang="en" sz="2400" u="none" cap="none" strike="noStrike">
                <a:solidFill>
                  <a:srgbClr val="980000"/>
                </a:solidFill>
                <a:latin typeface="Cabin Condensed"/>
                <a:ea typeface="Cabin Condensed"/>
                <a:cs typeface="Cabin Condensed"/>
                <a:sym typeface="Cabin Condensed"/>
              </a:rPr>
              <a:t>More than 50 million phone screens are cracked each year.</a:t>
            </a:r>
            <a:endParaRPr b="0" i="0" sz="2400" u="none" cap="none" strike="noStrike">
              <a:solidFill>
                <a:srgbClr val="980000"/>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80000"/>
              </a:buClr>
              <a:buSzPts val="2400"/>
              <a:buFont typeface="Cabin Condensed"/>
              <a:buChar char="●"/>
            </a:pPr>
            <a:r>
              <a:rPr b="0" i="0" lang="en" sz="2400" u="none" cap="none" strike="noStrike">
                <a:solidFill>
                  <a:srgbClr val="980000"/>
                </a:solidFill>
                <a:latin typeface="Cabin Condensed"/>
                <a:ea typeface="Cabin Condensed"/>
                <a:cs typeface="Cabin Condensed"/>
                <a:sym typeface="Cabin Condensed"/>
              </a:rPr>
              <a:t>An estimated 95 million phones were damaged in the world by dropping them.</a:t>
            </a:r>
            <a:endParaRPr b="0" i="0" sz="2400" u="none" cap="none" strike="noStrike">
              <a:solidFill>
                <a:srgbClr val="980000"/>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80000"/>
              </a:buClr>
              <a:buSzPts val="2400"/>
              <a:buFont typeface="Cabin Condensed"/>
              <a:buChar char="●"/>
            </a:pPr>
            <a:r>
              <a:rPr b="0" i="0" lang="en" sz="2400" u="none" cap="none" strike="noStrike">
                <a:solidFill>
                  <a:srgbClr val="980000"/>
                </a:solidFill>
                <a:latin typeface="Cabin Condensed"/>
                <a:ea typeface="Cabin Condensed"/>
                <a:cs typeface="Cabin Condensed"/>
                <a:sym typeface="Cabin Condensed"/>
              </a:rPr>
              <a:t>We spend $3.4 BILLION each year in replacing cracked screens--not counting the 38% of smartphone owners who don’t replace them at all.</a:t>
            </a:r>
            <a:endParaRPr b="0" i="0" sz="2400" u="none" cap="none" strike="noStrike">
              <a:solidFill>
                <a:srgbClr val="980000"/>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80000"/>
              </a:buClr>
              <a:buSzPts val="2400"/>
              <a:buFont typeface="Cabin Condensed"/>
              <a:buChar char="●"/>
            </a:pPr>
            <a:r>
              <a:rPr b="0" i="0" lang="en" sz="2400" u="none" cap="none" strike="noStrike">
                <a:solidFill>
                  <a:srgbClr val="980000"/>
                </a:solidFill>
                <a:latin typeface="Cabin Condensed"/>
                <a:ea typeface="Cabin Condensed"/>
                <a:cs typeface="Cabin Condensed"/>
                <a:sym typeface="Cabin Condensed"/>
              </a:rPr>
              <a:t>27% of people said that their phone was in a case when they broke it.</a:t>
            </a:r>
            <a:endParaRPr b="0" i="0" sz="1400" u="none" cap="none" strike="noStrike">
              <a:solidFill>
                <a:srgbClr val="000000"/>
              </a:solidFill>
              <a:latin typeface="Arial"/>
              <a:ea typeface="Arial"/>
              <a:cs typeface="Arial"/>
              <a:sym typeface="Arial"/>
            </a:endParaRPr>
          </a:p>
        </p:txBody>
      </p:sp>
      <p:pic>
        <p:nvPicPr>
          <p:cNvPr descr="A smartphone with a cracked screen is lying on a wooden surface. The cracks radiate from a central point near the bottom half of the screen." id="104" name="Google Shape;104;p23"/>
          <p:cNvPicPr preferRelativeResize="0"/>
          <p:nvPr/>
        </p:nvPicPr>
        <p:blipFill rotWithShape="1">
          <a:blip r:embed="rId3">
            <a:alphaModFix/>
          </a:blip>
          <a:srcRect b="0" l="5517" r="4025" t="0"/>
          <a:stretch/>
        </p:blipFill>
        <p:spPr>
          <a:xfrm>
            <a:off x="457200" y="1372750"/>
            <a:ext cx="2840307" cy="5309099"/>
          </a:xfrm>
          <a:prstGeom prst="rect">
            <a:avLst/>
          </a:prstGeom>
          <a:noFill/>
          <a:ln>
            <a:noFill/>
          </a:ln>
        </p:spPr>
      </p:pic>
      <p:sp>
        <p:nvSpPr>
          <p:cNvPr id="105" name="Google Shape;105;p23"/>
          <p:cNvSpPr txBox="1"/>
          <p:nvPr/>
        </p:nvSpPr>
        <p:spPr>
          <a:xfrm>
            <a:off x="6793800" y="6344013"/>
            <a:ext cx="2121600" cy="246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sng" cap="none" strike="noStrike">
                <a:solidFill>
                  <a:schemeClr val="hlink"/>
                </a:solidFill>
                <a:latin typeface="Boogaloo"/>
                <a:ea typeface="Boogaloo"/>
                <a:cs typeface="Boogaloo"/>
                <a:sym typeface="Boogaloo"/>
                <a:hlinkClick r:id="rId4"/>
              </a:rPr>
              <a:t>Source- Miami Herald</a:t>
            </a:r>
            <a:endParaRPr b="0" i="0" sz="1400" u="none" cap="none" strike="noStrike">
              <a:solidFill>
                <a:srgbClr val="9A2F3E"/>
              </a:solidFill>
              <a:latin typeface="Boogaloo"/>
              <a:ea typeface="Boogaloo"/>
              <a:cs typeface="Boogaloo"/>
              <a:sym typeface="Boogaloo"/>
            </a:endParaRPr>
          </a:p>
        </p:txBody>
      </p:sp>
      <p:sp>
        <p:nvSpPr>
          <p:cNvPr id="106" name="Google Shape;106;p23"/>
          <p:cNvSpPr txBox="1"/>
          <p:nvPr/>
        </p:nvSpPr>
        <p:spPr>
          <a:xfrm>
            <a:off x="3840425" y="1392525"/>
            <a:ext cx="4411500" cy="762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Cell Phone Damage</a:t>
            </a:r>
            <a:endParaRPr b="0" i="0" sz="8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10" name="Shape 110"/>
        <p:cNvGrpSpPr/>
        <p:nvPr/>
      </p:nvGrpSpPr>
      <p:grpSpPr>
        <a:xfrm>
          <a:off x="0" y="0"/>
          <a:ext cx="0" cy="0"/>
          <a:chOff x="0" y="0"/>
          <a:chExt cx="0" cy="0"/>
        </a:xfrm>
      </p:grpSpPr>
      <p:sp>
        <p:nvSpPr>
          <p:cNvPr id="111" name="Google Shape;111;p24"/>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Breaking a Phone</a:t>
            </a:r>
            <a:endParaRPr b="0" i="0" sz="3200" u="none" cap="none" strike="noStrike">
              <a:solidFill>
                <a:srgbClr val="FFFFFF"/>
              </a:solidFill>
              <a:latin typeface="Boogaloo"/>
              <a:ea typeface="Boogaloo"/>
              <a:cs typeface="Boogaloo"/>
              <a:sym typeface="Boogaloo"/>
            </a:endParaRPr>
          </a:p>
        </p:txBody>
      </p:sp>
      <p:sp>
        <p:nvSpPr>
          <p:cNvPr id="112" name="Google Shape;112;p24"/>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B</a:t>
            </a:r>
            <a:endParaRPr b="0" i="0" sz="1800" u="none" cap="none" strike="noStrike">
              <a:solidFill>
                <a:srgbClr val="9A2F3E"/>
              </a:solidFill>
              <a:latin typeface="Boogaloo"/>
              <a:ea typeface="Boogaloo"/>
              <a:cs typeface="Boogaloo"/>
              <a:sym typeface="Boogaloo"/>
            </a:endParaRPr>
          </a:p>
        </p:txBody>
      </p:sp>
      <p:sp>
        <p:nvSpPr>
          <p:cNvPr id="113" name="Google Shape;113;p24"/>
          <p:cNvSpPr/>
          <p:nvPr/>
        </p:nvSpPr>
        <p:spPr>
          <a:xfrm>
            <a:off x="3470275" y="1377350"/>
            <a:ext cx="5216400" cy="52626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urn and talk icon" id="114" name="Google Shape;114;p24"/>
          <p:cNvPicPr preferRelativeResize="0"/>
          <p:nvPr/>
        </p:nvPicPr>
        <p:blipFill rotWithShape="1">
          <a:blip r:embed="rId3">
            <a:alphaModFix/>
          </a:blip>
          <a:srcRect b="0" l="139" r="137" t="0"/>
          <a:stretch/>
        </p:blipFill>
        <p:spPr>
          <a:xfrm>
            <a:off x="3805762" y="1602925"/>
            <a:ext cx="1187989" cy="986525"/>
          </a:xfrm>
          <a:prstGeom prst="rect">
            <a:avLst/>
          </a:prstGeom>
          <a:noFill/>
          <a:ln>
            <a:noFill/>
          </a:ln>
        </p:spPr>
      </p:pic>
      <p:sp>
        <p:nvSpPr>
          <p:cNvPr id="115" name="Google Shape;115;p24"/>
          <p:cNvSpPr txBox="1"/>
          <p:nvPr/>
        </p:nvSpPr>
        <p:spPr>
          <a:xfrm>
            <a:off x="3775075" y="2809575"/>
            <a:ext cx="4570500" cy="37452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980000"/>
              </a:buClr>
              <a:buSzPts val="2400"/>
              <a:buFont typeface="Cabin Condensed"/>
              <a:buChar char="●"/>
            </a:pPr>
            <a:r>
              <a:rPr b="0" i="0" lang="en" sz="2400" u="none" cap="none" strike="noStrike">
                <a:solidFill>
                  <a:srgbClr val="980000"/>
                </a:solidFill>
                <a:latin typeface="Cabin Condensed"/>
                <a:ea typeface="Cabin Condensed"/>
                <a:cs typeface="Cabin Condensed"/>
                <a:sym typeface="Cabin Condensed"/>
              </a:rPr>
              <a:t>Have you or someone you know ever broken a phone? What caused it to break? Describe your experience(s). </a:t>
            </a:r>
            <a:endParaRPr b="0" i="0" sz="2400" u="none" cap="none" strike="noStrike">
              <a:solidFill>
                <a:srgbClr val="98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98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980000"/>
                </a:solidFill>
                <a:latin typeface="Cabin Condensed"/>
                <a:ea typeface="Cabin Condensed"/>
                <a:cs typeface="Cabin Condensed"/>
                <a:sym typeface="Cabin Condensed"/>
              </a:rPr>
              <a:t>Be ready to share your experiences with the class!</a:t>
            </a:r>
            <a:endParaRPr b="0" i="0" sz="2400" u="none" cap="none" strike="noStrike">
              <a:solidFill>
                <a:srgbClr val="98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smartphone with a cracked screen is lying on a wooden surface. The cracks radiate from a central point near the bottom half of the screen." id="116" name="Google Shape;116;p24"/>
          <p:cNvPicPr preferRelativeResize="0"/>
          <p:nvPr/>
        </p:nvPicPr>
        <p:blipFill rotWithShape="1">
          <a:blip r:embed="rId4">
            <a:alphaModFix/>
          </a:blip>
          <a:srcRect b="0" l="5389" r="3568" t="0"/>
          <a:stretch/>
        </p:blipFill>
        <p:spPr>
          <a:xfrm>
            <a:off x="457200" y="1377350"/>
            <a:ext cx="2833700" cy="5262700"/>
          </a:xfrm>
          <a:prstGeom prst="rect">
            <a:avLst/>
          </a:prstGeom>
          <a:noFill/>
          <a:ln>
            <a:noFill/>
          </a:ln>
        </p:spPr>
      </p:pic>
      <p:sp>
        <p:nvSpPr>
          <p:cNvPr id="117" name="Google Shape;117;p24"/>
          <p:cNvSpPr txBox="1"/>
          <p:nvPr/>
        </p:nvSpPr>
        <p:spPr>
          <a:xfrm>
            <a:off x="5158225" y="1679113"/>
            <a:ext cx="3000000" cy="68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200"/>
              <a:buFont typeface="Arial"/>
              <a:buNone/>
            </a:pPr>
            <a:r>
              <a:rPr b="0" i="0" lang="en" sz="3200" u="none" cap="none" strike="noStrike">
                <a:solidFill>
                  <a:srgbClr val="9A2F3E"/>
                </a:solidFill>
                <a:latin typeface="Boogaloo"/>
                <a:ea typeface="Boogaloo"/>
                <a:cs typeface="Boogaloo"/>
                <a:sym typeface="Boogaloo"/>
              </a:rPr>
              <a:t>Turn and Talk</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5"/>
          <p:cNvSpPr/>
          <p:nvPr/>
        </p:nvSpPr>
        <p:spPr>
          <a:xfrm>
            <a:off x="460650" y="1457325"/>
            <a:ext cx="8229600" cy="4997400"/>
          </a:xfrm>
          <a:prstGeom prst="rect">
            <a:avLst/>
          </a:prstGeom>
          <a:solidFill>
            <a:srgbClr val="F5EDEF"/>
          </a:solidFill>
          <a:ln cap="flat" cmpd="sng" w="9525">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5"/>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C</a:t>
            </a:r>
            <a:endParaRPr/>
          </a:p>
        </p:txBody>
      </p:sp>
      <p:sp>
        <p:nvSpPr>
          <p:cNvPr id="124" name="Google Shape;124;p25"/>
          <p:cNvSpPr txBox="1"/>
          <p:nvPr>
            <p:ph idx="3"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Using a CD Case to Model Phone Damage</a:t>
            </a:r>
            <a:endParaRPr/>
          </a:p>
        </p:txBody>
      </p:sp>
      <p:pic>
        <p:nvPicPr>
          <p:cNvPr descr="A clear plastic CD case lies closed and empty on a flat white surface. The black plastic insert is visible inside the case." id="125" name="Google Shape;125;p25"/>
          <p:cNvPicPr preferRelativeResize="0"/>
          <p:nvPr/>
        </p:nvPicPr>
        <p:blipFill rotWithShape="1">
          <a:blip r:embed="rId3">
            <a:alphaModFix/>
          </a:blip>
          <a:srcRect b="0" l="0" r="0" t="0"/>
          <a:stretch/>
        </p:blipFill>
        <p:spPr>
          <a:xfrm>
            <a:off x="5262067" y="1824825"/>
            <a:ext cx="3279757" cy="3000000"/>
          </a:xfrm>
          <a:prstGeom prst="rect">
            <a:avLst/>
          </a:prstGeom>
          <a:noFill/>
          <a:ln>
            <a:noFill/>
          </a:ln>
        </p:spPr>
      </p:pic>
      <p:pic>
        <p:nvPicPr>
          <p:cNvPr descr="with your class icon" id="126" name="Google Shape;126;p25"/>
          <p:cNvPicPr preferRelativeResize="0"/>
          <p:nvPr/>
        </p:nvPicPr>
        <p:blipFill rotWithShape="1">
          <a:blip r:embed="rId4">
            <a:alphaModFix/>
          </a:blip>
          <a:srcRect b="0" l="0" r="0" t="0"/>
          <a:stretch/>
        </p:blipFill>
        <p:spPr>
          <a:xfrm>
            <a:off x="732150" y="1688200"/>
            <a:ext cx="1053121" cy="1069400"/>
          </a:xfrm>
          <a:prstGeom prst="rect">
            <a:avLst/>
          </a:prstGeom>
          <a:noFill/>
          <a:ln>
            <a:noFill/>
          </a:ln>
        </p:spPr>
      </p:pic>
      <p:sp>
        <p:nvSpPr>
          <p:cNvPr id="127" name="Google Shape;127;p25"/>
          <p:cNvSpPr txBox="1"/>
          <p:nvPr/>
        </p:nvSpPr>
        <p:spPr>
          <a:xfrm>
            <a:off x="1940875" y="1721475"/>
            <a:ext cx="3000000" cy="8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With Your Class</a:t>
            </a:r>
            <a:endParaRPr b="0" i="0" sz="3000" u="none" cap="none" strike="noStrike">
              <a:solidFill>
                <a:srgbClr val="000000"/>
              </a:solidFill>
              <a:latin typeface="Boogaloo"/>
              <a:ea typeface="Boogaloo"/>
              <a:cs typeface="Boogaloo"/>
              <a:sym typeface="Boogaloo"/>
            </a:endParaRPr>
          </a:p>
        </p:txBody>
      </p:sp>
      <p:sp>
        <p:nvSpPr>
          <p:cNvPr id="128" name="Google Shape;128;p25"/>
          <p:cNvSpPr txBox="1"/>
          <p:nvPr/>
        </p:nvSpPr>
        <p:spPr>
          <a:xfrm>
            <a:off x="640650" y="3002924"/>
            <a:ext cx="4286400" cy="220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9A2F3E"/>
                </a:solidFill>
                <a:latin typeface="Cabin Condensed"/>
                <a:ea typeface="Cabin Condensed"/>
                <a:cs typeface="Cabin Condensed"/>
                <a:sym typeface="Cabin Condensed"/>
              </a:rPr>
              <a:t>What damage to phones have you seen or experienced?</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1600"/>
              </a:spcBef>
              <a:spcAft>
                <a:spcPts val="0"/>
              </a:spcAft>
              <a:buClr>
                <a:srgbClr val="000000"/>
              </a:buClr>
              <a:buSzPts val="2400"/>
              <a:buFont typeface="Arial"/>
              <a:buNone/>
            </a:pPr>
            <a:r>
              <a:rPr b="0" i="0" lang="en" sz="2400" u="none" cap="none" strike="noStrike">
                <a:solidFill>
                  <a:srgbClr val="9A2F3E"/>
                </a:solidFill>
                <a:latin typeface="Cabin Condensed"/>
                <a:ea typeface="Cabin Condensed"/>
                <a:cs typeface="Cabin Condensed"/>
                <a:sym typeface="Cabin Condensed"/>
              </a:rPr>
              <a:t>A few volunteers will use this CD case in place of a phone to show the class what happened to the phone.  </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15000"/>
              </a:lnSpc>
              <a:spcBef>
                <a:spcPts val="1600"/>
              </a:spcBef>
              <a:spcAft>
                <a:spcPts val="16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5"/>
          <p:cNvSpPr txBox="1"/>
          <p:nvPr/>
        </p:nvSpPr>
        <p:spPr>
          <a:xfrm>
            <a:off x="640650" y="5200900"/>
            <a:ext cx="4700700" cy="8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Clr>
                <a:srgbClr val="000000"/>
              </a:buClr>
              <a:buSzPts val="2400"/>
              <a:buFont typeface="Arial"/>
              <a:buNone/>
            </a:pPr>
            <a:r>
              <a:rPr b="0" i="0" lang="en" sz="2400" u="none" cap="none" strike="noStrike">
                <a:solidFill>
                  <a:srgbClr val="9A2F3E"/>
                </a:solidFill>
                <a:latin typeface="Cabin Condensed"/>
                <a:ea typeface="Cabin Condensed"/>
                <a:cs typeface="Cabin Condensed"/>
                <a:sym typeface="Cabin Condensed"/>
              </a:rPr>
              <a:t>Your teacher will draw a model to represent what happened as you share.</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33" name="Shape 133"/>
        <p:cNvGrpSpPr/>
        <p:nvPr/>
      </p:nvGrpSpPr>
      <p:grpSpPr>
        <a:xfrm>
          <a:off x="0" y="0"/>
          <a:ext cx="0" cy="0"/>
          <a:chOff x="0" y="0"/>
          <a:chExt cx="0" cy="0"/>
        </a:xfrm>
      </p:grpSpPr>
      <p:sp>
        <p:nvSpPr>
          <p:cNvPr id="134" name="Google Shape;134;p26"/>
          <p:cNvSpPr/>
          <p:nvPr/>
        </p:nvSpPr>
        <p:spPr>
          <a:xfrm>
            <a:off x="457200" y="1600200"/>
            <a:ext cx="4042200" cy="4921800"/>
          </a:xfrm>
          <a:prstGeom prst="rect">
            <a:avLst/>
          </a:prstGeom>
          <a:solidFill>
            <a:schemeClr val="lt1"/>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A2F3E"/>
              </a:solidFill>
              <a:latin typeface="Arial"/>
              <a:ea typeface="Arial"/>
              <a:cs typeface="Arial"/>
              <a:sym typeface="Arial"/>
            </a:endParaRPr>
          </a:p>
        </p:txBody>
      </p:sp>
      <p:sp>
        <p:nvSpPr>
          <p:cNvPr id="135" name="Google Shape;135;p26"/>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Related Phenomena - Other Collisions</a:t>
            </a:r>
            <a:endParaRPr b="0" i="0" sz="3200" u="none" cap="none" strike="noStrike">
              <a:solidFill>
                <a:srgbClr val="FFFFFF"/>
              </a:solidFill>
              <a:latin typeface="Boogaloo"/>
              <a:ea typeface="Boogaloo"/>
              <a:cs typeface="Boogaloo"/>
              <a:sym typeface="Boogaloo"/>
            </a:endParaRPr>
          </a:p>
        </p:txBody>
      </p:sp>
      <p:sp>
        <p:nvSpPr>
          <p:cNvPr id="136" name="Google Shape;136;p26"/>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D</a:t>
            </a:r>
            <a:endParaRPr b="0" i="0" sz="1800" u="none" cap="none" strike="noStrike">
              <a:solidFill>
                <a:srgbClr val="9A2F3E"/>
              </a:solidFill>
              <a:latin typeface="Boogaloo"/>
              <a:ea typeface="Boogaloo"/>
              <a:cs typeface="Boogaloo"/>
              <a:sym typeface="Boogaloo"/>
            </a:endParaRPr>
          </a:p>
        </p:txBody>
      </p:sp>
      <p:sp>
        <p:nvSpPr>
          <p:cNvPr id="137" name="Google Shape;137;p26"/>
          <p:cNvSpPr/>
          <p:nvPr/>
        </p:nvSpPr>
        <p:spPr>
          <a:xfrm>
            <a:off x="798550" y="3025750"/>
            <a:ext cx="3603300" cy="1058100"/>
          </a:xfrm>
          <a:prstGeom prst="rect">
            <a:avLst/>
          </a:prstGeom>
          <a:noFill/>
          <a:ln>
            <a:noFill/>
          </a:ln>
        </p:spPr>
        <p:txBody>
          <a:bodyPr anchorCtr="0" anchor="t" bIns="0" lIns="0" spcFirstLastPara="1" rIns="0" wrap="square" tIns="0">
            <a:noAutofit/>
          </a:bodyPr>
          <a:lstStyle/>
          <a:p>
            <a:pPr indent="-171450" lvl="0" marL="171450" marR="0" rtl="0" algn="l">
              <a:lnSpc>
                <a:spcPct val="100000"/>
              </a:lnSpc>
              <a:spcBef>
                <a:spcPts val="0"/>
              </a:spcBef>
              <a:spcAft>
                <a:spcPts val="0"/>
              </a:spcAft>
              <a:buClr>
                <a:srgbClr val="980000"/>
              </a:buClr>
              <a:buSzPts val="2400"/>
              <a:buFont typeface="Cabin"/>
              <a:buChar char="●"/>
            </a:pPr>
            <a:r>
              <a:rPr b="0" i="0" lang="en" sz="2400" u="none" cap="none" strike="noStrike">
                <a:solidFill>
                  <a:srgbClr val="980000"/>
                </a:solidFill>
                <a:latin typeface="Cabin"/>
                <a:ea typeface="Cabin"/>
                <a:cs typeface="Cabin"/>
                <a:sym typeface="Cabin"/>
              </a:rPr>
              <a:t>List a collision where objects were </a:t>
            </a:r>
            <a:r>
              <a:rPr b="1" i="0" lang="en" sz="2400" u="none" cap="none" strike="noStrike">
                <a:solidFill>
                  <a:srgbClr val="980000"/>
                </a:solidFill>
                <a:latin typeface="Cabin"/>
                <a:ea typeface="Cabin"/>
                <a:cs typeface="Cabin"/>
                <a:sym typeface="Cabin"/>
              </a:rPr>
              <a:t>damaged </a:t>
            </a:r>
            <a:r>
              <a:rPr b="0" i="0" lang="en" sz="2400" u="none" cap="none" strike="noStrike">
                <a:solidFill>
                  <a:srgbClr val="980000"/>
                </a:solidFill>
                <a:latin typeface="Cabin"/>
                <a:ea typeface="Cabin"/>
                <a:cs typeface="Cabin"/>
                <a:sym typeface="Cabin"/>
              </a:rPr>
              <a:t>during the collision on a </a:t>
            </a:r>
            <a:r>
              <a:rPr b="1" i="0" lang="en" sz="2400" u="none" cap="none" strike="noStrike">
                <a:solidFill>
                  <a:srgbClr val="980000"/>
                </a:solidFill>
                <a:latin typeface="Cabin"/>
                <a:ea typeface="Cabin"/>
                <a:cs typeface="Cabin"/>
                <a:sym typeface="Cabin"/>
              </a:rPr>
              <a:t>red</a:t>
            </a:r>
            <a:r>
              <a:rPr b="0" i="0" lang="en" sz="2400" u="none" cap="none" strike="noStrike">
                <a:solidFill>
                  <a:srgbClr val="980000"/>
                </a:solidFill>
                <a:latin typeface="Cabin"/>
                <a:ea typeface="Cabin"/>
                <a:cs typeface="Cabin"/>
                <a:sym typeface="Cabin"/>
              </a:rPr>
              <a:t> index card.</a:t>
            </a:r>
            <a:endParaRPr b="0" i="0" sz="2400" u="none" cap="none" strike="noStrike">
              <a:solidFill>
                <a:srgbClr val="980000"/>
              </a:solidFill>
              <a:latin typeface="Cabin"/>
              <a:ea typeface="Cabin"/>
              <a:cs typeface="Cabin"/>
              <a:sym typeface="Cabin"/>
            </a:endParaRPr>
          </a:p>
          <a:p>
            <a:pPr indent="-114300" lvl="0" marL="1714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980000"/>
              </a:solidFill>
              <a:latin typeface="Cabin"/>
              <a:ea typeface="Cabin"/>
              <a:cs typeface="Cabin"/>
              <a:sym typeface="Cabin"/>
            </a:endParaRPr>
          </a:p>
          <a:p>
            <a:pPr indent="-171450" lvl="0" marL="171450" marR="0" rtl="0" algn="l">
              <a:lnSpc>
                <a:spcPct val="100000"/>
              </a:lnSpc>
              <a:spcBef>
                <a:spcPts val="0"/>
              </a:spcBef>
              <a:spcAft>
                <a:spcPts val="0"/>
              </a:spcAft>
              <a:buClr>
                <a:srgbClr val="980000"/>
              </a:buClr>
              <a:buSzPts val="2400"/>
              <a:buFont typeface="Cabin"/>
              <a:buChar char="●"/>
            </a:pPr>
            <a:r>
              <a:rPr b="0" i="0" lang="en" sz="2400" u="none" cap="none" strike="noStrike">
                <a:solidFill>
                  <a:srgbClr val="980000"/>
                </a:solidFill>
                <a:latin typeface="Cabin"/>
                <a:ea typeface="Cabin"/>
                <a:cs typeface="Cabin"/>
                <a:sym typeface="Cabin"/>
              </a:rPr>
              <a:t>List a collision  where objects were surprisingly </a:t>
            </a:r>
            <a:r>
              <a:rPr b="1" i="0" lang="en" sz="2400" u="none" cap="none" strike="noStrike">
                <a:solidFill>
                  <a:srgbClr val="980000"/>
                </a:solidFill>
                <a:latin typeface="Cabin"/>
                <a:ea typeface="Cabin"/>
                <a:cs typeface="Cabin"/>
                <a:sym typeface="Cabin"/>
              </a:rPr>
              <a:t>not damaged</a:t>
            </a:r>
            <a:r>
              <a:rPr b="0" i="0" lang="en" sz="2400" u="none" cap="none" strike="noStrike">
                <a:solidFill>
                  <a:srgbClr val="980000"/>
                </a:solidFill>
                <a:latin typeface="Cabin"/>
                <a:ea typeface="Cabin"/>
                <a:cs typeface="Cabin"/>
                <a:sym typeface="Cabin"/>
              </a:rPr>
              <a:t> on a </a:t>
            </a:r>
            <a:r>
              <a:rPr b="1" i="0" lang="en" sz="2400" u="none" cap="none" strike="noStrike">
                <a:solidFill>
                  <a:srgbClr val="980000"/>
                </a:solidFill>
                <a:latin typeface="Cabin"/>
                <a:ea typeface="Cabin"/>
                <a:cs typeface="Cabin"/>
                <a:sym typeface="Cabin"/>
              </a:rPr>
              <a:t>green </a:t>
            </a:r>
            <a:r>
              <a:rPr b="0" i="0" lang="en" sz="2400" u="none" cap="none" strike="noStrike">
                <a:solidFill>
                  <a:srgbClr val="980000"/>
                </a:solidFill>
                <a:latin typeface="Cabin"/>
                <a:ea typeface="Cabin"/>
                <a:cs typeface="Cabin"/>
                <a:sym typeface="Cabin"/>
              </a:rPr>
              <a:t>index card.</a:t>
            </a:r>
            <a:endParaRPr b="0" i="0" sz="2400" u="none" cap="none" strike="noStrike">
              <a:solidFill>
                <a:srgbClr val="980000"/>
              </a:solidFill>
              <a:latin typeface="Cabin"/>
              <a:ea typeface="Cabin"/>
              <a:cs typeface="Cabin"/>
              <a:sym typeface="Cabin"/>
            </a:endParaRPr>
          </a:p>
          <a:p>
            <a:pPr indent="0" lvl="0" marL="0" marR="0" rtl="0" algn="l">
              <a:lnSpc>
                <a:spcPct val="100000"/>
              </a:lnSpc>
              <a:spcBef>
                <a:spcPts val="0"/>
              </a:spcBef>
              <a:spcAft>
                <a:spcPts val="0"/>
              </a:spcAft>
              <a:buClr>
                <a:srgbClr val="4D4F53"/>
              </a:buClr>
              <a:buSzPts val="1500"/>
              <a:buFont typeface="Proxima Nova"/>
              <a:buNone/>
            </a:pPr>
            <a:r>
              <a:t/>
            </a:r>
            <a:endParaRPr b="0" i="0" sz="1800" u="none" cap="none" strike="noStrike">
              <a:solidFill>
                <a:srgbClr val="0B0B0B"/>
              </a:solidFill>
              <a:latin typeface="Cabin"/>
              <a:ea typeface="Cabin"/>
              <a:cs typeface="Cabin"/>
              <a:sym typeface="Cabin"/>
            </a:endParaRPr>
          </a:p>
          <a:p>
            <a:pPr indent="0" lvl="0" marL="0" marR="0" rtl="0" algn="l">
              <a:lnSpc>
                <a:spcPct val="100000"/>
              </a:lnSpc>
              <a:spcBef>
                <a:spcPts val="0"/>
              </a:spcBef>
              <a:spcAft>
                <a:spcPts val="0"/>
              </a:spcAft>
              <a:buClr>
                <a:srgbClr val="4D4F53"/>
              </a:buClr>
              <a:buSzPts val="1500"/>
              <a:buFont typeface="Proxima Nova"/>
              <a:buNone/>
            </a:pPr>
            <a:r>
              <a:t/>
            </a:r>
            <a:endParaRPr b="0" i="0" sz="1800" u="none" cap="none" strike="noStrike">
              <a:solidFill>
                <a:srgbClr val="0B0B0B"/>
              </a:solidFill>
              <a:latin typeface="Cabin"/>
              <a:ea typeface="Cabin"/>
              <a:cs typeface="Cabin"/>
              <a:sym typeface="Cabin"/>
            </a:endParaRPr>
          </a:p>
          <a:p>
            <a:pPr indent="0" lvl="0" marL="0" marR="0" rtl="0" algn="l">
              <a:lnSpc>
                <a:spcPct val="100000"/>
              </a:lnSpc>
              <a:spcBef>
                <a:spcPts val="0"/>
              </a:spcBef>
              <a:spcAft>
                <a:spcPts val="0"/>
              </a:spcAft>
              <a:buClr>
                <a:srgbClr val="4D4F53"/>
              </a:buClr>
              <a:buSzPts val="1500"/>
              <a:buFont typeface="Proxima Nova"/>
              <a:buNone/>
            </a:pPr>
            <a:r>
              <a:t/>
            </a:r>
            <a:endParaRPr b="0" i="0" sz="1800" u="none" cap="none" strike="noStrike">
              <a:solidFill>
                <a:srgbClr val="0B0B0B"/>
              </a:solidFill>
              <a:latin typeface="Cabin"/>
              <a:ea typeface="Cabin"/>
              <a:cs typeface="Cabin"/>
              <a:sym typeface="Cabin"/>
            </a:endParaRPr>
          </a:p>
        </p:txBody>
      </p:sp>
      <p:sp>
        <p:nvSpPr>
          <p:cNvPr id="138" name="Google Shape;138;p26"/>
          <p:cNvSpPr/>
          <p:nvPr/>
        </p:nvSpPr>
        <p:spPr>
          <a:xfrm>
            <a:off x="4736150" y="1600200"/>
            <a:ext cx="3950700" cy="4921800"/>
          </a:xfrm>
          <a:prstGeom prst="rect">
            <a:avLst/>
          </a:prstGeom>
          <a:solidFill>
            <a:srgbClr val="FFFFF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On your own icon" id="139" name="Google Shape;139;p26"/>
          <p:cNvPicPr preferRelativeResize="0"/>
          <p:nvPr/>
        </p:nvPicPr>
        <p:blipFill rotWithShape="1">
          <a:blip r:embed="rId3">
            <a:alphaModFix/>
          </a:blip>
          <a:srcRect b="0" l="0" r="0" t="0"/>
          <a:stretch/>
        </p:blipFill>
        <p:spPr>
          <a:xfrm>
            <a:off x="730000" y="1776450"/>
            <a:ext cx="783539" cy="923875"/>
          </a:xfrm>
          <a:prstGeom prst="rect">
            <a:avLst/>
          </a:prstGeom>
          <a:noFill/>
          <a:ln>
            <a:noFill/>
          </a:ln>
        </p:spPr>
      </p:pic>
      <p:sp>
        <p:nvSpPr>
          <p:cNvPr id="140" name="Google Shape;140;p26"/>
          <p:cNvSpPr/>
          <p:nvPr/>
        </p:nvSpPr>
        <p:spPr>
          <a:xfrm>
            <a:off x="4986050" y="1910800"/>
            <a:ext cx="3366300" cy="2969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980000"/>
                </a:solidFill>
                <a:latin typeface="Cabin"/>
                <a:ea typeface="Cabin"/>
                <a:cs typeface="Cabin"/>
                <a:sym typeface="Cabin"/>
              </a:rPr>
              <a:t>Do the following on each index card:</a:t>
            </a:r>
            <a:endParaRPr b="0" i="0" sz="2400" u="none" cap="none" strike="noStrike">
              <a:solidFill>
                <a:srgbClr val="980000"/>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980000"/>
              </a:solidFill>
              <a:latin typeface="Cabin"/>
              <a:ea typeface="Cabin"/>
              <a:cs typeface="Cabin"/>
              <a:sym typeface="Cabin"/>
            </a:endParaRPr>
          </a:p>
          <a:p>
            <a:pPr indent="-171450" lvl="0" marL="171450" marR="0" rtl="0" algn="l">
              <a:lnSpc>
                <a:spcPct val="100000"/>
              </a:lnSpc>
              <a:spcBef>
                <a:spcPts val="0"/>
              </a:spcBef>
              <a:spcAft>
                <a:spcPts val="0"/>
              </a:spcAft>
              <a:buClr>
                <a:srgbClr val="980000"/>
              </a:buClr>
              <a:buSzPts val="2400"/>
              <a:buFont typeface="Cabin"/>
              <a:buChar char="●"/>
            </a:pPr>
            <a:r>
              <a:rPr b="0" i="0" lang="en" sz="2400" u="none" cap="none" strike="noStrike">
                <a:solidFill>
                  <a:srgbClr val="980000"/>
                </a:solidFill>
                <a:latin typeface="Cabin"/>
                <a:ea typeface="Cabin"/>
                <a:cs typeface="Cabin"/>
                <a:sym typeface="Cabin"/>
              </a:rPr>
              <a:t>Identify the objects that came into contact with each other during the collision. </a:t>
            </a:r>
            <a:endParaRPr b="0" i="0" sz="2400" u="none" cap="none" strike="noStrike">
              <a:solidFill>
                <a:srgbClr val="980000"/>
              </a:solidFill>
              <a:latin typeface="Cabin"/>
              <a:ea typeface="Cabin"/>
              <a:cs typeface="Cabin"/>
              <a:sym typeface="Cabin"/>
            </a:endParaRPr>
          </a:p>
          <a:p>
            <a:pPr indent="-114300" lvl="0" marL="1714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980000"/>
              </a:solidFill>
              <a:latin typeface="Cabin"/>
              <a:ea typeface="Cabin"/>
              <a:cs typeface="Cabin"/>
              <a:sym typeface="Cabin"/>
            </a:endParaRPr>
          </a:p>
          <a:p>
            <a:pPr indent="-171450" lvl="0" marL="171450" marR="0" rtl="0" algn="l">
              <a:lnSpc>
                <a:spcPct val="100000"/>
              </a:lnSpc>
              <a:spcBef>
                <a:spcPts val="0"/>
              </a:spcBef>
              <a:spcAft>
                <a:spcPts val="0"/>
              </a:spcAft>
              <a:buClr>
                <a:srgbClr val="980000"/>
              </a:buClr>
              <a:buSzPts val="2400"/>
              <a:buFont typeface="Cabin"/>
              <a:buChar char="●"/>
            </a:pPr>
            <a:r>
              <a:rPr b="0" i="0" lang="en" sz="2400" u="none" cap="none" strike="noStrike">
                <a:solidFill>
                  <a:srgbClr val="980000"/>
                </a:solidFill>
                <a:latin typeface="Cabin"/>
                <a:ea typeface="Cabin"/>
                <a:cs typeface="Cabin"/>
                <a:sym typeface="Cabin"/>
              </a:rPr>
              <a:t>Underline which object or objects were moving before the collision occurred.</a:t>
            </a:r>
            <a:endParaRPr b="0" i="0" sz="2400" u="none" cap="none" strike="noStrike">
              <a:solidFill>
                <a:srgbClr val="0B0B0B"/>
              </a:solidFill>
              <a:latin typeface="Cabin"/>
              <a:ea typeface="Cabin"/>
              <a:cs typeface="Cabin"/>
              <a:sym typeface="Cabin"/>
            </a:endParaRPr>
          </a:p>
        </p:txBody>
      </p:sp>
      <p:sp>
        <p:nvSpPr>
          <p:cNvPr id="141" name="Google Shape;141;p26"/>
          <p:cNvSpPr/>
          <p:nvPr/>
        </p:nvSpPr>
        <p:spPr>
          <a:xfrm>
            <a:off x="2929550" y="4114113"/>
            <a:ext cx="754500" cy="4041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6"/>
          <p:cNvSpPr/>
          <p:nvPr/>
        </p:nvSpPr>
        <p:spPr>
          <a:xfrm>
            <a:off x="2448525" y="5951350"/>
            <a:ext cx="754500" cy="4041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6"/>
          <p:cNvSpPr txBox="1"/>
          <p:nvPr/>
        </p:nvSpPr>
        <p:spPr>
          <a:xfrm>
            <a:off x="1748700" y="1694425"/>
            <a:ext cx="2348400" cy="85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980000"/>
                </a:solidFill>
                <a:latin typeface="Boogaloo"/>
                <a:ea typeface="Boogaloo"/>
                <a:cs typeface="Boogaloo"/>
                <a:sym typeface="Boogaloo"/>
              </a:rPr>
              <a:t>Brainstorm </a:t>
            </a:r>
            <a:endParaRPr b="0" i="0" sz="3000" u="none" cap="none" strike="noStrike">
              <a:solidFill>
                <a:srgbClr val="980000"/>
              </a:solidFill>
              <a:latin typeface="Boogaloo"/>
              <a:ea typeface="Boogaloo"/>
              <a:cs typeface="Boogaloo"/>
              <a:sym typeface="Boogaloo"/>
            </a:endParaRPr>
          </a:p>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980000"/>
                </a:solidFill>
                <a:latin typeface="Boogaloo"/>
                <a:ea typeface="Boogaloo"/>
                <a:cs typeface="Boogaloo"/>
                <a:sym typeface="Boogaloo"/>
              </a:rPr>
              <a:t>Other Collisions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47" name="Shape 147"/>
        <p:cNvGrpSpPr/>
        <p:nvPr/>
      </p:nvGrpSpPr>
      <p:grpSpPr>
        <a:xfrm>
          <a:off x="0" y="0"/>
          <a:ext cx="0" cy="0"/>
          <a:chOff x="0" y="0"/>
          <a:chExt cx="0" cy="0"/>
        </a:xfrm>
      </p:grpSpPr>
      <p:sp>
        <p:nvSpPr>
          <p:cNvPr descr="A flowchart comparing object movement scenarios. Column A: object moving at first, other object motionless. Column B: both motionless at first. Column C: both moving at first. The chart explores surprise at damage or lack thereof." id="148" name="Google Shape;148;p27"/>
          <p:cNvSpPr/>
          <p:nvPr/>
        </p:nvSpPr>
        <p:spPr>
          <a:xfrm>
            <a:off x="4696325" y="1402991"/>
            <a:ext cx="3907200" cy="5326200"/>
          </a:xfrm>
          <a:prstGeom prst="rect">
            <a:avLst/>
          </a:prstGeom>
          <a:solidFill>
            <a:schemeClr val="lt1"/>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A2F3E"/>
              </a:solidFill>
              <a:latin typeface="Arial"/>
              <a:ea typeface="Arial"/>
              <a:cs typeface="Arial"/>
              <a:sym typeface="Arial"/>
            </a:endParaRPr>
          </a:p>
        </p:txBody>
      </p:sp>
      <p:sp>
        <p:nvSpPr>
          <p:cNvPr id="149" name="Google Shape;149;p27"/>
          <p:cNvSpPr/>
          <p:nvPr/>
        </p:nvSpPr>
        <p:spPr>
          <a:xfrm>
            <a:off x="472500" y="1408641"/>
            <a:ext cx="3797100" cy="5326200"/>
          </a:xfrm>
          <a:prstGeom prst="rect">
            <a:avLst/>
          </a:prstGeom>
          <a:solidFill>
            <a:schemeClr val="lt1"/>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A2F3E"/>
              </a:solidFill>
              <a:latin typeface="Arial"/>
              <a:ea typeface="Arial"/>
              <a:cs typeface="Arial"/>
              <a:sym typeface="Arial"/>
            </a:endParaRPr>
          </a:p>
        </p:txBody>
      </p:sp>
      <p:sp>
        <p:nvSpPr>
          <p:cNvPr id="150" name="Google Shape;150;p27"/>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Related Phenomena - Other Collisions</a:t>
            </a:r>
            <a:endParaRPr b="0" i="0" sz="3200" u="none" cap="none" strike="noStrike">
              <a:solidFill>
                <a:srgbClr val="FFFFFF"/>
              </a:solidFill>
              <a:latin typeface="Boogaloo"/>
              <a:ea typeface="Boogaloo"/>
              <a:cs typeface="Boogaloo"/>
              <a:sym typeface="Boogaloo"/>
            </a:endParaRPr>
          </a:p>
        </p:txBody>
      </p:sp>
      <p:sp>
        <p:nvSpPr>
          <p:cNvPr id="151" name="Google Shape;151;p27"/>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E</a:t>
            </a:r>
            <a:r>
              <a:rPr b="1" i="0" lang="en" sz="1800" u="none" cap="none" strike="noStrike">
                <a:solidFill>
                  <a:srgbClr val="9A2F3E"/>
                </a:solidFill>
                <a:latin typeface="Boogaloo"/>
                <a:ea typeface="Boogaloo"/>
                <a:cs typeface="Boogaloo"/>
                <a:sym typeface="Boogaloo"/>
              </a:rPr>
              <a:t> </a:t>
            </a:r>
            <a:endParaRPr b="0" i="0" sz="1800" u="none" cap="none" strike="noStrike">
              <a:solidFill>
                <a:srgbClr val="9A2F3E"/>
              </a:solidFill>
              <a:latin typeface="Boogaloo"/>
              <a:ea typeface="Boogaloo"/>
              <a:cs typeface="Boogaloo"/>
              <a:sym typeface="Boogaloo"/>
            </a:endParaRPr>
          </a:p>
        </p:txBody>
      </p:sp>
      <p:grpSp>
        <p:nvGrpSpPr>
          <p:cNvPr id="152" name="Google Shape;152;p27"/>
          <p:cNvGrpSpPr/>
          <p:nvPr/>
        </p:nvGrpSpPr>
        <p:grpSpPr>
          <a:xfrm>
            <a:off x="4838775" y="1479191"/>
            <a:ext cx="3587187" cy="5127950"/>
            <a:chOff x="647775" y="1432050"/>
            <a:chExt cx="3587187" cy="5127950"/>
          </a:xfrm>
        </p:grpSpPr>
        <p:sp>
          <p:nvSpPr>
            <p:cNvPr id="153" name="Google Shape;153;p27"/>
            <p:cNvSpPr txBox="1"/>
            <p:nvPr/>
          </p:nvSpPr>
          <p:spPr>
            <a:xfrm>
              <a:off x="759125" y="4687725"/>
              <a:ext cx="1688100" cy="73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motionless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first</a:t>
              </a:r>
              <a:endParaRPr b="0" i="0" sz="1400" u="none" cap="none" strike="noStrike">
                <a:solidFill>
                  <a:srgbClr val="000000"/>
                </a:solidFill>
                <a:latin typeface="Arial"/>
                <a:ea typeface="Arial"/>
                <a:cs typeface="Arial"/>
                <a:sym typeface="Arial"/>
              </a:endParaRPr>
            </a:p>
          </p:txBody>
        </p:sp>
        <p:sp>
          <p:nvSpPr>
            <p:cNvPr id="154" name="Google Shape;154;p27"/>
            <p:cNvSpPr txBox="1"/>
            <p:nvPr/>
          </p:nvSpPr>
          <p:spPr>
            <a:xfrm>
              <a:off x="2140835" y="4349681"/>
              <a:ext cx="470700" cy="30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674EA7"/>
                  </a:solidFill>
                  <a:latin typeface="Arial"/>
                  <a:ea typeface="Arial"/>
                  <a:cs typeface="Arial"/>
                  <a:sym typeface="Arial"/>
                </a:rPr>
                <a:t>B</a:t>
              </a:r>
              <a:endParaRPr b="1" i="0" sz="2400" u="none" cap="none" strike="noStrike">
                <a:solidFill>
                  <a:srgbClr val="674EA7"/>
                </a:solidFill>
                <a:latin typeface="Arial"/>
                <a:ea typeface="Arial"/>
                <a:cs typeface="Arial"/>
                <a:sym typeface="Arial"/>
              </a:endParaRPr>
            </a:p>
          </p:txBody>
        </p:sp>
        <p:cxnSp>
          <p:nvCxnSpPr>
            <p:cNvPr id="155" name="Google Shape;155;p27"/>
            <p:cNvCxnSpPr/>
            <p:nvPr/>
          </p:nvCxnSpPr>
          <p:spPr>
            <a:xfrm rot="10800000">
              <a:off x="3763962" y="4242064"/>
              <a:ext cx="394800" cy="0"/>
            </a:xfrm>
            <a:prstGeom prst="straightConnector1">
              <a:avLst/>
            </a:prstGeom>
            <a:noFill/>
            <a:ln cap="flat" cmpd="sng" w="19050">
              <a:solidFill>
                <a:srgbClr val="000000"/>
              </a:solidFill>
              <a:prstDash val="solid"/>
              <a:round/>
              <a:headEnd len="sm" w="sm" type="none"/>
              <a:tailEnd len="sm" w="sm" type="none"/>
            </a:ln>
          </p:spPr>
        </p:cxnSp>
        <p:cxnSp>
          <p:nvCxnSpPr>
            <p:cNvPr id="156" name="Google Shape;156;p27"/>
            <p:cNvCxnSpPr/>
            <p:nvPr/>
          </p:nvCxnSpPr>
          <p:spPr>
            <a:xfrm rot="10800000">
              <a:off x="3763962" y="4631712"/>
              <a:ext cx="394800" cy="0"/>
            </a:xfrm>
            <a:prstGeom prst="straightConnector1">
              <a:avLst/>
            </a:prstGeom>
            <a:noFill/>
            <a:ln cap="flat" cmpd="sng" w="19050">
              <a:solidFill>
                <a:srgbClr val="000000"/>
              </a:solidFill>
              <a:prstDash val="solid"/>
              <a:round/>
              <a:headEnd len="sm" w="sm" type="none"/>
              <a:tailEnd len="sm" w="sm" type="none"/>
            </a:ln>
          </p:spPr>
        </p:cxnSp>
        <p:sp>
          <p:nvSpPr>
            <p:cNvPr id="157" name="Google Shape;157;p27"/>
            <p:cNvSpPr/>
            <p:nvPr/>
          </p:nvSpPr>
          <p:spPr>
            <a:xfrm>
              <a:off x="1299160" y="4173070"/>
              <a:ext cx="615300" cy="5076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27"/>
            <p:cNvSpPr/>
            <p:nvPr/>
          </p:nvSpPr>
          <p:spPr>
            <a:xfrm>
              <a:off x="3021875" y="4203857"/>
              <a:ext cx="615300" cy="5076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27"/>
            <p:cNvSpPr txBox="1"/>
            <p:nvPr/>
          </p:nvSpPr>
          <p:spPr>
            <a:xfrm>
              <a:off x="2140835" y="5605976"/>
              <a:ext cx="470700" cy="30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6AA84F"/>
                  </a:solidFill>
                  <a:latin typeface="Arial"/>
                  <a:ea typeface="Arial"/>
                  <a:cs typeface="Arial"/>
                  <a:sym typeface="Arial"/>
                </a:rPr>
                <a:t>C</a:t>
              </a:r>
              <a:endParaRPr b="1" i="0" sz="2400" u="none" cap="none" strike="noStrike">
                <a:solidFill>
                  <a:srgbClr val="6AA84F"/>
                </a:solidFill>
                <a:latin typeface="Arial"/>
                <a:ea typeface="Arial"/>
                <a:cs typeface="Arial"/>
                <a:sym typeface="Arial"/>
              </a:endParaRPr>
            </a:p>
          </p:txBody>
        </p:sp>
        <p:cxnSp>
          <p:nvCxnSpPr>
            <p:cNvPr id="160" name="Google Shape;160;p27"/>
            <p:cNvCxnSpPr/>
            <p:nvPr/>
          </p:nvCxnSpPr>
          <p:spPr>
            <a:xfrm rot="10800000">
              <a:off x="3763962" y="5624474"/>
              <a:ext cx="394800" cy="0"/>
            </a:xfrm>
            <a:prstGeom prst="straightConnector1">
              <a:avLst/>
            </a:prstGeom>
            <a:noFill/>
            <a:ln cap="flat" cmpd="sng" w="19050">
              <a:solidFill>
                <a:srgbClr val="000000"/>
              </a:solidFill>
              <a:prstDash val="solid"/>
              <a:round/>
              <a:headEnd len="sm" w="sm" type="none"/>
              <a:tailEnd len="sm" w="sm" type="none"/>
            </a:ln>
          </p:spPr>
        </p:cxnSp>
        <p:cxnSp>
          <p:nvCxnSpPr>
            <p:cNvPr id="161" name="Google Shape;161;p27"/>
            <p:cNvCxnSpPr/>
            <p:nvPr/>
          </p:nvCxnSpPr>
          <p:spPr>
            <a:xfrm rot="10800000">
              <a:off x="3763962" y="5937922"/>
              <a:ext cx="394800" cy="0"/>
            </a:xfrm>
            <a:prstGeom prst="straightConnector1">
              <a:avLst/>
            </a:prstGeom>
            <a:noFill/>
            <a:ln cap="flat" cmpd="sng" w="19050">
              <a:solidFill>
                <a:srgbClr val="000000"/>
              </a:solidFill>
              <a:prstDash val="solid"/>
              <a:round/>
              <a:headEnd len="sm" w="sm" type="none"/>
              <a:tailEnd len="sm" w="sm" type="none"/>
            </a:ln>
          </p:spPr>
        </p:cxnSp>
        <p:sp>
          <p:nvSpPr>
            <p:cNvPr id="162" name="Google Shape;162;p27"/>
            <p:cNvSpPr/>
            <p:nvPr/>
          </p:nvSpPr>
          <p:spPr>
            <a:xfrm>
              <a:off x="1299160" y="5527470"/>
              <a:ext cx="615300" cy="5076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7"/>
            <p:cNvSpPr/>
            <p:nvPr/>
          </p:nvSpPr>
          <p:spPr>
            <a:xfrm>
              <a:off x="3066609" y="5555493"/>
              <a:ext cx="615300" cy="5076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4" name="Google Shape;164;p27"/>
            <p:cNvGrpSpPr/>
            <p:nvPr/>
          </p:nvGrpSpPr>
          <p:grpSpPr>
            <a:xfrm>
              <a:off x="841218" y="5688078"/>
              <a:ext cx="399444" cy="242042"/>
              <a:chOff x="541600" y="948450"/>
              <a:chExt cx="470100" cy="304800"/>
            </a:xfrm>
          </p:grpSpPr>
          <p:cxnSp>
            <p:nvCxnSpPr>
              <p:cNvPr id="165" name="Google Shape;165;p27"/>
              <p:cNvCxnSpPr/>
              <p:nvPr/>
            </p:nvCxnSpPr>
            <p:spPr>
              <a:xfrm>
                <a:off x="617800" y="948450"/>
                <a:ext cx="393900" cy="0"/>
              </a:xfrm>
              <a:prstGeom prst="straightConnector1">
                <a:avLst/>
              </a:prstGeom>
              <a:noFill/>
              <a:ln cap="flat" cmpd="sng" w="19050">
                <a:solidFill>
                  <a:srgbClr val="000000"/>
                </a:solidFill>
                <a:prstDash val="solid"/>
                <a:round/>
                <a:headEnd len="sm" w="sm" type="none"/>
                <a:tailEnd len="sm" w="sm" type="none"/>
              </a:ln>
            </p:spPr>
          </p:cxnSp>
          <p:cxnSp>
            <p:nvCxnSpPr>
              <p:cNvPr id="166" name="Google Shape;166;p27"/>
              <p:cNvCxnSpPr/>
              <p:nvPr/>
            </p:nvCxnSpPr>
            <p:spPr>
              <a:xfrm>
                <a:off x="541600" y="1100850"/>
                <a:ext cx="393900" cy="0"/>
              </a:xfrm>
              <a:prstGeom prst="straightConnector1">
                <a:avLst/>
              </a:prstGeom>
              <a:noFill/>
              <a:ln cap="flat" cmpd="sng" w="19050">
                <a:solidFill>
                  <a:srgbClr val="000000"/>
                </a:solidFill>
                <a:prstDash val="solid"/>
                <a:round/>
                <a:headEnd len="sm" w="sm" type="none"/>
                <a:tailEnd len="sm" w="sm" type="none"/>
              </a:ln>
            </p:spPr>
          </p:cxnSp>
          <p:cxnSp>
            <p:nvCxnSpPr>
              <p:cNvPr id="167" name="Google Shape;167;p27"/>
              <p:cNvCxnSpPr/>
              <p:nvPr/>
            </p:nvCxnSpPr>
            <p:spPr>
              <a:xfrm>
                <a:off x="617800" y="1253250"/>
                <a:ext cx="393900" cy="0"/>
              </a:xfrm>
              <a:prstGeom prst="straightConnector1">
                <a:avLst/>
              </a:prstGeom>
              <a:noFill/>
              <a:ln cap="flat" cmpd="sng" w="19050">
                <a:solidFill>
                  <a:srgbClr val="000000"/>
                </a:solidFill>
                <a:prstDash val="solid"/>
                <a:round/>
                <a:headEnd len="sm" w="sm" type="none"/>
                <a:tailEnd len="sm" w="sm" type="none"/>
              </a:ln>
            </p:spPr>
          </p:cxnSp>
        </p:grpSp>
        <p:sp>
          <p:nvSpPr>
            <p:cNvPr id="168" name="Google Shape;168;p27"/>
            <p:cNvSpPr txBox="1"/>
            <p:nvPr/>
          </p:nvSpPr>
          <p:spPr>
            <a:xfrm>
              <a:off x="962773" y="5991800"/>
              <a:ext cx="12267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moving at first</a:t>
              </a:r>
              <a:endParaRPr b="0" i="0" sz="1400" u="none" cap="none" strike="noStrike">
                <a:solidFill>
                  <a:srgbClr val="000000"/>
                </a:solidFill>
                <a:latin typeface="Arial"/>
                <a:ea typeface="Arial"/>
                <a:cs typeface="Arial"/>
                <a:sym typeface="Arial"/>
              </a:endParaRPr>
            </a:p>
          </p:txBody>
        </p:sp>
        <p:sp>
          <p:nvSpPr>
            <p:cNvPr id="169" name="Google Shape;169;p27"/>
            <p:cNvSpPr/>
            <p:nvPr/>
          </p:nvSpPr>
          <p:spPr>
            <a:xfrm>
              <a:off x="1299160" y="2917125"/>
              <a:ext cx="615300" cy="5076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7"/>
            <p:cNvSpPr/>
            <p:nvPr/>
          </p:nvSpPr>
          <p:spPr>
            <a:xfrm>
              <a:off x="3021875" y="2917125"/>
              <a:ext cx="615300" cy="5076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71" name="Google Shape;171;p27"/>
            <p:cNvCxnSpPr/>
            <p:nvPr/>
          </p:nvCxnSpPr>
          <p:spPr>
            <a:xfrm>
              <a:off x="882777" y="3007910"/>
              <a:ext cx="334800" cy="0"/>
            </a:xfrm>
            <a:prstGeom prst="straightConnector1">
              <a:avLst/>
            </a:prstGeom>
            <a:noFill/>
            <a:ln cap="flat" cmpd="sng" w="19050">
              <a:solidFill>
                <a:srgbClr val="000000"/>
              </a:solidFill>
              <a:prstDash val="solid"/>
              <a:round/>
              <a:headEnd len="sm" w="sm" type="none"/>
              <a:tailEnd len="sm" w="sm" type="none"/>
            </a:ln>
          </p:spPr>
        </p:cxnSp>
        <p:cxnSp>
          <p:nvCxnSpPr>
            <p:cNvPr id="172" name="Google Shape;172;p27"/>
            <p:cNvCxnSpPr/>
            <p:nvPr/>
          </p:nvCxnSpPr>
          <p:spPr>
            <a:xfrm>
              <a:off x="818036" y="3128948"/>
              <a:ext cx="334800" cy="0"/>
            </a:xfrm>
            <a:prstGeom prst="straightConnector1">
              <a:avLst/>
            </a:prstGeom>
            <a:noFill/>
            <a:ln cap="flat" cmpd="sng" w="19050">
              <a:solidFill>
                <a:srgbClr val="000000"/>
              </a:solidFill>
              <a:prstDash val="solid"/>
              <a:round/>
              <a:headEnd len="sm" w="sm" type="none"/>
              <a:tailEnd len="sm" w="sm" type="none"/>
            </a:ln>
          </p:spPr>
        </p:cxnSp>
        <p:cxnSp>
          <p:nvCxnSpPr>
            <p:cNvPr id="173" name="Google Shape;173;p27"/>
            <p:cNvCxnSpPr/>
            <p:nvPr/>
          </p:nvCxnSpPr>
          <p:spPr>
            <a:xfrm>
              <a:off x="882777" y="3249986"/>
              <a:ext cx="334800" cy="0"/>
            </a:xfrm>
            <a:prstGeom prst="straightConnector1">
              <a:avLst/>
            </a:prstGeom>
            <a:noFill/>
            <a:ln cap="flat" cmpd="sng" w="19050">
              <a:solidFill>
                <a:srgbClr val="000000"/>
              </a:solidFill>
              <a:prstDash val="solid"/>
              <a:round/>
              <a:headEnd len="sm" w="sm" type="none"/>
              <a:tailEnd len="sm" w="sm" type="none"/>
            </a:ln>
          </p:spPr>
        </p:cxnSp>
        <p:sp>
          <p:nvSpPr>
            <p:cNvPr id="174" name="Google Shape;174;p27"/>
            <p:cNvSpPr txBox="1"/>
            <p:nvPr/>
          </p:nvSpPr>
          <p:spPr>
            <a:xfrm>
              <a:off x="955975" y="3409300"/>
              <a:ext cx="12267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moving at first</a:t>
              </a:r>
              <a:endParaRPr b="0" i="0" sz="1400" u="none" cap="none" strike="noStrike">
                <a:solidFill>
                  <a:srgbClr val="000000"/>
                </a:solidFill>
                <a:latin typeface="Arial"/>
                <a:ea typeface="Arial"/>
                <a:cs typeface="Arial"/>
                <a:sym typeface="Arial"/>
              </a:endParaRPr>
            </a:p>
          </p:txBody>
        </p:sp>
        <p:sp>
          <p:nvSpPr>
            <p:cNvPr id="175" name="Google Shape;175;p27"/>
            <p:cNvSpPr txBox="1"/>
            <p:nvPr/>
          </p:nvSpPr>
          <p:spPr>
            <a:xfrm>
              <a:off x="2163705" y="3010497"/>
              <a:ext cx="425100" cy="237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E69138"/>
                  </a:solidFill>
                  <a:latin typeface="Arial"/>
                  <a:ea typeface="Arial"/>
                  <a:cs typeface="Arial"/>
                  <a:sym typeface="Arial"/>
                </a:rPr>
                <a:t>A</a:t>
              </a:r>
              <a:endParaRPr b="1" i="0" sz="2400" u="none" cap="none" strike="noStrike">
                <a:solidFill>
                  <a:srgbClr val="E69138"/>
                </a:solidFill>
                <a:latin typeface="Arial"/>
                <a:ea typeface="Arial"/>
                <a:cs typeface="Arial"/>
                <a:sym typeface="Arial"/>
              </a:endParaRPr>
            </a:p>
          </p:txBody>
        </p:sp>
        <p:cxnSp>
          <p:nvCxnSpPr>
            <p:cNvPr id="176" name="Google Shape;176;p27"/>
            <p:cNvCxnSpPr/>
            <p:nvPr/>
          </p:nvCxnSpPr>
          <p:spPr>
            <a:xfrm rot="10800000">
              <a:off x="3840162" y="5776874"/>
              <a:ext cx="394800" cy="0"/>
            </a:xfrm>
            <a:prstGeom prst="straightConnector1">
              <a:avLst/>
            </a:prstGeom>
            <a:noFill/>
            <a:ln cap="flat" cmpd="sng" w="19050">
              <a:solidFill>
                <a:srgbClr val="000000"/>
              </a:solidFill>
              <a:prstDash val="solid"/>
              <a:round/>
              <a:headEnd len="sm" w="sm" type="none"/>
              <a:tailEnd len="sm" w="sm" type="none"/>
            </a:ln>
          </p:spPr>
        </p:cxnSp>
        <p:cxnSp>
          <p:nvCxnSpPr>
            <p:cNvPr id="177" name="Google Shape;177;p27"/>
            <p:cNvCxnSpPr/>
            <p:nvPr/>
          </p:nvCxnSpPr>
          <p:spPr>
            <a:xfrm rot="10800000">
              <a:off x="3840162" y="4470664"/>
              <a:ext cx="394800" cy="0"/>
            </a:xfrm>
            <a:prstGeom prst="straightConnector1">
              <a:avLst/>
            </a:prstGeom>
            <a:noFill/>
            <a:ln cap="flat" cmpd="sng" w="19050">
              <a:solidFill>
                <a:srgbClr val="000000"/>
              </a:solidFill>
              <a:prstDash val="solid"/>
              <a:round/>
              <a:headEnd len="sm" w="sm" type="none"/>
              <a:tailEnd len="sm" w="sm" type="none"/>
            </a:ln>
          </p:spPr>
        </p:cxnSp>
        <p:sp>
          <p:nvSpPr>
            <p:cNvPr id="178" name="Google Shape;178;p27"/>
            <p:cNvSpPr txBox="1"/>
            <p:nvPr/>
          </p:nvSpPr>
          <p:spPr>
            <a:xfrm>
              <a:off x="647775" y="1432050"/>
              <a:ext cx="1856700" cy="82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The object that was damaged OR that you were surprised wasn’t damaged</a:t>
              </a:r>
              <a:endParaRPr b="0" i="0" sz="1400" u="none" cap="none" strike="noStrike">
                <a:solidFill>
                  <a:srgbClr val="000000"/>
                </a:solidFill>
                <a:latin typeface="Arial"/>
                <a:ea typeface="Arial"/>
                <a:cs typeface="Arial"/>
                <a:sym typeface="Arial"/>
              </a:endParaRPr>
            </a:p>
          </p:txBody>
        </p:sp>
        <p:sp>
          <p:nvSpPr>
            <p:cNvPr id="179" name="Google Shape;179;p27"/>
            <p:cNvSpPr/>
            <p:nvPr/>
          </p:nvSpPr>
          <p:spPr>
            <a:xfrm>
              <a:off x="1433125" y="2531738"/>
              <a:ext cx="272400" cy="242100"/>
            </a:xfrm>
            <a:prstGeom prst="down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27"/>
            <p:cNvSpPr txBox="1"/>
            <p:nvPr/>
          </p:nvSpPr>
          <p:spPr>
            <a:xfrm>
              <a:off x="2777025" y="1802588"/>
              <a:ext cx="11034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The other object </a:t>
              </a:r>
              <a:endParaRPr b="0" i="0" sz="1400" u="none" cap="none" strike="noStrike">
                <a:solidFill>
                  <a:srgbClr val="000000"/>
                </a:solidFill>
                <a:latin typeface="Arial"/>
                <a:ea typeface="Arial"/>
                <a:cs typeface="Arial"/>
                <a:sym typeface="Arial"/>
              </a:endParaRPr>
            </a:p>
          </p:txBody>
        </p:sp>
        <p:sp>
          <p:nvSpPr>
            <p:cNvPr id="181" name="Google Shape;181;p27"/>
            <p:cNvSpPr/>
            <p:nvPr/>
          </p:nvSpPr>
          <p:spPr>
            <a:xfrm>
              <a:off x="3214963" y="2531738"/>
              <a:ext cx="272400" cy="242100"/>
            </a:xfrm>
            <a:prstGeom prst="downArrow">
              <a:avLst>
                <a:gd fmla="val 50000" name="adj1"/>
                <a:gd fmla="val 50000" name="adj2"/>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27"/>
            <p:cNvSpPr txBox="1"/>
            <p:nvPr/>
          </p:nvSpPr>
          <p:spPr>
            <a:xfrm>
              <a:off x="2485475" y="3396125"/>
              <a:ext cx="1688100" cy="73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motionless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first</a:t>
              </a:r>
              <a:endParaRPr b="0" i="0" sz="1400" u="none" cap="none" strike="noStrike">
                <a:solidFill>
                  <a:srgbClr val="000000"/>
                </a:solidFill>
                <a:latin typeface="Arial"/>
                <a:ea typeface="Arial"/>
                <a:cs typeface="Arial"/>
                <a:sym typeface="Arial"/>
              </a:endParaRPr>
            </a:p>
          </p:txBody>
        </p:sp>
        <p:sp>
          <p:nvSpPr>
            <p:cNvPr id="183" name="Google Shape;183;p27"/>
            <p:cNvSpPr txBox="1"/>
            <p:nvPr/>
          </p:nvSpPr>
          <p:spPr>
            <a:xfrm>
              <a:off x="2715373" y="5991800"/>
              <a:ext cx="12267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moving at first</a:t>
              </a:r>
              <a:endParaRPr b="0" i="0" sz="1400" u="none" cap="none" strike="noStrike">
                <a:solidFill>
                  <a:srgbClr val="000000"/>
                </a:solidFill>
                <a:latin typeface="Arial"/>
                <a:ea typeface="Arial"/>
                <a:cs typeface="Arial"/>
                <a:sym typeface="Arial"/>
              </a:endParaRPr>
            </a:p>
          </p:txBody>
        </p:sp>
        <p:sp>
          <p:nvSpPr>
            <p:cNvPr id="184" name="Google Shape;184;p27"/>
            <p:cNvSpPr txBox="1"/>
            <p:nvPr/>
          </p:nvSpPr>
          <p:spPr>
            <a:xfrm>
              <a:off x="2732763" y="4690888"/>
              <a:ext cx="12267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moving at first</a:t>
              </a:r>
              <a:endParaRPr b="0" i="0" sz="1400" u="none" cap="none" strike="noStrike">
                <a:solidFill>
                  <a:srgbClr val="000000"/>
                </a:solidFill>
                <a:latin typeface="Arial"/>
                <a:ea typeface="Arial"/>
                <a:cs typeface="Arial"/>
                <a:sym typeface="Arial"/>
              </a:endParaRPr>
            </a:p>
          </p:txBody>
        </p:sp>
      </p:grpSp>
      <p:pic>
        <p:nvPicPr>
          <p:cNvPr descr="With a partner icon" id="185" name="Google Shape;185;p27"/>
          <p:cNvPicPr preferRelativeResize="0"/>
          <p:nvPr/>
        </p:nvPicPr>
        <p:blipFill rotWithShape="1">
          <a:blip r:embed="rId3">
            <a:alphaModFix/>
          </a:blip>
          <a:srcRect b="0" l="0" r="0" t="0"/>
          <a:stretch/>
        </p:blipFill>
        <p:spPr>
          <a:xfrm>
            <a:off x="689400" y="1945116"/>
            <a:ext cx="879950" cy="1030975"/>
          </a:xfrm>
          <a:prstGeom prst="rect">
            <a:avLst/>
          </a:prstGeom>
          <a:noFill/>
          <a:ln>
            <a:noFill/>
          </a:ln>
        </p:spPr>
      </p:pic>
      <p:grpSp>
        <p:nvGrpSpPr>
          <p:cNvPr id="186" name="Google Shape;186;p27"/>
          <p:cNvGrpSpPr/>
          <p:nvPr/>
        </p:nvGrpSpPr>
        <p:grpSpPr>
          <a:xfrm>
            <a:off x="716275" y="1865041"/>
            <a:ext cx="3383700" cy="3517809"/>
            <a:chOff x="5234975" y="1918750"/>
            <a:chExt cx="3383700" cy="3517809"/>
          </a:xfrm>
        </p:grpSpPr>
        <p:sp>
          <p:nvSpPr>
            <p:cNvPr id="187" name="Google Shape;187;p27"/>
            <p:cNvSpPr txBox="1"/>
            <p:nvPr/>
          </p:nvSpPr>
          <p:spPr>
            <a:xfrm>
              <a:off x="5234975" y="3060859"/>
              <a:ext cx="3383700" cy="237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t/>
              </a:r>
              <a:endParaRPr b="1" i="0" sz="2500" u="none" cap="none" strike="noStrike">
                <a:solidFill>
                  <a:srgbClr val="9A2F3E"/>
                </a:solidFill>
                <a:latin typeface="Boogaloo"/>
                <a:ea typeface="Boogaloo"/>
                <a:cs typeface="Boogaloo"/>
                <a:sym typeface="Boogaloo"/>
              </a:endParaRPr>
            </a:p>
            <a:p>
              <a:pPr indent="0" lvl="0" marL="0" marR="0" rtl="0" algn="l">
                <a:lnSpc>
                  <a:spcPct val="100000"/>
                </a:lnSpc>
                <a:spcBef>
                  <a:spcPts val="0"/>
                </a:spcBef>
                <a:spcAft>
                  <a:spcPts val="0"/>
                </a:spcAft>
                <a:buClr>
                  <a:schemeClr val="dk1"/>
                </a:buClr>
                <a:buSzPts val="1100"/>
                <a:buFont typeface="Arial"/>
                <a:buNone/>
              </a:pPr>
              <a:r>
                <a:rPr b="0" i="0" lang="en" sz="2400" u="none" cap="none" strike="noStrike">
                  <a:solidFill>
                    <a:srgbClr val="9A2F3E"/>
                  </a:solidFill>
                  <a:latin typeface="Cabin Condensed"/>
                  <a:ea typeface="Cabin Condensed"/>
                  <a:cs typeface="Cabin Condensed"/>
                  <a:sym typeface="Cabin Condensed"/>
                </a:rPr>
                <a:t>Are your collisions examples of scenario A, B, or C? </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chemeClr val="dk1"/>
                </a:buClr>
                <a:buSzPts val="1100"/>
                <a:buFont typeface="Arial"/>
                <a:buNone/>
              </a:pPr>
              <a:r>
                <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chemeClr val="dk1"/>
                </a:buClr>
                <a:buSzPts val="1100"/>
                <a:buFont typeface="Arial"/>
                <a:buNone/>
              </a:pPr>
              <a:r>
                <a:rPr b="0" i="0" lang="en" sz="2400" u="none" cap="none" strike="noStrike">
                  <a:solidFill>
                    <a:srgbClr val="9A2F3E"/>
                  </a:solidFill>
                  <a:latin typeface="Cabin Condensed"/>
                  <a:ea typeface="Cabin Condensed"/>
                  <a:cs typeface="Cabin Condensed"/>
                  <a:sym typeface="Cabin Condensed"/>
                </a:rPr>
                <a:t>Label each of your red and green cards “A”, “B”, or “C”.</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oogaloo"/>
                <a:ea typeface="Boogaloo"/>
                <a:cs typeface="Boogaloo"/>
                <a:sym typeface="Boogaloo"/>
              </a:endParaRPr>
            </a:p>
          </p:txBody>
        </p:sp>
        <p:sp>
          <p:nvSpPr>
            <p:cNvPr id="188" name="Google Shape;188;p27"/>
            <p:cNvSpPr txBox="1"/>
            <p:nvPr/>
          </p:nvSpPr>
          <p:spPr>
            <a:xfrm>
              <a:off x="6220200" y="1918750"/>
              <a:ext cx="2108400" cy="991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Categorizing Examples</a:t>
              </a:r>
              <a:endParaRPr b="0" i="0" sz="3000" u="none" cap="none" strike="noStrike">
                <a:solidFill>
                  <a:srgbClr val="9A2F3E"/>
                </a:solidFill>
                <a:latin typeface="Boogaloo"/>
                <a:ea typeface="Boogaloo"/>
                <a:cs typeface="Boogaloo"/>
                <a:sym typeface="Boogaloo"/>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92" name="Shape 192"/>
        <p:cNvGrpSpPr/>
        <p:nvPr/>
      </p:nvGrpSpPr>
      <p:grpSpPr>
        <a:xfrm>
          <a:off x="0" y="0"/>
          <a:ext cx="0" cy="0"/>
          <a:chOff x="0" y="0"/>
          <a:chExt cx="0" cy="0"/>
        </a:xfrm>
      </p:grpSpPr>
      <p:sp>
        <p:nvSpPr>
          <p:cNvPr descr="A flowchart comparing object movement scenarios. Column A: object moving at first, other object motionless. Column B: both motionless at first. Column C: both moving at first. The chart explores surprise at damage or lack thereof." id="193" name="Google Shape;193;p28"/>
          <p:cNvSpPr/>
          <p:nvPr/>
        </p:nvSpPr>
        <p:spPr>
          <a:xfrm>
            <a:off x="4696325" y="1403233"/>
            <a:ext cx="3907200" cy="5326200"/>
          </a:xfrm>
          <a:prstGeom prst="rect">
            <a:avLst/>
          </a:prstGeom>
          <a:solidFill>
            <a:schemeClr val="lt1"/>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A2F3E"/>
              </a:solidFill>
              <a:latin typeface="Arial"/>
              <a:ea typeface="Arial"/>
              <a:cs typeface="Arial"/>
              <a:sym typeface="Arial"/>
            </a:endParaRPr>
          </a:p>
        </p:txBody>
      </p:sp>
      <p:sp>
        <p:nvSpPr>
          <p:cNvPr id="194" name="Google Shape;194;p28"/>
          <p:cNvSpPr/>
          <p:nvPr/>
        </p:nvSpPr>
        <p:spPr>
          <a:xfrm>
            <a:off x="472500" y="1409125"/>
            <a:ext cx="4068600" cy="5326200"/>
          </a:xfrm>
          <a:prstGeom prst="rect">
            <a:avLst/>
          </a:prstGeom>
          <a:solidFill>
            <a:schemeClr val="lt1"/>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A2F3E"/>
              </a:solidFill>
              <a:latin typeface="Arial"/>
              <a:ea typeface="Arial"/>
              <a:cs typeface="Arial"/>
              <a:sym typeface="Arial"/>
            </a:endParaRPr>
          </a:p>
        </p:txBody>
      </p:sp>
      <p:sp>
        <p:nvSpPr>
          <p:cNvPr id="195" name="Google Shape;195;p28"/>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Related Phenomena - Other Collisions</a:t>
            </a:r>
            <a:endParaRPr b="0" i="0" sz="3200" u="none" cap="none" strike="noStrike">
              <a:solidFill>
                <a:srgbClr val="FFFFFF"/>
              </a:solidFill>
              <a:latin typeface="Boogaloo"/>
              <a:ea typeface="Boogaloo"/>
              <a:cs typeface="Boogaloo"/>
              <a:sym typeface="Boogaloo"/>
            </a:endParaRPr>
          </a:p>
        </p:txBody>
      </p:sp>
      <p:sp>
        <p:nvSpPr>
          <p:cNvPr id="196" name="Google Shape;196;p28"/>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F </a:t>
            </a:r>
            <a:endParaRPr b="0" i="0" sz="1800" u="none" cap="none" strike="noStrike">
              <a:solidFill>
                <a:srgbClr val="9A2F3E"/>
              </a:solidFill>
              <a:latin typeface="Boogaloo"/>
              <a:ea typeface="Boogaloo"/>
              <a:cs typeface="Boogaloo"/>
              <a:sym typeface="Boogaloo"/>
            </a:endParaRPr>
          </a:p>
        </p:txBody>
      </p:sp>
      <p:grpSp>
        <p:nvGrpSpPr>
          <p:cNvPr id="197" name="Google Shape;197;p28"/>
          <p:cNvGrpSpPr/>
          <p:nvPr/>
        </p:nvGrpSpPr>
        <p:grpSpPr>
          <a:xfrm>
            <a:off x="4838775" y="1508250"/>
            <a:ext cx="3587187" cy="5127950"/>
            <a:chOff x="647775" y="1432050"/>
            <a:chExt cx="3587187" cy="5127950"/>
          </a:xfrm>
        </p:grpSpPr>
        <p:sp>
          <p:nvSpPr>
            <p:cNvPr id="198" name="Google Shape;198;p28"/>
            <p:cNvSpPr txBox="1"/>
            <p:nvPr/>
          </p:nvSpPr>
          <p:spPr>
            <a:xfrm>
              <a:off x="759125" y="4687725"/>
              <a:ext cx="1688100" cy="73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motionless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first</a:t>
              </a:r>
              <a:endParaRPr b="0" i="0" sz="1400" u="none" cap="none" strike="noStrike">
                <a:solidFill>
                  <a:srgbClr val="000000"/>
                </a:solidFill>
                <a:latin typeface="Arial"/>
                <a:ea typeface="Arial"/>
                <a:cs typeface="Arial"/>
                <a:sym typeface="Arial"/>
              </a:endParaRPr>
            </a:p>
          </p:txBody>
        </p:sp>
        <p:sp>
          <p:nvSpPr>
            <p:cNvPr id="199" name="Google Shape;199;p28"/>
            <p:cNvSpPr txBox="1"/>
            <p:nvPr/>
          </p:nvSpPr>
          <p:spPr>
            <a:xfrm>
              <a:off x="2140835" y="4349681"/>
              <a:ext cx="470700" cy="30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674EA7"/>
                  </a:solidFill>
                  <a:latin typeface="Arial"/>
                  <a:ea typeface="Arial"/>
                  <a:cs typeface="Arial"/>
                  <a:sym typeface="Arial"/>
                </a:rPr>
                <a:t>B</a:t>
              </a:r>
              <a:endParaRPr b="1" i="0" sz="2400" u="none" cap="none" strike="noStrike">
                <a:solidFill>
                  <a:srgbClr val="674EA7"/>
                </a:solidFill>
                <a:latin typeface="Arial"/>
                <a:ea typeface="Arial"/>
                <a:cs typeface="Arial"/>
                <a:sym typeface="Arial"/>
              </a:endParaRPr>
            </a:p>
          </p:txBody>
        </p:sp>
        <p:cxnSp>
          <p:nvCxnSpPr>
            <p:cNvPr id="200" name="Google Shape;200;p28"/>
            <p:cNvCxnSpPr/>
            <p:nvPr/>
          </p:nvCxnSpPr>
          <p:spPr>
            <a:xfrm rot="10800000">
              <a:off x="3763962" y="4242064"/>
              <a:ext cx="394800" cy="0"/>
            </a:xfrm>
            <a:prstGeom prst="straightConnector1">
              <a:avLst/>
            </a:prstGeom>
            <a:noFill/>
            <a:ln cap="flat" cmpd="sng" w="19050">
              <a:solidFill>
                <a:srgbClr val="000000"/>
              </a:solidFill>
              <a:prstDash val="solid"/>
              <a:round/>
              <a:headEnd len="sm" w="sm" type="none"/>
              <a:tailEnd len="sm" w="sm" type="none"/>
            </a:ln>
          </p:spPr>
        </p:cxnSp>
        <p:cxnSp>
          <p:nvCxnSpPr>
            <p:cNvPr id="201" name="Google Shape;201;p28"/>
            <p:cNvCxnSpPr/>
            <p:nvPr/>
          </p:nvCxnSpPr>
          <p:spPr>
            <a:xfrm rot="10800000">
              <a:off x="3763962" y="4631712"/>
              <a:ext cx="394800" cy="0"/>
            </a:xfrm>
            <a:prstGeom prst="straightConnector1">
              <a:avLst/>
            </a:prstGeom>
            <a:noFill/>
            <a:ln cap="flat" cmpd="sng" w="19050">
              <a:solidFill>
                <a:srgbClr val="000000"/>
              </a:solidFill>
              <a:prstDash val="solid"/>
              <a:round/>
              <a:headEnd len="sm" w="sm" type="none"/>
              <a:tailEnd len="sm" w="sm" type="none"/>
            </a:ln>
          </p:spPr>
        </p:cxnSp>
        <p:sp>
          <p:nvSpPr>
            <p:cNvPr id="202" name="Google Shape;202;p28"/>
            <p:cNvSpPr/>
            <p:nvPr/>
          </p:nvSpPr>
          <p:spPr>
            <a:xfrm>
              <a:off x="1299160" y="4173070"/>
              <a:ext cx="615300" cy="5076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28"/>
            <p:cNvSpPr/>
            <p:nvPr/>
          </p:nvSpPr>
          <p:spPr>
            <a:xfrm>
              <a:off x="3021875" y="4203857"/>
              <a:ext cx="615300" cy="5076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28"/>
            <p:cNvSpPr txBox="1"/>
            <p:nvPr/>
          </p:nvSpPr>
          <p:spPr>
            <a:xfrm>
              <a:off x="2140835" y="5605976"/>
              <a:ext cx="470700" cy="30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6AA84F"/>
                  </a:solidFill>
                  <a:latin typeface="Arial"/>
                  <a:ea typeface="Arial"/>
                  <a:cs typeface="Arial"/>
                  <a:sym typeface="Arial"/>
                </a:rPr>
                <a:t>C</a:t>
              </a:r>
              <a:endParaRPr b="1" i="0" sz="2400" u="none" cap="none" strike="noStrike">
                <a:solidFill>
                  <a:srgbClr val="6AA84F"/>
                </a:solidFill>
                <a:latin typeface="Arial"/>
                <a:ea typeface="Arial"/>
                <a:cs typeface="Arial"/>
                <a:sym typeface="Arial"/>
              </a:endParaRPr>
            </a:p>
          </p:txBody>
        </p:sp>
        <p:cxnSp>
          <p:nvCxnSpPr>
            <p:cNvPr id="205" name="Google Shape;205;p28"/>
            <p:cNvCxnSpPr/>
            <p:nvPr/>
          </p:nvCxnSpPr>
          <p:spPr>
            <a:xfrm rot="10800000">
              <a:off x="3763962" y="5624474"/>
              <a:ext cx="394800" cy="0"/>
            </a:xfrm>
            <a:prstGeom prst="straightConnector1">
              <a:avLst/>
            </a:prstGeom>
            <a:noFill/>
            <a:ln cap="flat" cmpd="sng" w="19050">
              <a:solidFill>
                <a:srgbClr val="000000"/>
              </a:solidFill>
              <a:prstDash val="solid"/>
              <a:round/>
              <a:headEnd len="sm" w="sm" type="none"/>
              <a:tailEnd len="sm" w="sm" type="none"/>
            </a:ln>
          </p:spPr>
        </p:cxnSp>
        <p:cxnSp>
          <p:nvCxnSpPr>
            <p:cNvPr id="206" name="Google Shape;206;p28"/>
            <p:cNvCxnSpPr/>
            <p:nvPr/>
          </p:nvCxnSpPr>
          <p:spPr>
            <a:xfrm rot="10800000">
              <a:off x="3763962" y="5937922"/>
              <a:ext cx="394800" cy="0"/>
            </a:xfrm>
            <a:prstGeom prst="straightConnector1">
              <a:avLst/>
            </a:prstGeom>
            <a:noFill/>
            <a:ln cap="flat" cmpd="sng" w="19050">
              <a:solidFill>
                <a:srgbClr val="000000"/>
              </a:solidFill>
              <a:prstDash val="solid"/>
              <a:round/>
              <a:headEnd len="sm" w="sm" type="none"/>
              <a:tailEnd len="sm" w="sm" type="none"/>
            </a:ln>
          </p:spPr>
        </p:cxnSp>
        <p:sp>
          <p:nvSpPr>
            <p:cNvPr id="207" name="Google Shape;207;p28"/>
            <p:cNvSpPr/>
            <p:nvPr/>
          </p:nvSpPr>
          <p:spPr>
            <a:xfrm>
              <a:off x="1299160" y="5527470"/>
              <a:ext cx="615300" cy="5076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28"/>
            <p:cNvSpPr/>
            <p:nvPr/>
          </p:nvSpPr>
          <p:spPr>
            <a:xfrm>
              <a:off x="3066609" y="5555493"/>
              <a:ext cx="615300" cy="5076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9" name="Google Shape;209;p28"/>
            <p:cNvGrpSpPr/>
            <p:nvPr/>
          </p:nvGrpSpPr>
          <p:grpSpPr>
            <a:xfrm>
              <a:off x="841218" y="5688078"/>
              <a:ext cx="399444" cy="242042"/>
              <a:chOff x="541600" y="948450"/>
              <a:chExt cx="470100" cy="304800"/>
            </a:xfrm>
          </p:grpSpPr>
          <p:cxnSp>
            <p:nvCxnSpPr>
              <p:cNvPr id="210" name="Google Shape;210;p28"/>
              <p:cNvCxnSpPr/>
              <p:nvPr/>
            </p:nvCxnSpPr>
            <p:spPr>
              <a:xfrm>
                <a:off x="617800" y="948450"/>
                <a:ext cx="393900" cy="0"/>
              </a:xfrm>
              <a:prstGeom prst="straightConnector1">
                <a:avLst/>
              </a:prstGeom>
              <a:noFill/>
              <a:ln cap="flat" cmpd="sng" w="19050">
                <a:solidFill>
                  <a:srgbClr val="000000"/>
                </a:solidFill>
                <a:prstDash val="solid"/>
                <a:round/>
                <a:headEnd len="sm" w="sm" type="none"/>
                <a:tailEnd len="sm" w="sm" type="none"/>
              </a:ln>
            </p:spPr>
          </p:cxnSp>
          <p:cxnSp>
            <p:nvCxnSpPr>
              <p:cNvPr id="211" name="Google Shape;211;p28"/>
              <p:cNvCxnSpPr/>
              <p:nvPr/>
            </p:nvCxnSpPr>
            <p:spPr>
              <a:xfrm>
                <a:off x="541600" y="1100850"/>
                <a:ext cx="393900" cy="0"/>
              </a:xfrm>
              <a:prstGeom prst="straightConnector1">
                <a:avLst/>
              </a:prstGeom>
              <a:noFill/>
              <a:ln cap="flat" cmpd="sng" w="19050">
                <a:solidFill>
                  <a:srgbClr val="000000"/>
                </a:solidFill>
                <a:prstDash val="solid"/>
                <a:round/>
                <a:headEnd len="sm" w="sm" type="none"/>
                <a:tailEnd len="sm" w="sm" type="none"/>
              </a:ln>
            </p:spPr>
          </p:cxnSp>
          <p:cxnSp>
            <p:nvCxnSpPr>
              <p:cNvPr id="212" name="Google Shape;212;p28"/>
              <p:cNvCxnSpPr/>
              <p:nvPr/>
            </p:nvCxnSpPr>
            <p:spPr>
              <a:xfrm>
                <a:off x="617800" y="1253250"/>
                <a:ext cx="393900" cy="0"/>
              </a:xfrm>
              <a:prstGeom prst="straightConnector1">
                <a:avLst/>
              </a:prstGeom>
              <a:noFill/>
              <a:ln cap="flat" cmpd="sng" w="19050">
                <a:solidFill>
                  <a:srgbClr val="000000"/>
                </a:solidFill>
                <a:prstDash val="solid"/>
                <a:round/>
                <a:headEnd len="sm" w="sm" type="none"/>
                <a:tailEnd len="sm" w="sm" type="none"/>
              </a:ln>
            </p:spPr>
          </p:cxnSp>
        </p:grpSp>
        <p:sp>
          <p:nvSpPr>
            <p:cNvPr id="213" name="Google Shape;213;p28"/>
            <p:cNvSpPr txBox="1"/>
            <p:nvPr/>
          </p:nvSpPr>
          <p:spPr>
            <a:xfrm>
              <a:off x="962773" y="5991800"/>
              <a:ext cx="12267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moving at first</a:t>
              </a:r>
              <a:endParaRPr b="0" i="0" sz="1400" u="none" cap="none" strike="noStrike">
                <a:solidFill>
                  <a:srgbClr val="000000"/>
                </a:solidFill>
                <a:latin typeface="Arial"/>
                <a:ea typeface="Arial"/>
                <a:cs typeface="Arial"/>
                <a:sym typeface="Arial"/>
              </a:endParaRPr>
            </a:p>
          </p:txBody>
        </p:sp>
        <p:sp>
          <p:nvSpPr>
            <p:cNvPr id="214" name="Google Shape;214;p28"/>
            <p:cNvSpPr/>
            <p:nvPr/>
          </p:nvSpPr>
          <p:spPr>
            <a:xfrm>
              <a:off x="1299160" y="2917125"/>
              <a:ext cx="615300" cy="5076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28"/>
            <p:cNvSpPr/>
            <p:nvPr/>
          </p:nvSpPr>
          <p:spPr>
            <a:xfrm>
              <a:off x="3021875" y="2917125"/>
              <a:ext cx="615300" cy="5076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16" name="Google Shape;216;p28"/>
            <p:cNvCxnSpPr/>
            <p:nvPr/>
          </p:nvCxnSpPr>
          <p:spPr>
            <a:xfrm>
              <a:off x="882777" y="3007910"/>
              <a:ext cx="334800" cy="0"/>
            </a:xfrm>
            <a:prstGeom prst="straightConnector1">
              <a:avLst/>
            </a:prstGeom>
            <a:noFill/>
            <a:ln cap="flat" cmpd="sng" w="19050">
              <a:solidFill>
                <a:srgbClr val="000000"/>
              </a:solidFill>
              <a:prstDash val="solid"/>
              <a:round/>
              <a:headEnd len="sm" w="sm" type="none"/>
              <a:tailEnd len="sm" w="sm" type="none"/>
            </a:ln>
          </p:spPr>
        </p:cxnSp>
        <p:cxnSp>
          <p:nvCxnSpPr>
            <p:cNvPr id="217" name="Google Shape;217;p28"/>
            <p:cNvCxnSpPr/>
            <p:nvPr/>
          </p:nvCxnSpPr>
          <p:spPr>
            <a:xfrm>
              <a:off x="818036" y="3128948"/>
              <a:ext cx="334800" cy="0"/>
            </a:xfrm>
            <a:prstGeom prst="straightConnector1">
              <a:avLst/>
            </a:prstGeom>
            <a:noFill/>
            <a:ln cap="flat" cmpd="sng" w="19050">
              <a:solidFill>
                <a:srgbClr val="000000"/>
              </a:solidFill>
              <a:prstDash val="solid"/>
              <a:round/>
              <a:headEnd len="sm" w="sm" type="none"/>
              <a:tailEnd len="sm" w="sm" type="none"/>
            </a:ln>
          </p:spPr>
        </p:cxnSp>
        <p:cxnSp>
          <p:nvCxnSpPr>
            <p:cNvPr id="218" name="Google Shape;218;p28"/>
            <p:cNvCxnSpPr/>
            <p:nvPr/>
          </p:nvCxnSpPr>
          <p:spPr>
            <a:xfrm>
              <a:off x="882777" y="3249986"/>
              <a:ext cx="334800" cy="0"/>
            </a:xfrm>
            <a:prstGeom prst="straightConnector1">
              <a:avLst/>
            </a:prstGeom>
            <a:noFill/>
            <a:ln cap="flat" cmpd="sng" w="19050">
              <a:solidFill>
                <a:srgbClr val="000000"/>
              </a:solidFill>
              <a:prstDash val="solid"/>
              <a:round/>
              <a:headEnd len="sm" w="sm" type="none"/>
              <a:tailEnd len="sm" w="sm" type="none"/>
            </a:ln>
          </p:spPr>
        </p:cxnSp>
        <p:sp>
          <p:nvSpPr>
            <p:cNvPr id="219" name="Google Shape;219;p28"/>
            <p:cNvSpPr txBox="1"/>
            <p:nvPr/>
          </p:nvSpPr>
          <p:spPr>
            <a:xfrm>
              <a:off x="955975" y="3409300"/>
              <a:ext cx="12267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moving at first</a:t>
              </a:r>
              <a:endParaRPr b="0" i="0" sz="1400" u="none" cap="none" strike="noStrike">
                <a:solidFill>
                  <a:srgbClr val="000000"/>
                </a:solidFill>
                <a:latin typeface="Arial"/>
                <a:ea typeface="Arial"/>
                <a:cs typeface="Arial"/>
                <a:sym typeface="Arial"/>
              </a:endParaRPr>
            </a:p>
          </p:txBody>
        </p:sp>
        <p:sp>
          <p:nvSpPr>
            <p:cNvPr id="220" name="Google Shape;220;p28"/>
            <p:cNvSpPr txBox="1"/>
            <p:nvPr/>
          </p:nvSpPr>
          <p:spPr>
            <a:xfrm>
              <a:off x="2163705" y="3010497"/>
              <a:ext cx="425100" cy="237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E69138"/>
                  </a:solidFill>
                  <a:latin typeface="Arial"/>
                  <a:ea typeface="Arial"/>
                  <a:cs typeface="Arial"/>
                  <a:sym typeface="Arial"/>
                </a:rPr>
                <a:t>A</a:t>
              </a:r>
              <a:endParaRPr b="1" i="0" sz="2400" u="none" cap="none" strike="noStrike">
                <a:solidFill>
                  <a:srgbClr val="E69138"/>
                </a:solidFill>
                <a:latin typeface="Arial"/>
                <a:ea typeface="Arial"/>
                <a:cs typeface="Arial"/>
                <a:sym typeface="Arial"/>
              </a:endParaRPr>
            </a:p>
          </p:txBody>
        </p:sp>
        <p:cxnSp>
          <p:nvCxnSpPr>
            <p:cNvPr id="221" name="Google Shape;221;p28"/>
            <p:cNvCxnSpPr/>
            <p:nvPr/>
          </p:nvCxnSpPr>
          <p:spPr>
            <a:xfrm rot="10800000">
              <a:off x="3840162" y="5776874"/>
              <a:ext cx="394800" cy="0"/>
            </a:xfrm>
            <a:prstGeom prst="straightConnector1">
              <a:avLst/>
            </a:prstGeom>
            <a:noFill/>
            <a:ln cap="flat" cmpd="sng" w="19050">
              <a:solidFill>
                <a:srgbClr val="000000"/>
              </a:solidFill>
              <a:prstDash val="solid"/>
              <a:round/>
              <a:headEnd len="sm" w="sm" type="none"/>
              <a:tailEnd len="sm" w="sm" type="none"/>
            </a:ln>
          </p:spPr>
        </p:cxnSp>
        <p:cxnSp>
          <p:nvCxnSpPr>
            <p:cNvPr id="222" name="Google Shape;222;p28"/>
            <p:cNvCxnSpPr/>
            <p:nvPr/>
          </p:nvCxnSpPr>
          <p:spPr>
            <a:xfrm rot="10800000">
              <a:off x="3840162" y="4470664"/>
              <a:ext cx="394800" cy="0"/>
            </a:xfrm>
            <a:prstGeom prst="straightConnector1">
              <a:avLst/>
            </a:prstGeom>
            <a:noFill/>
            <a:ln cap="flat" cmpd="sng" w="19050">
              <a:solidFill>
                <a:srgbClr val="000000"/>
              </a:solidFill>
              <a:prstDash val="solid"/>
              <a:round/>
              <a:headEnd len="sm" w="sm" type="none"/>
              <a:tailEnd len="sm" w="sm" type="none"/>
            </a:ln>
          </p:spPr>
        </p:cxnSp>
        <p:sp>
          <p:nvSpPr>
            <p:cNvPr id="223" name="Google Shape;223;p28"/>
            <p:cNvSpPr txBox="1"/>
            <p:nvPr/>
          </p:nvSpPr>
          <p:spPr>
            <a:xfrm>
              <a:off x="647775" y="1432050"/>
              <a:ext cx="1856700" cy="82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The object that was damaged OR that you were surprised wasn’t damaged</a:t>
              </a:r>
              <a:endParaRPr b="0" i="0" sz="1400" u="none" cap="none" strike="noStrike">
                <a:solidFill>
                  <a:srgbClr val="000000"/>
                </a:solidFill>
                <a:latin typeface="Arial"/>
                <a:ea typeface="Arial"/>
                <a:cs typeface="Arial"/>
                <a:sym typeface="Arial"/>
              </a:endParaRPr>
            </a:p>
          </p:txBody>
        </p:sp>
        <p:sp>
          <p:nvSpPr>
            <p:cNvPr id="224" name="Google Shape;224;p28"/>
            <p:cNvSpPr/>
            <p:nvPr/>
          </p:nvSpPr>
          <p:spPr>
            <a:xfrm>
              <a:off x="1433125" y="2531738"/>
              <a:ext cx="272400" cy="242100"/>
            </a:xfrm>
            <a:prstGeom prst="down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28"/>
            <p:cNvSpPr txBox="1"/>
            <p:nvPr/>
          </p:nvSpPr>
          <p:spPr>
            <a:xfrm>
              <a:off x="2777025" y="1802588"/>
              <a:ext cx="11034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The other object </a:t>
              </a:r>
              <a:endParaRPr b="0" i="0" sz="1400" u="none" cap="none" strike="noStrike">
                <a:solidFill>
                  <a:srgbClr val="000000"/>
                </a:solidFill>
                <a:latin typeface="Arial"/>
                <a:ea typeface="Arial"/>
                <a:cs typeface="Arial"/>
                <a:sym typeface="Arial"/>
              </a:endParaRPr>
            </a:p>
          </p:txBody>
        </p:sp>
        <p:sp>
          <p:nvSpPr>
            <p:cNvPr id="226" name="Google Shape;226;p28"/>
            <p:cNvSpPr/>
            <p:nvPr/>
          </p:nvSpPr>
          <p:spPr>
            <a:xfrm>
              <a:off x="3214963" y="2531738"/>
              <a:ext cx="272400" cy="242100"/>
            </a:xfrm>
            <a:prstGeom prst="downArrow">
              <a:avLst>
                <a:gd fmla="val 50000" name="adj1"/>
                <a:gd fmla="val 50000" name="adj2"/>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28"/>
            <p:cNvSpPr txBox="1"/>
            <p:nvPr/>
          </p:nvSpPr>
          <p:spPr>
            <a:xfrm>
              <a:off x="2485475" y="3396125"/>
              <a:ext cx="1688100" cy="73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motionless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first</a:t>
              </a:r>
              <a:endParaRPr b="0" i="0" sz="1400" u="none" cap="none" strike="noStrike">
                <a:solidFill>
                  <a:srgbClr val="000000"/>
                </a:solidFill>
                <a:latin typeface="Arial"/>
                <a:ea typeface="Arial"/>
                <a:cs typeface="Arial"/>
                <a:sym typeface="Arial"/>
              </a:endParaRPr>
            </a:p>
          </p:txBody>
        </p:sp>
        <p:sp>
          <p:nvSpPr>
            <p:cNvPr id="228" name="Google Shape;228;p28"/>
            <p:cNvSpPr txBox="1"/>
            <p:nvPr/>
          </p:nvSpPr>
          <p:spPr>
            <a:xfrm>
              <a:off x="2715373" y="5991800"/>
              <a:ext cx="12267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moving at first</a:t>
              </a:r>
              <a:endParaRPr b="0" i="0" sz="1400" u="none" cap="none" strike="noStrike">
                <a:solidFill>
                  <a:srgbClr val="000000"/>
                </a:solidFill>
                <a:latin typeface="Arial"/>
                <a:ea typeface="Arial"/>
                <a:cs typeface="Arial"/>
                <a:sym typeface="Arial"/>
              </a:endParaRPr>
            </a:p>
          </p:txBody>
        </p:sp>
        <p:sp>
          <p:nvSpPr>
            <p:cNvPr id="229" name="Google Shape;229;p28"/>
            <p:cNvSpPr txBox="1"/>
            <p:nvPr/>
          </p:nvSpPr>
          <p:spPr>
            <a:xfrm>
              <a:off x="2732763" y="4690888"/>
              <a:ext cx="12267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moving at first</a:t>
              </a:r>
              <a:endParaRPr b="0" i="0" sz="1400" u="none" cap="none" strike="noStrike">
                <a:solidFill>
                  <a:srgbClr val="000000"/>
                </a:solidFill>
                <a:latin typeface="Arial"/>
                <a:ea typeface="Arial"/>
                <a:cs typeface="Arial"/>
                <a:sym typeface="Arial"/>
              </a:endParaRPr>
            </a:p>
          </p:txBody>
        </p:sp>
      </p:grpSp>
      <p:sp>
        <p:nvSpPr>
          <p:cNvPr id="230" name="Google Shape;230;p28"/>
          <p:cNvSpPr txBox="1"/>
          <p:nvPr/>
        </p:nvSpPr>
        <p:spPr>
          <a:xfrm>
            <a:off x="586775" y="2304820"/>
            <a:ext cx="3907200" cy="335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rgbClr val="9A2F3E"/>
                </a:solidFill>
                <a:latin typeface="Cabin Condensed"/>
                <a:ea typeface="Cabin Condensed"/>
                <a:cs typeface="Cabin Condensed"/>
                <a:sym typeface="Cabin Condensed"/>
              </a:rPr>
              <a:t>In a moment, we will go to the areas of the room that go with our cards.  First, we will do red cards (damage), then green cards (no damage). </a:t>
            </a:r>
            <a:r>
              <a:rPr b="0" i="0" lang="en" sz="2400" u="none" cap="none" strike="noStrike">
                <a:solidFill>
                  <a:srgbClr val="9A2F3E"/>
                </a:solidFill>
                <a:latin typeface="Cabin Condensed"/>
                <a:ea typeface="Cabin Condensed"/>
                <a:cs typeface="Cabin Condensed"/>
                <a:sym typeface="Cabin Condensed"/>
              </a:rPr>
              <a:t> </a:t>
            </a:r>
            <a:endParaRPr b="0" i="0" sz="2400" u="none" cap="none" strike="noStrike">
              <a:solidFill>
                <a:srgbClr val="9A2F3E"/>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While you are in your area, share your collision with a partner.  </a:t>
            </a:r>
            <a:endParaRPr b="0" i="0" sz="2400" u="none" cap="none" strike="noStrike">
              <a:solidFill>
                <a:srgbClr val="9A2F3E"/>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Look for any similarities and differences in how the collisions occurred. </a:t>
            </a:r>
            <a:endParaRPr b="0" i="0" sz="2400" u="none" cap="none" strike="noStrike">
              <a:solidFill>
                <a:srgbClr val="9A2F3E"/>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How did damage (or no damage) occur?</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oogaloo"/>
              <a:ea typeface="Boogaloo"/>
              <a:cs typeface="Boogaloo"/>
              <a:sym typeface="Boogaloo"/>
            </a:endParaRPr>
          </a:p>
        </p:txBody>
      </p:sp>
      <p:pic>
        <p:nvPicPr>
          <p:cNvPr descr="With a partner icon" id="231" name="Google Shape;231;p28"/>
          <p:cNvPicPr preferRelativeResize="0"/>
          <p:nvPr/>
        </p:nvPicPr>
        <p:blipFill rotWithShape="1">
          <a:blip r:embed="rId3">
            <a:alphaModFix/>
          </a:blip>
          <a:srcRect b="0" l="0" r="0" t="0"/>
          <a:stretch/>
        </p:blipFill>
        <p:spPr>
          <a:xfrm>
            <a:off x="697638" y="1508630"/>
            <a:ext cx="704358" cy="825250"/>
          </a:xfrm>
          <a:prstGeom prst="rect">
            <a:avLst/>
          </a:prstGeom>
          <a:noFill/>
          <a:ln>
            <a:noFill/>
          </a:ln>
        </p:spPr>
      </p:pic>
      <p:sp>
        <p:nvSpPr>
          <p:cNvPr id="232" name="Google Shape;232;p28"/>
          <p:cNvSpPr txBox="1"/>
          <p:nvPr/>
        </p:nvSpPr>
        <p:spPr>
          <a:xfrm>
            <a:off x="1492725" y="1536950"/>
            <a:ext cx="2170800" cy="1198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Partner Share</a:t>
            </a:r>
            <a:endParaRPr b="0" i="0" sz="3000" u="none" cap="none" strike="noStrike">
              <a:solidFill>
                <a:srgbClr val="9A2F3E"/>
              </a:solidFill>
              <a:latin typeface="Boogaloo"/>
              <a:ea typeface="Boogaloo"/>
              <a:cs typeface="Boogaloo"/>
              <a:sym typeface="Boogalo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9"/>
          <p:cNvSpPr/>
          <p:nvPr/>
        </p:nvSpPr>
        <p:spPr>
          <a:xfrm>
            <a:off x="457200" y="1447800"/>
            <a:ext cx="8229600" cy="52770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29"/>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G</a:t>
            </a:r>
            <a:endParaRPr/>
          </a:p>
        </p:txBody>
      </p:sp>
      <p:sp>
        <p:nvSpPr>
          <p:cNvPr id="239" name="Google Shape;239;p29"/>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Identifying Factors in a Collision</a:t>
            </a:r>
            <a:endParaRPr/>
          </a:p>
        </p:txBody>
      </p:sp>
      <p:sp>
        <p:nvSpPr>
          <p:cNvPr id="240" name="Google Shape;240;p29"/>
          <p:cNvSpPr txBox="1"/>
          <p:nvPr>
            <p:ph idx="2" type="body"/>
          </p:nvPr>
        </p:nvSpPr>
        <p:spPr>
          <a:xfrm>
            <a:off x="567425" y="2540100"/>
            <a:ext cx="4714200" cy="408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2400">
                <a:solidFill>
                  <a:srgbClr val="980000"/>
                </a:solidFill>
                <a:latin typeface="Cabin Condensed"/>
                <a:ea typeface="Cabin Condensed"/>
                <a:cs typeface="Cabin Condensed"/>
                <a:sym typeface="Cabin Condensed"/>
              </a:rPr>
              <a:t>Create a T-chart in your notebook. Label one side “Patterns in collisions” and the other side “Factors and variables that might cause damage in a collision.”</a:t>
            </a:r>
            <a:endParaRPr sz="2400">
              <a:solidFill>
                <a:srgbClr val="980000"/>
              </a:solidFill>
              <a:latin typeface="Cabin Condensed"/>
              <a:ea typeface="Cabin Condensed"/>
              <a:cs typeface="Cabin Condensed"/>
              <a:sym typeface="Cabin Condensed"/>
            </a:endParaRPr>
          </a:p>
          <a:p>
            <a:pPr indent="0" lvl="0" marL="0" rtl="0" algn="l">
              <a:lnSpc>
                <a:spcPct val="100000"/>
              </a:lnSpc>
              <a:spcBef>
                <a:spcPts val="1000"/>
              </a:spcBef>
              <a:spcAft>
                <a:spcPts val="0"/>
              </a:spcAft>
              <a:buSzPts val="3600"/>
              <a:buNone/>
            </a:pPr>
            <a:r>
              <a:rPr lang="en" sz="2400">
                <a:solidFill>
                  <a:srgbClr val="980000"/>
                </a:solidFill>
                <a:latin typeface="Cabin Condensed"/>
                <a:ea typeface="Cabin Condensed"/>
                <a:cs typeface="Cabin Condensed"/>
                <a:sym typeface="Cabin Condensed"/>
              </a:rPr>
              <a:t>Record any patterns you notice between collisions and collision types.</a:t>
            </a:r>
            <a:endParaRPr sz="2400">
              <a:solidFill>
                <a:srgbClr val="980000"/>
              </a:solidFill>
              <a:latin typeface="Cabin Condensed"/>
              <a:ea typeface="Cabin Condensed"/>
              <a:cs typeface="Cabin Condensed"/>
              <a:sym typeface="Cabin Condensed"/>
            </a:endParaRPr>
          </a:p>
          <a:p>
            <a:pPr indent="0" lvl="0" marL="0" rtl="0" algn="l">
              <a:lnSpc>
                <a:spcPct val="100000"/>
              </a:lnSpc>
              <a:spcBef>
                <a:spcPts val="1000"/>
              </a:spcBef>
              <a:spcAft>
                <a:spcPts val="0"/>
              </a:spcAft>
              <a:buSzPts val="3600"/>
              <a:buNone/>
            </a:pPr>
            <a:r>
              <a:rPr lang="en" sz="2400">
                <a:solidFill>
                  <a:srgbClr val="980000"/>
                </a:solidFill>
                <a:latin typeface="Cabin Condensed"/>
                <a:ea typeface="Cabin Condensed"/>
                <a:cs typeface="Cabin Condensed"/>
                <a:sym typeface="Cabin Condensed"/>
              </a:rPr>
              <a:t>List any factors or variables that you think contributed to why some items got damaged and other items did not get damaged in a collision.</a:t>
            </a:r>
            <a:endParaRPr sz="2400">
              <a:solidFill>
                <a:srgbClr val="980000"/>
              </a:solidFill>
              <a:latin typeface="Cabin Condensed"/>
              <a:ea typeface="Cabin Condensed"/>
              <a:cs typeface="Cabin Condensed"/>
              <a:sym typeface="Cabin Condensed"/>
            </a:endParaRPr>
          </a:p>
        </p:txBody>
      </p:sp>
      <p:sp>
        <p:nvSpPr>
          <p:cNvPr id="241" name="Google Shape;241;p29"/>
          <p:cNvSpPr txBox="1"/>
          <p:nvPr/>
        </p:nvSpPr>
        <p:spPr>
          <a:xfrm>
            <a:off x="1637513" y="1617100"/>
            <a:ext cx="6531000" cy="536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b="0" i="0" lang="en" sz="3000" u="none" cap="none" strike="noStrike">
                <a:solidFill>
                  <a:srgbClr val="9A2F3E"/>
                </a:solidFill>
                <a:latin typeface="Boogaloo"/>
                <a:ea typeface="Boogaloo"/>
                <a:cs typeface="Boogaloo"/>
                <a:sym typeface="Boogaloo"/>
              </a:rPr>
              <a:t>Looking for Patterns and Variables</a:t>
            </a:r>
            <a:endParaRPr b="0" i="0" sz="800" u="none" cap="none" strike="noStrike">
              <a:solidFill>
                <a:srgbClr val="000000"/>
              </a:solidFill>
              <a:latin typeface="Boogaloo"/>
              <a:ea typeface="Boogaloo"/>
              <a:cs typeface="Boogaloo"/>
              <a:sym typeface="Boogaloo"/>
            </a:endParaRPr>
          </a:p>
        </p:txBody>
      </p:sp>
      <p:grpSp>
        <p:nvGrpSpPr>
          <p:cNvPr id="242" name="Google Shape;242;p29"/>
          <p:cNvGrpSpPr/>
          <p:nvPr/>
        </p:nvGrpSpPr>
        <p:grpSpPr>
          <a:xfrm>
            <a:off x="4969775" y="2444122"/>
            <a:ext cx="3886903" cy="4280805"/>
            <a:chOff x="4588775" y="2215522"/>
            <a:chExt cx="3886903" cy="4280805"/>
          </a:xfrm>
        </p:grpSpPr>
        <p:pic>
          <p:nvPicPr>
            <p:cNvPr descr="A lined notebook page is divided by a vertical line. The left side is labeled Patterns in Collisions and the right side is labeled Factors/Variables that might cause damage in a collision." id="243" name="Google Shape;243;p29"/>
            <p:cNvPicPr preferRelativeResize="0"/>
            <p:nvPr/>
          </p:nvPicPr>
          <p:blipFill rotWithShape="1">
            <a:blip r:embed="rId3">
              <a:alphaModFix/>
            </a:blip>
            <a:srcRect b="-3127" l="49928" r="-823" t="-1485"/>
            <a:stretch/>
          </p:blipFill>
          <p:spPr>
            <a:xfrm flipH="1" rot="-58713">
              <a:off x="5022884" y="2244392"/>
              <a:ext cx="3416982" cy="4223065"/>
            </a:xfrm>
            <a:prstGeom prst="rect">
              <a:avLst/>
            </a:prstGeom>
            <a:noFill/>
            <a:ln>
              <a:noFill/>
            </a:ln>
            <a:effectLst>
              <a:outerShdw blurRad="57150" rotWithShape="0" algn="bl" dir="5400000" dist="19050">
                <a:srgbClr val="000000">
                  <a:alpha val="49019"/>
                </a:srgbClr>
              </a:outerShdw>
            </a:effectLst>
          </p:spPr>
        </p:pic>
        <p:sp>
          <p:nvSpPr>
            <p:cNvPr id="244" name="Google Shape;244;p29"/>
            <p:cNvSpPr txBox="1"/>
            <p:nvPr/>
          </p:nvSpPr>
          <p:spPr>
            <a:xfrm rot="-61899">
              <a:off x="5355907" y="2782597"/>
              <a:ext cx="1033067" cy="517878"/>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aveat"/>
                  <a:ea typeface="Caveat"/>
                  <a:cs typeface="Caveat"/>
                  <a:sym typeface="Caveat"/>
                </a:rPr>
                <a:t>Patterns in collisions</a:t>
              </a:r>
              <a:endParaRPr b="0" i="0" sz="1800" u="none" cap="none" strike="noStrike">
                <a:solidFill>
                  <a:srgbClr val="000000"/>
                </a:solidFill>
                <a:latin typeface="Caveat"/>
                <a:ea typeface="Caveat"/>
                <a:cs typeface="Caveat"/>
                <a:sym typeface="Caveat"/>
              </a:endParaRPr>
            </a:p>
          </p:txBody>
        </p:sp>
        <p:sp>
          <p:nvSpPr>
            <p:cNvPr id="245" name="Google Shape;245;p29"/>
            <p:cNvSpPr txBox="1"/>
            <p:nvPr/>
          </p:nvSpPr>
          <p:spPr>
            <a:xfrm rot="-62466">
              <a:off x="6574604" y="2622724"/>
              <a:ext cx="1766692" cy="6823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aveat"/>
                  <a:ea typeface="Caveat"/>
                  <a:cs typeface="Caveat"/>
                  <a:sym typeface="Caveat"/>
                </a:rPr>
                <a:t>Factors and variables that might cause damage in a collision</a:t>
              </a:r>
              <a:endParaRPr b="0" i="0" sz="1800" u="none" cap="none" strike="noStrike">
                <a:solidFill>
                  <a:srgbClr val="000000"/>
                </a:solidFill>
                <a:latin typeface="Caveat"/>
                <a:ea typeface="Caveat"/>
                <a:cs typeface="Caveat"/>
                <a:sym typeface="Caveat"/>
              </a:endParaRPr>
            </a:p>
          </p:txBody>
        </p:sp>
        <p:cxnSp>
          <p:nvCxnSpPr>
            <p:cNvPr id="246" name="Google Shape;246;p29"/>
            <p:cNvCxnSpPr/>
            <p:nvPr/>
          </p:nvCxnSpPr>
          <p:spPr>
            <a:xfrm>
              <a:off x="5367650" y="3393125"/>
              <a:ext cx="2802600" cy="0"/>
            </a:xfrm>
            <a:prstGeom prst="straightConnector1">
              <a:avLst/>
            </a:prstGeom>
            <a:noFill/>
            <a:ln cap="flat" cmpd="sng" w="9525">
              <a:solidFill>
                <a:srgbClr val="000000"/>
              </a:solidFill>
              <a:prstDash val="solid"/>
              <a:round/>
              <a:headEnd len="sm" w="sm" type="none"/>
              <a:tailEnd len="sm" w="sm" type="none"/>
            </a:ln>
          </p:spPr>
        </p:cxnSp>
        <p:cxnSp>
          <p:nvCxnSpPr>
            <p:cNvPr id="247" name="Google Shape;247;p29"/>
            <p:cNvCxnSpPr/>
            <p:nvPr/>
          </p:nvCxnSpPr>
          <p:spPr>
            <a:xfrm rot="10800000">
              <a:off x="6519638" y="2534289"/>
              <a:ext cx="76800" cy="3277500"/>
            </a:xfrm>
            <a:prstGeom prst="straightConnector1">
              <a:avLst/>
            </a:prstGeom>
            <a:noFill/>
            <a:ln cap="flat" cmpd="sng" w="9525">
              <a:solidFill>
                <a:srgbClr val="000000"/>
              </a:solidFill>
              <a:prstDash val="solid"/>
              <a:round/>
              <a:headEnd len="sm" w="sm" type="none"/>
              <a:tailEnd len="sm" w="sm" type="none"/>
            </a:ln>
          </p:spPr>
        </p:cxnSp>
        <p:cxnSp>
          <p:nvCxnSpPr>
            <p:cNvPr id="248" name="Google Shape;248;p29"/>
            <p:cNvCxnSpPr/>
            <p:nvPr/>
          </p:nvCxnSpPr>
          <p:spPr>
            <a:xfrm flipH="1" rot="10800000">
              <a:off x="4588775" y="3862800"/>
              <a:ext cx="1164600" cy="594900"/>
            </a:xfrm>
            <a:prstGeom prst="straightConnector1">
              <a:avLst/>
            </a:prstGeom>
            <a:noFill/>
            <a:ln cap="flat" cmpd="sng" w="28575">
              <a:solidFill>
                <a:srgbClr val="9A2F3E"/>
              </a:solidFill>
              <a:prstDash val="solid"/>
              <a:round/>
              <a:headEnd len="sm" w="sm" type="none"/>
              <a:tailEnd len="med" w="med" type="triangle"/>
            </a:ln>
          </p:spPr>
        </p:cxnSp>
        <p:cxnSp>
          <p:nvCxnSpPr>
            <p:cNvPr id="249" name="Google Shape;249;p29"/>
            <p:cNvCxnSpPr/>
            <p:nvPr/>
          </p:nvCxnSpPr>
          <p:spPr>
            <a:xfrm flipH="1" rot="10800000">
              <a:off x="4850675" y="3666275"/>
              <a:ext cx="2736600" cy="1589700"/>
            </a:xfrm>
            <a:prstGeom prst="straightConnector1">
              <a:avLst/>
            </a:prstGeom>
            <a:noFill/>
            <a:ln cap="flat" cmpd="sng" w="28575">
              <a:solidFill>
                <a:srgbClr val="9A2F3E"/>
              </a:solidFill>
              <a:prstDash val="solid"/>
              <a:round/>
              <a:headEnd len="sm" w="sm" type="none"/>
              <a:tailEnd len="med" w="med" type="triangle"/>
            </a:ln>
          </p:spPr>
        </p:cxnSp>
      </p:grpSp>
      <p:pic>
        <p:nvPicPr>
          <p:cNvPr descr="In your notebook icon" id="250" name="Google Shape;250;p29"/>
          <p:cNvPicPr preferRelativeResize="0"/>
          <p:nvPr/>
        </p:nvPicPr>
        <p:blipFill rotWithShape="1">
          <a:blip r:embed="rId4">
            <a:alphaModFix/>
          </a:blip>
          <a:srcRect b="641" l="0" r="0" t="651"/>
          <a:stretch/>
        </p:blipFill>
        <p:spPr>
          <a:xfrm>
            <a:off x="736650" y="1604975"/>
            <a:ext cx="776328" cy="858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54" name="Shape 254"/>
        <p:cNvGrpSpPr/>
        <p:nvPr/>
      </p:nvGrpSpPr>
      <p:grpSpPr>
        <a:xfrm>
          <a:off x="0" y="0"/>
          <a:ext cx="0" cy="0"/>
          <a:chOff x="0" y="0"/>
          <a:chExt cx="0" cy="0"/>
        </a:xfrm>
      </p:grpSpPr>
      <p:sp>
        <p:nvSpPr>
          <p:cNvPr id="255" name="Google Shape;255;p30"/>
          <p:cNvSpPr/>
          <p:nvPr/>
        </p:nvSpPr>
        <p:spPr>
          <a:xfrm>
            <a:off x="437475" y="1504950"/>
            <a:ext cx="8229600" cy="5012400"/>
          </a:xfrm>
          <a:prstGeom prst="rect">
            <a:avLst/>
          </a:prstGeom>
          <a:solidFill>
            <a:schemeClr val="lt1"/>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30"/>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H</a:t>
            </a:r>
            <a:endParaRPr b="0" i="0" sz="1800" u="none" cap="none" strike="noStrike">
              <a:solidFill>
                <a:srgbClr val="9A2F3E"/>
              </a:solidFill>
              <a:latin typeface="Boogaloo"/>
              <a:ea typeface="Boogaloo"/>
              <a:cs typeface="Boogaloo"/>
              <a:sym typeface="Boogaloo"/>
            </a:endParaRPr>
          </a:p>
        </p:txBody>
      </p:sp>
      <p:sp>
        <p:nvSpPr>
          <p:cNvPr id="257" name="Google Shape;257;p30"/>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Modeling Collisions</a:t>
            </a:r>
            <a:endParaRPr b="0" i="0" sz="3200" u="none" cap="none" strike="noStrike">
              <a:solidFill>
                <a:srgbClr val="FFFFFF"/>
              </a:solidFill>
              <a:latin typeface="Boogaloo"/>
              <a:ea typeface="Boogaloo"/>
              <a:cs typeface="Boogaloo"/>
              <a:sym typeface="Boogaloo"/>
            </a:endParaRPr>
          </a:p>
        </p:txBody>
      </p:sp>
      <p:pic>
        <p:nvPicPr>
          <p:cNvPr descr="Assessment icon" id="258" name="Google Shape;258;p30"/>
          <p:cNvPicPr preferRelativeResize="0"/>
          <p:nvPr/>
        </p:nvPicPr>
        <p:blipFill rotWithShape="1">
          <a:blip r:embed="rId3">
            <a:alphaModFix/>
          </a:blip>
          <a:srcRect b="0" l="0" r="0" t="0"/>
          <a:stretch/>
        </p:blipFill>
        <p:spPr>
          <a:xfrm>
            <a:off x="8445260" y="0"/>
            <a:ext cx="607290" cy="548650"/>
          </a:xfrm>
          <a:prstGeom prst="rect">
            <a:avLst/>
          </a:prstGeom>
          <a:noFill/>
          <a:ln>
            <a:noFill/>
          </a:ln>
        </p:spPr>
      </p:pic>
      <p:pic>
        <p:nvPicPr>
          <p:cNvPr descr="Screenshot of handout titled Initial Model: Objects During Collisions with spaces for two objects that collided and if damage occurred. Two columns prompt descriptions of what is seen at two time points during the collision." id="259" name="Google Shape;259;p30"/>
          <p:cNvPicPr preferRelativeResize="0"/>
          <p:nvPr/>
        </p:nvPicPr>
        <p:blipFill rotWithShape="1">
          <a:blip r:embed="rId4">
            <a:alphaModFix/>
          </a:blip>
          <a:srcRect b="0" l="0" r="0" t="0"/>
          <a:stretch/>
        </p:blipFill>
        <p:spPr>
          <a:xfrm>
            <a:off x="989825" y="1628350"/>
            <a:ext cx="7291624" cy="4765600"/>
          </a:xfrm>
          <a:prstGeom prst="rect">
            <a:avLst/>
          </a:prstGeom>
          <a:noFill/>
          <a:ln cap="flat" cmpd="sng" w="19050">
            <a:solidFill>
              <a:srgbClr val="666666"/>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63" name="Shape 263"/>
        <p:cNvGrpSpPr/>
        <p:nvPr/>
      </p:nvGrpSpPr>
      <p:grpSpPr>
        <a:xfrm>
          <a:off x="0" y="0"/>
          <a:ext cx="0" cy="0"/>
          <a:chOff x="0" y="0"/>
          <a:chExt cx="0" cy="0"/>
        </a:xfrm>
      </p:grpSpPr>
      <p:sp>
        <p:nvSpPr>
          <p:cNvPr id="264" name="Google Shape;264;p31"/>
          <p:cNvSpPr/>
          <p:nvPr/>
        </p:nvSpPr>
        <p:spPr>
          <a:xfrm>
            <a:off x="445143" y="1349350"/>
            <a:ext cx="8208600" cy="5337000"/>
          </a:xfrm>
          <a:prstGeom prst="rect">
            <a:avLst/>
          </a:prstGeom>
          <a:solidFill>
            <a:schemeClr val="lt1"/>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31"/>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I</a:t>
            </a:r>
            <a:endParaRPr b="0" i="0" sz="1800" u="none" cap="none" strike="noStrike">
              <a:solidFill>
                <a:srgbClr val="9A2F3E"/>
              </a:solidFill>
              <a:latin typeface="Boogaloo"/>
              <a:ea typeface="Boogaloo"/>
              <a:cs typeface="Boogaloo"/>
              <a:sym typeface="Boogaloo"/>
            </a:endParaRPr>
          </a:p>
        </p:txBody>
      </p:sp>
      <p:sp>
        <p:nvSpPr>
          <p:cNvPr id="266" name="Google Shape;266;p31"/>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Modeling Collisions</a:t>
            </a:r>
            <a:endParaRPr b="0" i="0" sz="3200" u="none" cap="none" strike="noStrike">
              <a:solidFill>
                <a:srgbClr val="FFFFFF"/>
              </a:solidFill>
              <a:latin typeface="Boogaloo"/>
              <a:ea typeface="Boogaloo"/>
              <a:cs typeface="Boogaloo"/>
              <a:sym typeface="Boogaloo"/>
            </a:endParaRPr>
          </a:p>
        </p:txBody>
      </p:sp>
      <p:sp>
        <p:nvSpPr>
          <p:cNvPr id="267" name="Google Shape;267;p31"/>
          <p:cNvSpPr txBox="1"/>
          <p:nvPr/>
        </p:nvSpPr>
        <p:spPr>
          <a:xfrm rot="-60012">
            <a:off x="6690376" y="5573683"/>
            <a:ext cx="2285748" cy="1163284"/>
          </a:xfrm>
          <a:prstGeom prst="rect">
            <a:avLst/>
          </a:prstGeom>
          <a:solidFill>
            <a:srgbClr val="F5EDEF"/>
          </a:solidFill>
          <a:ln cap="flat" cmpd="sng" w="9525">
            <a:solidFill>
              <a:srgbClr val="9A2F3E"/>
            </a:solidFill>
            <a:prstDash val="solid"/>
            <a:round/>
            <a:headEnd len="sm" w="sm" type="none"/>
            <a:tailEnd len="sm" w="sm" type="none"/>
          </a:ln>
          <a:effectLst>
            <a:outerShdw blurRad="57150" rotWithShape="0" algn="bl" dir="5400000" dist="19050">
              <a:srgbClr val="000000">
                <a:alpha val="49019"/>
              </a:srgbClr>
            </a:outerShdw>
          </a:effectLst>
        </p:spPr>
        <p:txBody>
          <a:bodyPr anchorCtr="0" anchor="t" bIns="91425" lIns="91425" spcFirstLastPara="1" rIns="91425" wrap="square" tIns="91425">
            <a:noAutofit/>
          </a:bodyPr>
          <a:lstStyle/>
          <a:p>
            <a:pPr indent="-254000" lvl="0" marL="342900" marR="0" rtl="0" algn="l">
              <a:lnSpc>
                <a:spcPct val="100000"/>
              </a:lnSpc>
              <a:spcBef>
                <a:spcPts val="0"/>
              </a:spcBef>
              <a:spcAft>
                <a:spcPts val="0"/>
              </a:spcAft>
              <a:buClr>
                <a:srgbClr val="980000"/>
              </a:buClr>
              <a:buSzPts val="2200"/>
              <a:buFont typeface="Cabin Condensed"/>
              <a:buChar char="➔"/>
            </a:pPr>
            <a:r>
              <a:rPr b="0" i="0" lang="en" sz="2000" u="none" cap="none" strike="noStrike">
                <a:solidFill>
                  <a:srgbClr val="980000"/>
                </a:solidFill>
                <a:latin typeface="Cabin Condensed"/>
                <a:ea typeface="Cabin Condensed"/>
                <a:cs typeface="Cabin Condensed"/>
                <a:sym typeface="Cabin Condensed"/>
              </a:rPr>
              <a:t>Be ready to share your models with a partner.</a:t>
            </a:r>
            <a:endParaRPr b="0" i="0" sz="2000" u="none" cap="none" strike="noStrike">
              <a:solidFill>
                <a:srgbClr val="980000"/>
              </a:solidFill>
              <a:latin typeface="Cabin Condensed"/>
              <a:ea typeface="Cabin Condensed"/>
              <a:cs typeface="Cabin Condensed"/>
              <a:sym typeface="Cabin Condensed"/>
            </a:endParaRPr>
          </a:p>
          <a:p>
            <a:pPr indent="0" lvl="0" marL="457200" marR="0" rtl="0" algn="l">
              <a:lnSpc>
                <a:spcPct val="100000"/>
              </a:lnSpc>
              <a:spcBef>
                <a:spcPts val="0"/>
              </a:spcBef>
              <a:spcAft>
                <a:spcPts val="0"/>
              </a:spcAft>
              <a:buClr>
                <a:srgbClr val="000000"/>
              </a:buClr>
              <a:buSzPts val="2200"/>
              <a:buFont typeface="Arial"/>
              <a:buNone/>
            </a:pPr>
            <a:r>
              <a:t/>
            </a:r>
            <a:endParaRPr b="1" i="0" sz="2200" u="none" cap="none" strike="noStrike">
              <a:solidFill>
                <a:srgbClr val="980000"/>
              </a:solidFill>
              <a:latin typeface="Cabin Condensed"/>
              <a:ea typeface="Cabin Condensed"/>
              <a:cs typeface="Cabin Condensed"/>
              <a:sym typeface="Cabin Condensed"/>
            </a:endParaRPr>
          </a:p>
        </p:txBody>
      </p:sp>
      <p:sp>
        <p:nvSpPr>
          <p:cNvPr id="268" name="Google Shape;268;p31"/>
          <p:cNvSpPr txBox="1"/>
          <p:nvPr/>
        </p:nvSpPr>
        <p:spPr>
          <a:xfrm>
            <a:off x="1593550" y="1377925"/>
            <a:ext cx="6914100" cy="83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2200" u="none" cap="none" strike="noStrike">
                <a:solidFill>
                  <a:schemeClr val="dk1"/>
                </a:solidFill>
                <a:latin typeface="Cabin Condensed"/>
                <a:ea typeface="Cabin Condensed"/>
                <a:cs typeface="Cabin Condensed"/>
                <a:sym typeface="Cabin Condensed"/>
              </a:rPr>
              <a:t>Changes we could see:  </a:t>
            </a:r>
            <a:r>
              <a:rPr b="0" i="0" lang="en" sz="2200" u="none" cap="none" strike="noStrike">
                <a:solidFill>
                  <a:schemeClr val="dk1"/>
                </a:solidFill>
                <a:latin typeface="Cabin Condensed"/>
                <a:ea typeface="Cabin Condensed"/>
                <a:cs typeface="Cabin Condensed"/>
                <a:sym typeface="Cabin Condensed"/>
              </a:rPr>
              <a:t>Now think about what you would see happening in between time point 1 and time point 2. Would you see any changes happening in each of the objects? How does that help explain why the object was damaged or not? </a:t>
            </a:r>
            <a:endParaRPr b="0" i="0" sz="2200" u="none" cap="none" strike="noStrike">
              <a:solidFill>
                <a:srgbClr val="000000"/>
              </a:solidFill>
              <a:latin typeface="Cabin Condensed"/>
              <a:ea typeface="Cabin Condensed"/>
              <a:cs typeface="Cabin Condensed"/>
              <a:sym typeface="Cabin Condensed"/>
            </a:endParaRPr>
          </a:p>
        </p:txBody>
      </p:sp>
      <p:sp>
        <p:nvSpPr>
          <p:cNvPr id="269" name="Google Shape;269;p31"/>
          <p:cNvSpPr txBox="1"/>
          <p:nvPr/>
        </p:nvSpPr>
        <p:spPr>
          <a:xfrm>
            <a:off x="683900" y="2834225"/>
            <a:ext cx="7578900" cy="83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Cabin Condensed"/>
                <a:ea typeface="Cabin Condensed"/>
                <a:cs typeface="Cabin Condensed"/>
                <a:sym typeface="Cabin Condensed"/>
              </a:rPr>
              <a:t>Interactions we cannot see:  </a:t>
            </a:r>
            <a:r>
              <a:rPr b="0" i="0" lang="en" sz="2200" u="none" cap="none" strike="noStrike">
                <a:solidFill>
                  <a:schemeClr val="dk1"/>
                </a:solidFill>
                <a:latin typeface="Cabin Condensed"/>
                <a:ea typeface="Cabin Condensed"/>
                <a:cs typeface="Cabin Condensed"/>
                <a:sym typeface="Cabin Condensed"/>
              </a:rPr>
              <a:t>Now think about the interactions between time point 1 and time point 2 that you cannot see happening. What interactions would be happening? How does that help explain why the object was damaged or not?</a:t>
            </a:r>
            <a:endParaRPr b="0" i="0" sz="2200" u="none" cap="none" strike="noStrike">
              <a:solidFill>
                <a:srgbClr val="000000"/>
              </a:solidFill>
              <a:latin typeface="Cabin Condensed"/>
              <a:ea typeface="Cabin Condensed"/>
              <a:cs typeface="Cabin Condensed"/>
              <a:sym typeface="Cabin Condensed"/>
            </a:endParaRPr>
          </a:p>
        </p:txBody>
      </p:sp>
      <p:sp>
        <p:nvSpPr>
          <p:cNvPr id="270" name="Google Shape;270;p31"/>
          <p:cNvSpPr txBox="1"/>
          <p:nvPr/>
        </p:nvSpPr>
        <p:spPr>
          <a:xfrm>
            <a:off x="683900" y="4339175"/>
            <a:ext cx="7655100" cy="830400"/>
          </a:xfrm>
          <a:prstGeom prst="rect">
            <a:avLst/>
          </a:prstGeom>
          <a:noFill/>
          <a:ln>
            <a:noFill/>
          </a:ln>
        </p:spPr>
        <p:txBody>
          <a:bodyPr anchorCtr="0" anchor="t" bIns="91425" lIns="91425" spcFirstLastPara="1" rIns="91425" wrap="square" tIns="91425">
            <a:noAutofit/>
          </a:bodyPr>
          <a:lstStyle/>
          <a:p>
            <a:pPr indent="-171450" lvl="0" marL="171450" marR="0" rtl="0" algn="l">
              <a:lnSpc>
                <a:spcPct val="100000"/>
              </a:lnSpc>
              <a:spcBef>
                <a:spcPts val="0"/>
              </a:spcBef>
              <a:spcAft>
                <a:spcPts val="0"/>
              </a:spcAft>
              <a:buClr>
                <a:schemeClr val="dk1"/>
              </a:buClr>
              <a:buSzPts val="2200"/>
              <a:buFont typeface="Cabin Condensed"/>
              <a:buChar char="●"/>
            </a:pPr>
            <a:r>
              <a:rPr b="0" i="0" lang="en" sz="2200" u="none" cap="none" strike="noStrike">
                <a:solidFill>
                  <a:schemeClr val="dk1"/>
                </a:solidFill>
                <a:latin typeface="Cabin Condensed"/>
                <a:ea typeface="Cabin Condensed"/>
                <a:cs typeface="Cabin Condensed"/>
                <a:sym typeface="Cabin Condensed"/>
              </a:rPr>
              <a:t>If you picked a collision with no damage, then how would the interactions between the same objects have to change to cause damage in a collision?</a:t>
            </a:r>
            <a:endParaRPr b="0" i="0" sz="2200" u="none" cap="none" strike="noStrike">
              <a:solidFill>
                <a:schemeClr val="dk1"/>
              </a:solidFill>
              <a:latin typeface="Cabin Condensed"/>
              <a:ea typeface="Cabin Condensed"/>
              <a:cs typeface="Cabin Condensed"/>
              <a:sym typeface="Cabin Condensed"/>
            </a:endParaRPr>
          </a:p>
          <a:p>
            <a:pPr indent="-171450" lvl="0" marL="171450" marR="1757361" rtl="0" algn="l">
              <a:lnSpc>
                <a:spcPct val="100000"/>
              </a:lnSpc>
              <a:spcBef>
                <a:spcPts val="1000"/>
              </a:spcBef>
              <a:spcAft>
                <a:spcPts val="0"/>
              </a:spcAft>
              <a:buClr>
                <a:schemeClr val="dk1"/>
              </a:buClr>
              <a:buSzPts val="2200"/>
              <a:buFont typeface="Cabin Condensed"/>
              <a:buChar char="●"/>
            </a:pPr>
            <a:r>
              <a:rPr b="0" i="0" lang="en" sz="2200" u="none" cap="none" strike="noStrike">
                <a:solidFill>
                  <a:schemeClr val="dk1"/>
                </a:solidFill>
                <a:latin typeface="Cabin Condensed"/>
                <a:ea typeface="Cabin Condensed"/>
                <a:cs typeface="Cabin Condensed"/>
                <a:sym typeface="Cabin Condensed"/>
              </a:rPr>
              <a:t>If you picked a collision that caused damage, then how would the interactions between the same objects have to change to not cause damage in a collision?</a:t>
            </a:r>
            <a:endParaRPr b="1" i="0" sz="2200" u="none" cap="none" strike="noStrike">
              <a:solidFill>
                <a:schemeClr val="dk1"/>
              </a:solidFill>
              <a:latin typeface="Cabin Condensed"/>
              <a:ea typeface="Cabin Condensed"/>
              <a:cs typeface="Cabin Condensed"/>
              <a:sym typeface="Cabin Condensed"/>
            </a:endParaRPr>
          </a:p>
        </p:txBody>
      </p:sp>
      <p:pic>
        <p:nvPicPr>
          <p:cNvPr descr="On your own icon" id="271" name="Google Shape;271;p31"/>
          <p:cNvPicPr preferRelativeResize="0"/>
          <p:nvPr/>
        </p:nvPicPr>
        <p:blipFill rotWithShape="1">
          <a:blip r:embed="rId3">
            <a:alphaModFix/>
          </a:blip>
          <a:srcRect b="0" l="0" r="0" t="0"/>
          <a:stretch/>
        </p:blipFill>
        <p:spPr>
          <a:xfrm>
            <a:off x="683900" y="1655300"/>
            <a:ext cx="836100" cy="985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2"/>
          <p:cNvSpPr/>
          <p:nvPr/>
        </p:nvSpPr>
        <p:spPr>
          <a:xfrm>
            <a:off x="457200" y="1409700"/>
            <a:ext cx="8266200" cy="5213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32"/>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J</a:t>
            </a:r>
            <a:endParaRPr/>
          </a:p>
        </p:txBody>
      </p:sp>
      <p:sp>
        <p:nvSpPr>
          <p:cNvPr id="278" name="Google Shape;278;p32"/>
          <p:cNvSpPr txBox="1"/>
          <p:nvPr>
            <p:ph idx="2" type="body"/>
          </p:nvPr>
        </p:nvSpPr>
        <p:spPr>
          <a:xfrm>
            <a:off x="517350" y="2562225"/>
            <a:ext cx="8145900" cy="357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3600"/>
              <a:buNone/>
            </a:pPr>
            <a:r>
              <a:rPr lang="en" sz="2400">
                <a:latin typeface="Cabin"/>
                <a:ea typeface="Cabin"/>
                <a:cs typeface="Cabin"/>
                <a:sym typeface="Cabin"/>
              </a:rPr>
              <a:t>How did you represent things similarly or differently as they collided? Why did you represent them acting the way they do?</a:t>
            </a:r>
            <a:endParaRPr sz="2400">
              <a:latin typeface="Cabin"/>
              <a:ea typeface="Cabin"/>
              <a:cs typeface="Cabin"/>
              <a:sym typeface="Cabin"/>
            </a:endParaRPr>
          </a:p>
          <a:p>
            <a:pPr indent="0" lvl="0" marL="0" rtl="0" algn="l">
              <a:lnSpc>
                <a:spcPct val="100000"/>
              </a:lnSpc>
              <a:spcBef>
                <a:spcPts val="1600"/>
              </a:spcBef>
              <a:spcAft>
                <a:spcPts val="0"/>
              </a:spcAft>
              <a:buSzPts val="3600"/>
              <a:buNone/>
            </a:pPr>
            <a:r>
              <a:rPr lang="en" sz="2400">
                <a:latin typeface="Cabin"/>
                <a:ea typeface="Cabin"/>
                <a:cs typeface="Cabin"/>
                <a:sym typeface="Cabin"/>
              </a:rPr>
              <a:t>Compare the</a:t>
            </a:r>
            <a:r>
              <a:rPr lang="en" sz="2400">
                <a:solidFill>
                  <a:srgbClr val="9A2F3E"/>
                </a:solidFill>
                <a:latin typeface="Cabin"/>
                <a:ea typeface="Cabin"/>
                <a:cs typeface="Cabin"/>
                <a:sym typeface="Cabin"/>
              </a:rPr>
              <a:t> factors and variables</a:t>
            </a:r>
            <a:r>
              <a:rPr lang="en" sz="2400">
                <a:solidFill>
                  <a:srgbClr val="9900FF"/>
                </a:solidFill>
                <a:latin typeface="Cabin"/>
                <a:ea typeface="Cabin"/>
                <a:cs typeface="Cabin"/>
                <a:sym typeface="Cabin"/>
              </a:rPr>
              <a:t> </a:t>
            </a:r>
            <a:r>
              <a:rPr lang="en" sz="2400">
                <a:latin typeface="Cabin"/>
                <a:ea typeface="Cabin"/>
                <a:cs typeface="Cabin"/>
                <a:sym typeface="Cabin"/>
              </a:rPr>
              <a:t>that you each identified that may have contributed to the damage (or lack of damage).</a:t>
            </a:r>
            <a:endParaRPr sz="2400">
              <a:latin typeface="Cabin"/>
              <a:ea typeface="Cabin"/>
              <a:cs typeface="Cabin"/>
              <a:sym typeface="Cabin"/>
            </a:endParaRPr>
          </a:p>
          <a:p>
            <a:pPr indent="0" lvl="0" marL="514350" rtl="0" algn="l">
              <a:lnSpc>
                <a:spcPct val="100000"/>
              </a:lnSpc>
              <a:spcBef>
                <a:spcPts val="1600"/>
              </a:spcBef>
              <a:spcAft>
                <a:spcPts val="0"/>
              </a:spcAft>
              <a:buSzPts val="3600"/>
              <a:buNone/>
            </a:pPr>
            <a:r>
              <a:rPr lang="en" sz="2400">
                <a:latin typeface="Cabin"/>
                <a:ea typeface="Cabin"/>
                <a:cs typeface="Cabin"/>
                <a:sym typeface="Cabin"/>
              </a:rPr>
              <a:t>Put a </a:t>
            </a:r>
            <a:r>
              <a:rPr b="1" lang="en" sz="2400">
                <a:solidFill>
                  <a:srgbClr val="980000"/>
                </a:solidFill>
                <a:latin typeface="Cabin"/>
                <a:ea typeface="Cabin"/>
                <a:cs typeface="Cabin"/>
                <a:sym typeface="Cabin"/>
              </a:rPr>
              <a:t>✓</a:t>
            </a:r>
            <a:r>
              <a:rPr lang="en" sz="2400">
                <a:solidFill>
                  <a:srgbClr val="980000"/>
                </a:solidFill>
                <a:latin typeface="Cabin"/>
                <a:ea typeface="Cabin"/>
                <a:cs typeface="Cabin"/>
                <a:sym typeface="Cabin"/>
              </a:rPr>
              <a:t> on </a:t>
            </a:r>
            <a:r>
              <a:rPr lang="en" sz="2400">
                <a:latin typeface="Cabin"/>
                <a:ea typeface="Cabin"/>
                <a:cs typeface="Cabin"/>
                <a:sym typeface="Cabin"/>
              </a:rPr>
              <a:t>your paper where you and your partner agree on ideas.</a:t>
            </a:r>
            <a:endParaRPr sz="2400">
              <a:latin typeface="Cabin"/>
              <a:ea typeface="Cabin"/>
              <a:cs typeface="Cabin"/>
              <a:sym typeface="Cabin"/>
            </a:endParaRPr>
          </a:p>
          <a:p>
            <a:pPr indent="0" lvl="0" marL="514350" rtl="0" algn="l">
              <a:lnSpc>
                <a:spcPct val="100000"/>
              </a:lnSpc>
              <a:spcBef>
                <a:spcPts val="1600"/>
              </a:spcBef>
              <a:spcAft>
                <a:spcPts val="1600"/>
              </a:spcAft>
              <a:buSzPts val="3600"/>
              <a:buNone/>
            </a:pPr>
            <a:r>
              <a:rPr lang="en" sz="2400">
                <a:latin typeface="Cabin"/>
                <a:ea typeface="Cabin"/>
                <a:cs typeface="Cabin"/>
                <a:sym typeface="Cabin"/>
              </a:rPr>
              <a:t>Put a </a:t>
            </a:r>
            <a:r>
              <a:rPr b="1" lang="en" sz="2400">
                <a:latin typeface="Cabin"/>
                <a:ea typeface="Cabin"/>
                <a:cs typeface="Cabin"/>
                <a:sym typeface="Cabin"/>
              </a:rPr>
              <a:t>?</a:t>
            </a:r>
            <a:r>
              <a:rPr lang="en" sz="2400">
                <a:latin typeface="Cabin"/>
                <a:ea typeface="Cabin"/>
                <a:cs typeface="Cabin"/>
                <a:sym typeface="Cabin"/>
              </a:rPr>
              <a:t> next to areas where you disagree on ideas or have questions.</a:t>
            </a:r>
            <a:endParaRPr sz="2400">
              <a:latin typeface="Cabin"/>
              <a:ea typeface="Cabin"/>
              <a:cs typeface="Cabin"/>
              <a:sym typeface="Cabin"/>
            </a:endParaRPr>
          </a:p>
        </p:txBody>
      </p:sp>
      <p:sp>
        <p:nvSpPr>
          <p:cNvPr id="279" name="Google Shape;279;p32"/>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Sharing Initial Models</a:t>
            </a:r>
            <a:endParaRPr/>
          </a:p>
        </p:txBody>
      </p:sp>
      <p:pic>
        <p:nvPicPr>
          <p:cNvPr descr="With a partner icon" id="280" name="Google Shape;280;p32"/>
          <p:cNvPicPr preferRelativeResize="0"/>
          <p:nvPr/>
        </p:nvPicPr>
        <p:blipFill rotWithShape="1">
          <a:blip r:embed="rId3">
            <a:alphaModFix/>
          </a:blip>
          <a:srcRect b="0" l="0" r="0" t="0"/>
          <a:stretch/>
        </p:blipFill>
        <p:spPr>
          <a:xfrm>
            <a:off x="794200" y="1638075"/>
            <a:ext cx="788750" cy="924150"/>
          </a:xfrm>
          <a:prstGeom prst="rect">
            <a:avLst/>
          </a:prstGeom>
          <a:noFill/>
          <a:ln>
            <a:noFill/>
          </a:ln>
        </p:spPr>
      </p:pic>
      <p:sp>
        <p:nvSpPr>
          <p:cNvPr id="281" name="Google Shape;281;p32"/>
          <p:cNvSpPr txBox="1"/>
          <p:nvPr/>
        </p:nvSpPr>
        <p:spPr>
          <a:xfrm>
            <a:off x="1676400" y="1654550"/>
            <a:ext cx="5946000" cy="540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Share Your Initial Model With a Partner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3"/>
          <p:cNvSpPr txBox="1"/>
          <p:nvPr>
            <p:ph idx="1" type="subTitle"/>
          </p:nvPr>
        </p:nvSpPr>
        <p:spPr>
          <a:xfrm>
            <a:off x="457200" y="75200"/>
            <a:ext cx="3520200" cy="46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solidFill>
                  <a:srgbClr val="980000"/>
                </a:solidFill>
              </a:rPr>
              <a:t>Slide K</a:t>
            </a:r>
            <a:endParaRPr>
              <a:solidFill>
                <a:srgbClr val="980000"/>
              </a:solidFill>
            </a:endParaRPr>
          </a:p>
        </p:txBody>
      </p:sp>
      <p:sp>
        <p:nvSpPr>
          <p:cNvPr id="287" name="Google Shape;287;p33"/>
          <p:cNvSpPr txBox="1"/>
          <p:nvPr>
            <p:ph type="title"/>
          </p:nvPr>
        </p:nvSpPr>
        <p:spPr>
          <a:xfrm>
            <a:off x="457200" y="472450"/>
            <a:ext cx="8229600" cy="685800"/>
          </a:xfrm>
          <a:prstGeom prst="rect">
            <a:avLst/>
          </a:prstGeom>
          <a:solidFill>
            <a:srgbClr val="980000"/>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Classroom Norms</a:t>
            </a:r>
            <a:endParaRPr/>
          </a:p>
        </p:txBody>
      </p:sp>
      <p:graphicFrame>
        <p:nvGraphicFramePr>
          <p:cNvPr id="288" name="Google Shape;288;p33"/>
          <p:cNvGraphicFramePr/>
          <p:nvPr/>
        </p:nvGraphicFramePr>
        <p:xfrm>
          <a:off x="457200" y="1205900"/>
          <a:ext cx="3000000" cy="3000000"/>
        </p:xfrm>
        <a:graphic>
          <a:graphicData uri="http://schemas.openxmlformats.org/drawingml/2006/table">
            <a:tbl>
              <a:tblPr>
                <a:noFill/>
                <a:tableStyleId>{F0E55A38-AAA3-4A13-B69B-84FFE08AEA20}</a:tableStyleId>
              </a:tblPr>
              <a:tblGrid>
                <a:gridCol w="1797950"/>
                <a:gridCol w="6431650"/>
              </a:tblGrid>
              <a:tr h="120100">
                <a:tc gridSpan="2">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rgbClr val="FFFFFF"/>
                        </a:solidFill>
                        <a:latin typeface="Cabin"/>
                        <a:ea typeface="Cabin"/>
                        <a:cs typeface="Cabin"/>
                        <a:sym typeface="Cabin"/>
                      </a:endParaRPr>
                    </a:p>
                  </a:txBody>
                  <a:tcPr marT="63500" marB="63500" marR="63500" marL="63500">
                    <a:lnB cap="flat" cmpd="sng" w="12700">
                      <a:solidFill>
                        <a:srgbClr val="9A2F3E"/>
                      </a:solidFill>
                      <a:prstDash val="solid"/>
                      <a:round/>
                      <a:headEnd len="sm" w="sm" type="none"/>
                      <a:tailEnd len="sm" w="sm" type="none"/>
                    </a:lnB>
                    <a:solidFill>
                      <a:srgbClr val="9A2F3E"/>
                    </a:solidFill>
                  </a:tcPr>
                </a:tc>
                <a:tc hMerge="1"/>
              </a:tr>
              <a:tr h="1393625">
                <a:tc>
                  <a:txBody>
                    <a:bodyPr/>
                    <a:lstStyle/>
                    <a:p>
                      <a:pPr indent="0" lvl="0" marL="0" marR="0" rtl="0" algn="ctr">
                        <a:lnSpc>
                          <a:spcPct val="100000"/>
                        </a:lnSpc>
                        <a:spcBef>
                          <a:spcPts val="0"/>
                        </a:spcBef>
                        <a:spcAft>
                          <a:spcPts val="0"/>
                        </a:spcAft>
                        <a:buClr>
                          <a:srgbClr val="000000"/>
                        </a:buClr>
                        <a:buSzPts val="1600"/>
                        <a:buFont typeface="Arial"/>
                        <a:buNone/>
                      </a:pPr>
                      <a:r>
                        <a:rPr b="1" lang="en" sz="1600" u="none" cap="none" strike="noStrike">
                          <a:latin typeface="Cabin"/>
                          <a:ea typeface="Cabin"/>
                          <a:cs typeface="Cabin"/>
                          <a:sym typeface="Cabin"/>
                        </a:rPr>
                        <a:t>Respectful</a:t>
                      </a:r>
                      <a:endParaRPr b="1" sz="1600" u="none" cap="none" strike="noStrike">
                        <a:latin typeface="Cabin"/>
                        <a:ea typeface="Cabin"/>
                        <a:cs typeface="Cabin"/>
                        <a:sym typeface="Cabin"/>
                      </a:endParaRPr>
                    </a:p>
                    <a:p>
                      <a:pPr indent="0" lvl="0" marL="0" marR="0" rtl="0" algn="ctr">
                        <a:lnSpc>
                          <a:spcPct val="100000"/>
                        </a:lnSpc>
                        <a:spcBef>
                          <a:spcPts val="1000"/>
                        </a:spcBef>
                        <a:spcAft>
                          <a:spcPts val="0"/>
                        </a:spcAft>
                        <a:buClr>
                          <a:srgbClr val="000000"/>
                        </a:buClr>
                        <a:buSzPts val="1600"/>
                        <a:buFont typeface="Arial"/>
                        <a:buNone/>
                      </a:pPr>
                      <a:r>
                        <a:rPr lang="en" sz="1600" u="none" cap="none" strike="noStrike">
                          <a:latin typeface="Cabin"/>
                          <a:ea typeface="Cabin"/>
                          <a:cs typeface="Cabin"/>
                          <a:sym typeface="Cabin"/>
                        </a:rPr>
                        <a:t>Our classroom is a safe space to share.</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5EDEF"/>
                    </a:solidFill>
                  </a:tcPr>
                </a:tc>
                <a:tc>
                  <a:txBody>
                    <a:bodyPr/>
                    <a:lstStyle/>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provide each other with support and encouragement.</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share our time to talk. We do this by giving others time to think and share.</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critique the </a:t>
                      </a:r>
                      <a:r>
                        <a:rPr i="1" lang="en" sz="1600" u="none" cap="none" strike="noStrike">
                          <a:latin typeface="Cabin"/>
                          <a:ea typeface="Cabin"/>
                          <a:cs typeface="Cabin"/>
                          <a:sym typeface="Cabin"/>
                        </a:rPr>
                        <a:t>ideas</a:t>
                      </a:r>
                      <a:r>
                        <a:rPr lang="en" sz="1600" u="none" cap="none" strike="noStrike">
                          <a:latin typeface="Cabin"/>
                          <a:ea typeface="Cabin"/>
                          <a:cs typeface="Cabin"/>
                          <a:sym typeface="Cabin"/>
                        </a:rPr>
                        <a:t> we are working with, but not the </a:t>
                      </a:r>
                      <a:r>
                        <a:rPr i="1" lang="en" sz="1600" u="none" cap="none" strike="noStrike">
                          <a:latin typeface="Cabin"/>
                          <a:ea typeface="Cabin"/>
                          <a:cs typeface="Cabin"/>
                          <a:sym typeface="Cabin"/>
                        </a:rPr>
                        <a:t>people</a:t>
                      </a:r>
                      <a:r>
                        <a:rPr lang="en" sz="1600" u="none" cap="none" strike="noStrike">
                          <a:latin typeface="Cabin"/>
                          <a:ea typeface="Cabin"/>
                          <a:cs typeface="Cabin"/>
                          <a:sym typeface="Cabin"/>
                        </a:rPr>
                        <a:t> we are working with.</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FFFFF"/>
                    </a:solidFill>
                  </a:tcPr>
                </a:tc>
              </a:tr>
              <a:tr h="1267225">
                <a:tc>
                  <a:txBody>
                    <a:bodyPr/>
                    <a:lstStyle/>
                    <a:p>
                      <a:pPr indent="0" lvl="0" marL="0" marR="0" rtl="0" algn="ctr">
                        <a:lnSpc>
                          <a:spcPct val="100000"/>
                        </a:lnSpc>
                        <a:spcBef>
                          <a:spcPts val="0"/>
                        </a:spcBef>
                        <a:spcAft>
                          <a:spcPts val="0"/>
                        </a:spcAft>
                        <a:buClr>
                          <a:srgbClr val="000000"/>
                        </a:buClr>
                        <a:buSzPts val="1600"/>
                        <a:buFont typeface="Arial"/>
                        <a:buNone/>
                      </a:pPr>
                      <a:r>
                        <a:rPr b="1" lang="en" sz="1600" u="none" cap="none" strike="noStrike">
                          <a:latin typeface="Cabin"/>
                          <a:ea typeface="Cabin"/>
                          <a:cs typeface="Cabin"/>
                          <a:sym typeface="Cabin"/>
                        </a:rPr>
                        <a:t>Equitable</a:t>
                      </a:r>
                      <a:endParaRPr sz="1600" u="none" cap="none" strike="noStrike">
                        <a:latin typeface="Cabin"/>
                        <a:ea typeface="Cabin"/>
                        <a:cs typeface="Cabin"/>
                        <a:sym typeface="Cabin"/>
                      </a:endParaRPr>
                    </a:p>
                    <a:p>
                      <a:pPr indent="0" lvl="0" marL="0" marR="0" rtl="0" algn="ctr">
                        <a:lnSpc>
                          <a:spcPct val="100000"/>
                        </a:lnSpc>
                        <a:spcBef>
                          <a:spcPts val="1000"/>
                        </a:spcBef>
                        <a:spcAft>
                          <a:spcPts val="0"/>
                        </a:spcAft>
                        <a:buClr>
                          <a:srgbClr val="000000"/>
                        </a:buClr>
                        <a:buSzPts val="1600"/>
                        <a:buFont typeface="Arial"/>
                        <a:buNone/>
                      </a:pPr>
                      <a:r>
                        <a:rPr lang="en" sz="1600" u="none" cap="none" strike="noStrike">
                          <a:latin typeface="Cabin"/>
                          <a:ea typeface="Cabin"/>
                          <a:cs typeface="Cabin"/>
                          <a:sym typeface="Cabin"/>
                        </a:rPr>
                        <a:t>Everyone’s participation and ideas are valuable.</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5EDEF"/>
                    </a:solidFill>
                  </a:tcPr>
                </a:tc>
                <a:tc>
                  <a:txBody>
                    <a:bodyPr/>
                    <a:lstStyle/>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monitor our own time spent talking.</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encourage others’ voices who we have not heard from yet. </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recognize and value that people think, share, and represent their ideas in different ways.</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FFFFF"/>
                    </a:solidFill>
                  </a:tcPr>
                </a:tc>
              </a:tr>
              <a:tr h="1393625">
                <a:tc>
                  <a:txBody>
                    <a:bodyPr/>
                    <a:lstStyle/>
                    <a:p>
                      <a:pPr indent="0" lvl="0" marL="0" marR="0" rtl="0" algn="ctr">
                        <a:lnSpc>
                          <a:spcPct val="100000"/>
                        </a:lnSpc>
                        <a:spcBef>
                          <a:spcPts val="0"/>
                        </a:spcBef>
                        <a:spcAft>
                          <a:spcPts val="0"/>
                        </a:spcAft>
                        <a:buClr>
                          <a:srgbClr val="000000"/>
                        </a:buClr>
                        <a:buSzPts val="1600"/>
                        <a:buFont typeface="Arial"/>
                        <a:buNone/>
                      </a:pPr>
                      <a:r>
                        <a:rPr b="1" lang="en" sz="1600" u="none" cap="none" strike="noStrike">
                          <a:latin typeface="Cabin"/>
                          <a:ea typeface="Cabin"/>
                          <a:cs typeface="Cabin"/>
                          <a:sym typeface="Cabin"/>
                        </a:rPr>
                        <a:t>Committed to our community</a:t>
                      </a:r>
                      <a:endParaRPr sz="1600" u="none" cap="none" strike="noStrike">
                        <a:latin typeface="Cabin"/>
                        <a:ea typeface="Cabin"/>
                        <a:cs typeface="Cabin"/>
                        <a:sym typeface="Cabin"/>
                      </a:endParaRPr>
                    </a:p>
                    <a:p>
                      <a:pPr indent="0" lvl="0" marL="0" marR="0" rtl="0" algn="ctr">
                        <a:lnSpc>
                          <a:spcPct val="100000"/>
                        </a:lnSpc>
                        <a:spcBef>
                          <a:spcPts val="1000"/>
                        </a:spcBef>
                        <a:spcAft>
                          <a:spcPts val="0"/>
                        </a:spcAft>
                        <a:buClr>
                          <a:srgbClr val="000000"/>
                        </a:buClr>
                        <a:buSzPts val="1600"/>
                        <a:buFont typeface="Arial"/>
                        <a:buNone/>
                      </a:pPr>
                      <a:r>
                        <a:rPr lang="en" sz="1600" u="none" cap="none" strike="noStrike">
                          <a:latin typeface="Cabin"/>
                          <a:ea typeface="Cabin"/>
                          <a:cs typeface="Cabin"/>
                          <a:sym typeface="Cabin"/>
                        </a:rPr>
                        <a:t> We learn together. </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5EDEF"/>
                    </a:solidFill>
                  </a:tcPr>
                </a:tc>
                <a:tc>
                  <a:txBody>
                    <a:bodyPr/>
                    <a:lstStyle/>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come prepared to work toward a common goal. </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share our own thinking to help us all learn.</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listen carefully and ask questions to help us understand everyone’s ideas.</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speak clearly and loud enough so everyone can hear. </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FFFFF"/>
                    </a:solidFill>
                  </a:tcPr>
                </a:tc>
              </a:tr>
              <a:tr h="1393625">
                <a:tc>
                  <a:txBody>
                    <a:bodyPr/>
                    <a:lstStyle/>
                    <a:p>
                      <a:pPr indent="0" lvl="0" marL="0" marR="0" rtl="0" algn="ctr">
                        <a:lnSpc>
                          <a:spcPct val="100000"/>
                        </a:lnSpc>
                        <a:spcBef>
                          <a:spcPts val="0"/>
                        </a:spcBef>
                        <a:spcAft>
                          <a:spcPts val="0"/>
                        </a:spcAft>
                        <a:buClr>
                          <a:srgbClr val="000000"/>
                        </a:buClr>
                        <a:buSzPts val="1600"/>
                        <a:buFont typeface="Arial"/>
                        <a:buNone/>
                      </a:pPr>
                      <a:r>
                        <a:rPr b="1" lang="en" sz="1600" u="none" cap="none" strike="noStrike">
                          <a:latin typeface="Cabin"/>
                          <a:ea typeface="Cabin"/>
                          <a:cs typeface="Cabin"/>
                          <a:sym typeface="Cabin"/>
                        </a:rPr>
                        <a:t>Moving our science thinking forward </a:t>
                      </a:r>
                      <a:endParaRPr sz="1600" u="none" cap="none" strike="noStrike">
                        <a:latin typeface="Cabin"/>
                        <a:ea typeface="Cabin"/>
                        <a:cs typeface="Cabin"/>
                        <a:sym typeface="Cabin"/>
                      </a:endParaRPr>
                    </a:p>
                    <a:p>
                      <a:pPr indent="0" lvl="0" marL="0" marR="0" rtl="0" algn="ctr">
                        <a:lnSpc>
                          <a:spcPct val="100000"/>
                        </a:lnSpc>
                        <a:spcBef>
                          <a:spcPts val="1000"/>
                        </a:spcBef>
                        <a:spcAft>
                          <a:spcPts val="0"/>
                        </a:spcAft>
                        <a:buClr>
                          <a:srgbClr val="000000"/>
                        </a:buClr>
                        <a:buSzPts val="1600"/>
                        <a:buFont typeface="Arial"/>
                        <a:buNone/>
                      </a:pPr>
                      <a:r>
                        <a:rPr lang="en" sz="1600" u="none" cap="none" strike="noStrike">
                          <a:latin typeface="Cabin"/>
                          <a:ea typeface="Cabin"/>
                          <a:cs typeface="Cabin"/>
                          <a:sym typeface="Cabin"/>
                        </a:rPr>
                        <a:t>We work together to figure things out.</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5EDEF"/>
                    </a:solidFill>
                  </a:tcPr>
                </a:tc>
                <a:tc>
                  <a:txBody>
                    <a:bodyPr/>
                    <a:lstStyle/>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use and build on others’ ideas.</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use evidence to support our ideas, ask for evidence from others, and suggest ways to get additional evidence.</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are open to changing our minds.</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challenge ourselves to think in new ways.</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92" name="Shape 292"/>
        <p:cNvGrpSpPr/>
        <p:nvPr/>
      </p:nvGrpSpPr>
      <p:grpSpPr>
        <a:xfrm>
          <a:off x="0" y="0"/>
          <a:ext cx="0" cy="0"/>
          <a:chOff x="0" y="0"/>
          <a:chExt cx="0" cy="0"/>
        </a:xfrm>
      </p:grpSpPr>
      <p:sp>
        <p:nvSpPr>
          <p:cNvPr id="293" name="Google Shape;293;p34"/>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Initial Consensus Model Discussion</a:t>
            </a:r>
            <a:endParaRPr b="0" i="0" sz="3200" u="none" cap="none" strike="noStrike">
              <a:solidFill>
                <a:srgbClr val="FFFFFF"/>
              </a:solidFill>
              <a:latin typeface="Boogaloo"/>
              <a:ea typeface="Boogaloo"/>
              <a:cs typeface="Boogaloo"/>
              <a:sym typeface="Boogaloo"/>
            </a:endParaRPr>
          </a:p>
        </p:txBody>
      </p:sp>
      <p:sp>
        <p:nvSpPr>
          <p:cNvPr id="294" name="Google Shape;294;p34"/>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L</a:t>
            </a:r>
            <a:endParaRPr b="0" i="0" sz="1800" u="none" cap="none" strike="noStrike">
              <a:solidFill>
                <a:srgbClr val="9A2F3E"/>
              </a:solidFill>
              <a:latin typeface="Boogaloo"/>
              <a:ea typeface="Boogaloo"/>
              <a:cs typeface="Boogaloo"/>
              <a:sym typeface="Boogaloo"/>
            </a:endParaRPr>
          </a:p>
        </p:txBody>
      </p:sp>
      <p:sp>
        <p:nvSpPr>
          <p:cNvPr id="295" name="Google Shape;295;p34"/>
          <p:cNvSpPr/>
          <p:nvPr/>
        </p:nvSpPr>
        <p:spPr>
          <a:xfrm>
            <a:off x="457200" y="1471625"/>
            <a:ext cx="8229600" cy="51255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A2F3E"/>
              </a:solidFill>
              <a:latin typeface="Arial"/>
              <a:ea typeface="Arial"/>
              <a:cs typeface="Arial"/>
              <a:sym typeface="Arial"/>
            </a:endParaRPr>
          </a:p>
        </p:txBody>
      </p:sp>
      <p:sp>
        <p:nvSpPr>
          <p:cNvPr id="296" name="Google Shape;296;p34"/>
          <p:cNvSpPr txBox="1"/>
          <p:nvPr/>
        </p:nvSpPr>
        <p:spPr>
          <a:xfrm>
            <a:off x="2044800" y="1603850"/>
            <a:ext cx="5684400" cy="418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980000"/>
                </a:solidFill>
                <a:latin typeface="Cabin Condensed"/>
                <a:ea typeface="Cabin Condensed"/>
                <a:cs typeface="Cabin Condensed"/>
                <a:sym typeface="Cabin Condensed"/>
              </a:rPr>
              <a:t>Develop a whole-group record of what we agree on and where we have competing ideas across the initial models. </a:t>
            </a:r>
            <a:endParaRPr b="1" i="0" sz="2400" u="none" cap="none" strike="noStrike">
              <a:solidFill>
                <a:srgbClr val="98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98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980000"/>
                </a:solidFill>
                <a:latin typeface="Cabin Condensed"/>
                <a:ea typeface="Cabin Condensed"/>
                <a:cs typeface="Cabin Condensed"/>
                <a:sym typeface="Cabin Condensed"/>
              </a:rPr>
              <a:t>As your classmates share their models, mark your model like this:</a:t>
            </a:r>
            <a:endParaRPr b="1" i="0" sz="2400" u="none" cap="none" strike="noStrike">
              <a:solidFill>
                <a:srgbClr val="980000"/>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80000"/>
              </a:buClr>
              <a:buSzPts val="2400"/>
              <a:buFont typeface="Cabin"/>
              <a:buChar char="●"/>
            </a:pPr>
            <a:r>
              <a:rPr b="0" i="0" lang="en" sz="2400" u="none" cap="none" strike="noStrike">
                <a:solidFill>
                  <a:srgbClr val="980000"/>
                </a:solidFill>
                <a:latin typeface="Cabin"/>
                <a:ea typeface="Cabin"/>
                <a:cs typeface="Cabin"/>
                <a:sym typeface="Cabin"/>
              </a:rPr>
              <a:t>If something is similar, place a small check mark (✓) near what is similar on your own model.</a:t>
            </a:r>
            <a:endParaRPr b="0" i="0" sz="2400" u="none" cap="none" strike="noStrike">
              <a:solidFill>
                <a:srgbClr val="980000"/>
              </a:solidFill>
              <a:latin typeface="Cabin"/>
              <a:ea typeface="Cabin"/>
              <a:cs typeface="Cabin"/>
              <a:sym typeface="Cabin"/>
            </a:endParaRPr>
          </a:p>
          <a:p>
            <a:pPr indent="-381000" lvl="0" marL="457200" marR="0" rtl="0" algn="l">
              <a:lnSpc>
                <a:spcPct val="100000"/>
              </a:lnSpc>
              <a:spcBef>
                <a:spcPts val="1000"/>
              </a:spcBef>
              <a:spcAft>
                <a:spcPts val="0"/>
              </a:spcAft>
              <a:buClr>
                <a:srgbClr val="980000"/>
              </a:buClr>
              <a:buSzPts val="2400"/>
              <a:buFont typeface="Cabin"/>
              <a:buChar char="●"/>
            </a:pPr>
            <a:r>
              <a:rPr b="0" i="0" lang="en" sz="2400" u="none" cap="none" strike="noStrike">
                <a:solidFill>
                  <a:srgbClr val="980000"/>
                </a:solidFill>
                <a:latin typeface="Cabin"/>
                <a:ea typeface="Cabin"/>
                <a:cs typeface="Cabin"/>
                <a:sym typeface="Cabin"/>
              </a:rPr>
              <a:t>If something is different, place a question mark (?) near what is different on your own model.</a:t>
            </a:r>
            <a:endParaRPr b="1" i="0" sz="2400" u="none" cap="none" strike="noStrike">
              <a:solidFill>
                <a:srgbClr val="980000"/>
              </a:solidFill>
              <a:latin typeface="Cabin Condensed"/>
              <a:ea typeface="Cabin Condensed"/>
              <a:cs typeface="Cabin Condensed"/>
              <a:sym typeface="Cabin Condensed"/>
            </a:endParaRPr>
          </a:p>
        </p:txBody>
      </p:sp>
      <p:pic>
        <p:nvPicPr>
          <p:cNvPr descr="With your class icon" id="297" name="Google Shape;297;p34"/>
          <p:cNvPicPr preferRelativeResize="0"/>
          <p:nvPr/>
        </p:nvPicPr>
        <p:blipFill rotWithShape="1">
          <a:blip r:embed="rId3">
            <a:alphaModFix/>
          </a:blip>
          <a:srcRect b="0" l="2723" r="2723" t="0"/>
          <a:stretch/>
        </p:blipFill>
        <p:spPr>
          <a:xfrm>
            <a:off x="754976" y="1741751"/>
            <a:ext cx="1016400" cy="1096325"/>
          </a:xfrm>
          <a:prstGeom prst="rect">
            <a:avLst/>
          </a:prstGeom>
          <a:noFill/>
          <a:ln>
            <a:noFill/>
          </a:ln>
        </p:spPr>
      </p:pic>
      <p:pic>
        <p:nvPicPr>
          <p:cNvPr descr="Assessment icon" id="298" name="Google Shape;298;p34"/>
          <p:cNvPicPr preferRelativeResize="0"/>
          <p:nvPr/>
        </p:nvPicPr>
        <p:blipFill rotWithShape="1">
          <a:blip r:embed="rId4">
            <a:alphaModFix/>
          </a:blip>
          <a:srcRect b="0" l="0" r="0" t="0"/>
          <a:stretch/>
        </p:blipFill>
        <p:spPr>
          <a:xfrm>
            <a:off x="8610600" y="67175"/>
            <a:ext cx="457200" cy="41429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5"/>
          <p:cNvSpPr/>
          <p:nvPr/>
        </p:nvSpPr>
        <p:spPr>
          <a:xfrm>
            <a:off x="457175" y="1530700"/>
            <a:ext cx="8229600" cy="5040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35"/>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M</a:t>
            </a:r>
            <a:endParaRPr/>
          </a:p>
        </p:txBody>
      </p:sp>
      <p:sp>
        <p:nvSpPr>
          <p:cNvPr id="305" name="Google Shape;305;p35"/>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Developing Questions</a:t>
            </a:r>
            <a:endParaRPr/>
          </a:p>
        </p:txBody>
      </p:sp>
      <p:sp>
        <p:nvSpPr>
          <p:cNvPr id="306" name="Google Shape;306;p35"/>
          <p:cNvSpPr txBox="1"/>
          <p:nvPr/>
        </p:nvSpPr>
        <p:spPr>
          <a:xfrm>
            <a:off x="802175" y="3050125"/>
            <a:ext cx="7436100" cy="31398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9A2F3E"/>
              </a:buClr>
              <a:buSzPts val="2400"/>
              <a:buFont typeface="Cabin"/>
              <a:buChar char="●"/>
            </a:pPr>
            <a:r>
              <a:rPr b="0" i="0" lang="en" sz="2400" u="none" cap="none" strike="noStrike">
                <a:solidFill>
                  <a:srgbClr val="9A2F3E"/>
                </a:solidFill>
                <a:latin typeface="Cabin"/>
                <a:ea typeface="Cabin"/>
                <a:cs typeface="Cabin"/>
                <a:sym typeface="Cabin"/>
              </a:rPr>
              <a:t>Label a new page “Initial Collision Questions.”</a:t>
            </a:r>
            <a:endParaRPr b="0" i="0" sz="2400" u="none" cap="none" strike="noStrike">
              <a:solidFill>
                <a:srgbClr val="9A2F3E"/>
              </a:solidFill>
              <a:latin typeface="Cabin"/>
              <a:ea typeface="Cabin"/>
              <a:cs typeface="Cabin"/>
              <a:sym typeface="Cabin"/>
            </a:endParaRPr>
          </a:p>
          <a:p>
            <a:pPr indent="-381000" lvl="0" marL="457200" marR="0" rtl="0" algn="l">
              <a:lnSpc>
                <a:spcPct val="100000"/>
              </a:lnSpc>
              <a:spcBef>
                <a:spcPts val="1000"/>
              </a:spcBef>
              <a:spcAft>
                <a:spcPts val="0"/>
              </a:spcAft>
              <a:buClr>
                <a:srgbClr val="9A2F3E"/>
              </a:buClr>
              <a:buSzPts val="2400"/>
              <a:buFont typeface="Cabin"/>
              <a:buChar char="●"/>
            </a:pPr>
            <a:r>
              <a:rPr b="0" i="0" lang="en" sz="2400" u="none" cap="none" strike="noStrike">
                <a:solidFill>
                  <a:srgbClr val="9A2F3E"/>
                </a:solidFill>
                <a:latin typeface="Cabin"/>
                <a:ea typeface="Cabin"/>
                <a:cs typeface="Cabin"/>
                <a:sym typeface="Cabin"/>
              </a:rPr>
              <a:t>Look at the Consensus Model for Collisions poster.</a:t>
            </a:r>
            <a:endParaRPr b="0" i="0" sz="2400" u="none" cap="none" strike="noStrike">
              <a:solidFill>
                <a:srgbClr val="9A2F3E"/>
              </a:solidFill>
              <a:latin typeface="Cabin"/>
              <a:ea typeface="Cabin"/>
              <a:cs typeface="Cabin"/>
              <a:sym typeface="Cabin"/>
            </a:endParaRPr>
          </a:p>
          <a:p>
            <a:pPr indent="-381000" lvl="0" marL="457200" marR="0" rtl="0" algn="l">
              <a:lnSpc>
                <a:spcPct val="100000"/>
              </a:lnSpc>
              <a:spcBef>
                <a:spcPts val="1000"/>
              </a:spcBef>
              <a:spcAft>
                <a:spcPts val="0"/>
              </a:spcAft>
              <a:buClr>
                <a:srgbClr val="9A2F3E"/>
              </a:buClr>
              <a:buSzPts val="2400"/>
              <a:buFont typeface="Cabin"/>
              <a:buChar char="●"/>
            </a:pPr>
            <a:r>
              <a:rPr b="0" i="0" lang="en" sz="2400" u="none" cap="none" strike="noStrike">
                <a:solidFill>
                  <a:srgbClr val="9A2F3E"/>
                </a:solidFill>
                <a:latin typeface="Cabin"/>
                <a:ea typeface="Cabin"/>
                <a:cs typeface="Cabin"/>
                <a:sym typeface="Cabin"/>
              </a:rPr>
              <a:t>What new questions do you have about the objects in a collision and the changes that might happen during a collision?</a:t>
            </a:r>
            <a:endParaRPr b="0" i="0" sz="2400" u="none" cap="none" strike="noStrike">
              <a:solidFill>
                <a:srgbClr val="9A2F3E"/>
              </a:solidFill>
              <a:latin typeface="Cabin"/>
              <a:ea typeface="Cabin"/>
              <a:cs typeface="Cabin"/>
              <a:sym typeface="Cabin"/>
            </a:endParaRPr>
          </a:p>
          <a:p>
            <a:pPr indent="-381000" lvl="0" marL="457200" marR="0" rtl="0" algn="l">
              <a:lnSpc>
                <a:spcPct val="100000"/>
              </a:lnSpc>
              <a:spcBef>
                <a:spcPts val="1000"/>
              </a:spcBef>
              <a:spcAft>
                <a:spcPts val="0"/>
              </a:spcAft>
              <a:buClr>
                <a:srgbClr val="9A2F3E"/>
              </a:buClr>
              <a:buSzPts val="2400"/>
              <a:buFont typeface="Cabin"/>
              <a:buChar char="●"/>
            </a:pPr>
            <a:r>
              <a:rPr b="0" i="0" lang="en" sz="2400" u="none" cap="none" strike="noStrike">
                <a:solidFill>
                  <a:srgbClr val="9A2F3E"/>
                </a:solidFill>
                <a:latin typeface="Cabin"/>
                <a:ea typeface="Cabin"/>
                <a:cs typeface="Cabin"/>
                <a:sym typeface="Cabin"/>
              </a:rPr>
              <a:t>Write the question(s) in your notebook.</a:t>
            </a:r>
            <a:endParaRPr b="0" i="0" sz="2400" u="none" cap="none" strike="noStrike">
              <a:solidFill>
                <a:srgbClr val="9A2F3E"/>
              </a:solidFill>
              <a:latin typeface="Cabin"/>
              <a:ea typeface="Cabin"/>
              <a:cs typeface="Cabin"/>
              <a:sym typeface="Cabin"/>
            </a:endParaRPr>
          </a:p>
          <a:p>
            <a:pPr indent="0" lvl="0" marL="457200" marR="0" rtl="0" algn="l">
              <a:lnSpc>
                <a:spcPct val="100000"/>
              </a:lnSpc>
              <a:spcBef>
                <a:spcPts val="1000"/>
              </a:spcBef>
              <a:spcAft>
                <a:spcPts val="1000"/>
              </a:spcAft>
              <a:buClr>
                <a:srgbClr val="000000"/>
              </a:buClr>
              <a:buSzPts val="2400"/>
              <a:buFont typeface="Arial"/>
              <a:buNone/>
            </a:pPr>
            <a:r>
              <a:t/>
            </a:r>
            <a:endParaRPr b="0" i="0" sz="2400" u="none" cap="none" strike="noStrike">
              <a:solidFill>
                <a:srgbClr val="9A2F3E"/>
              </a:solidFill>
              <a:latin typeface="Cabin"/>
              <a:ea typeface="Cabin"/>
              <a:cs typeface="Cabin"/>
              <a:sym typeface="Cabin"/>
            </a:endParaRPr>
          </a:p>
        </p:txBody>
      </p:sp>
      <p:sp>
        <p:nvSpPr>
          <p:cNvPr id="307" name="Google Shape;307;p35"/>
          <p:cNvSpPr txBox="1"/>
          <p:nvPr>
            <p:ph idx="2" type="body"/>
          </p:nvPr>
        </p:nvSpPr>
        <p:spPr>
          <a:xfrm>
            <a:off x="1996800" y="1804675"/>
            <a:ext cx="4060200" cy="87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sz="3000"/>
              <a:t>On Your Own</a:t>
            </a:r>
            <a:endParaRPr sz="3000"/>
          </a:p>
        </p:txBody>
      </p:sp>
      <p:pic>
        <p:nvPicPr>
          <p:cNvPr descr="On your own icon" id="308" name="Google Shape;308;p35"/>
          <p:cNvPicPr preferRelativeResize="0"/>
          <p:nvPr/>
        </p:nvPicPr>
        <p:blipFill rotWithShape="1">
          <a:blip r:embed="rId3">
            <a:alphaModFix/>
          </a:blip>
          <a:srcRect b="0" l="0" r="0" t="0"/>
          <a:stretch/>
        </p:blipFill>
        <p:spPr>
          <a:xfrm>
            <a:off x="914400" y="1769875"/>
            <a:ext cx="844004" cy="995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12" name="Shape 312"/>
        <p:cNvGrpSpPr/>
        <p:nvPr/>
      </p:nvGrpSpPr>
      <p:grpSpPr>
        <a:xfrm>
          <a:off x="0" y="0"/>
          <a:ext cx="0" cy="0"/>
          <a:chOff x="0" y="0"/>
          <a:chExt cx="0" cy="0"/>
        </a:xfrm>
      </p:grpSpPr>
      <p:sp>
        <p:nvSpPr>
          <p:cNvPr id="313" name="Google Shape;313;p36"/>
          <p:cNvSpPr/>
          <p:nvPr/>
        </p:nvSpPr>
        <p:spPr>
          <a:xfrm>
            <a:off x="457175" y="1378300"/>
            <a:ext cx="8229600" cy="5040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36"/>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Going Public with Factors and Variables</a:t>
            </a:r>
            <a:endParaRPr b="0" i="0" sz="3200" u="none" cap="none" strike="noStrike">
              <a:solidFill>
                <a:srgbClr val="FFFFFF"/>
              </a:solidFill>
              <a:latin typeface="Boogaloo"/>
              <a:ea typeface="Boogaloo"/>
              <a:cs typeface="Boogaloo"/>
              <a:sym typeface="Boogaloo"/>
            </a:endParaRPr>
          </a:p>
        </p:txBody>
      </p:sp>
      <p:sp>
        <p:nvSpPr>
          <p:cNvPr id="315" name="Google Shape;315;p36"/>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N</a:t>
            </a:r>
            <a:endParaRPr b="0" i="0" sz="1800" u="none" cap="none" strike="noStrike">
              <a:solidFill>
                <a:srgbClr val="9A2F3E"/>
              </a:solidFill>
              <a:latin typeface="Boogaloo"/>
              <a:ea typeface="Boogaloo"/>
              <a:cs typeface="Boogaloo"/>
              <a:sym typeface="Boogaloo"/>
            </a:endParaRPr>
          </a:p>
        </p:txBody>
      </p:sp>
      <p:sp>
        <p:nvSpPr>
          <p:cNvPr id="316" name="Google Shape;316;p36"/>
          <p:cNvSpPr txBox="1"/>
          <p:nvPr/>
        </p:nvSpPr>
        <p:spPr>
          <a:xfrm>
            <a:off x="929000" y="3141925"/>
            <a:ext cx="3247200" cy="195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980000"/>
                </a:solidFill>
                <a:latin typeface="Cabin Condensed"/>
                <a:ea typeface="Cabin Condensed"/>
                <a:cs typeface="Cabin Condensed"/>
                <a:sym typeface="Cabin Condensed"/>
              </a:rPr>
              <a:t>Look back at your Patterns in collisions chart. </a:t>
            </a:r>
            <a:endParaRPr b="0" i="0" sz="2400" u="none" cap="none" strike="noStrike">
              <a:solidFill>
                <a:srgbClr val="98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98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980000"/>
                </a:solidFill>
                <a:latin typeface="Cabin Condensed"/>
                <a:ea typeface="Cabin Condensed"/>
                <a:cs typeface="Cabin Condensed"/>
                <a:sym typeface="Cabin Condensed"/>
              </a:rPr>
              <a:t>Share any factors or variables that might affect the amount of damage in a collision.</a:t>
            </a:r>
            <a:endParaRPr b="0" i="0" sz="2400" u="none" cap="none" strike="noStrike">
              <a:solidFill>
                <a:srgbClr val="980000"/>
              </a:solidFill>
              <a:latin typeface="Cabin Condensed"/>
              <a:ea typeface="Cabin Condensed"/>
              <a:cs typeface="Cabin Condensed"/>
              <a:sym typeface="Cabin Condensed"/>
            </a:endParaRPr>
          </a:p>
        </p:txBody>
      </p:sp>
      <p:pic>
        <p:nvPicPr>
          <p:cNvPr descr="A lined notebook page is divided by a vertical line. The left side is labeled Patterns in Collisions and the right side is labeled Factors/Variables that might cause damage in a collision." id="317" name="Google Shape;317;p36"/>
          <p:cNvPicPr preferRelativeResize="0"/>
          <p:nvPr/>
        </p:nvPicPr>
        <p:blipFill rotWithShape="1">
          <a:blip r:embed="rId3">
            <a:alphaModFix/>
          </a:blip>
          <a:srcRect b="-3127" l="49928" r="-823" t="-1485"/>
          <a:stretch/>
        </p:blipFill>
        <p:spPr>
          <a:xfrm flipH="1" rot="-58716">
            <a:off x="4595598" y="1637790"/>
            <a:ext cx="3772006" cy="4661845"/>
          </a:xfrm>
          <a:prstGeom prst="rect">
            <a:avLst/>
          </a:prstGeom>
          <a:noFill/>
          <a:ln>
            <a:noFill/>
          </a:ln>
          <a:effectLst>
            <a:outerShdw blurRad="57150" rotWithShape="0" algn="bl" dir="5400000" dist="19050">
              <a:srgbClr val="000000">
                <a:alpha val="49019"/>
              </a:srgbClr>
            </a:outerShdw>
          </a:effectLst>
        </p:spPr>
      </p:pic>
      <p:sp>
        <p:nvSpPr>
          <p:cNvPr id="318" name="Google Shape;318;p36"/>
          <p:cNvSpPr txBox="1"/>
          <p:nvPr/>
        </p:nvSpPr>
        <p:spPr>
          <a:xfrm rot="-58759">
            <a:off x="5015871" y="1988384"/>
            <a:ext cx="1404205" cy="666713"/>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aveat"/>
                <a:ea typeface="Caveat"/>
                <a:cs typeface="Caveat"/>
                <a:sym typeface="Caveat"/>
              </a:rPr>
              <a:t>Patterns in collisions</a:t>
            </a:r>
            <a:endParaRPr b="0" i="0" sz="1800" u="none" cap="none" strike="noStrike">
              <a:solidFill>
                <a:srgbClr val="000000"/>
              </a:solidFill>
              <a:latin typeface="Caveat"/>
              <a:ea typeface="Caveat"/>
              <a:cs typeface="Caveat"/>
              <a:sym typeface="Caveat"/>
            </a:endParaRPr>
          </a:p>
        </p:txBody>
      </p:sp>
      <p:sp>
        <p:nvSpPr>
          <p:cNvPr id="319" name="Google Shape;319;p36"/>
          <p:cNvSpPr txBox="1"/>
          <p:nvPr/>
        </p:nvSpPr>
        <p:spPr>
          <a:xfrm rot="-59130">
            <a:off x="6635881" y="1882347"/>
            <a:ext cx="1709353" cy="878244"/>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aveat"/>
                <a:ea typeface="Caveat"/>
                <a:cs typeface="Caveat"/>
                <a:sym typeface="Caveat"/>
              </a:rPr>
              <a:t>Factors or variables that might cause damage in a collision</a:t>
            </a:r>
            <a:endParaRPr b="0" i="0" sz="1800" u="none" cap="none" strike="noStrike">
              <a:solidFill>
                <a:srgbClr val="000000"/>
              </a:solidFill>
              <a:latin typeface="Caveat"/>
              <a:ea typeface="Caveat"/>
              <a:cs typeface="Caveat"/>
              <a:sym typeface="Caveat"/>
            </a:endParaRPr>
          </a:p>
        </p:txBody>
      </p:sp>
      <p:cxnSp>
        <p:nvCxnSpPr>
          <p:cNvPr id="320" name="Google Shape;320;p36"/>
          <p:cNvCxnSpPr/>
          <p:nvPr/>
        </p:nvCxnSpPr>
        <p:spPr>
          <a:xfrm flipH="1" rot="10800000">
            <a:off x="4797656" y="2774392"/>
            <a:ext cx="3652500" cy="39000"/>
          </a:xfrm>
          <a:prstGeom prst="straightConnector1">
            <a:avLst/>
          </a:prstGeom>
          <a:noFill/>
          <a:ln cap="flat" cmpd="sng" w="9525">
            <a:solidFill>
              <a:srgbClr val="000000"/>
            </a:solidFill>
            <a:prstDash val="solid"/>
            <a:round/>
            <a:headEnd len="sm" w="sm" type="none"/>
            <a:tailEnd len="sm" w="sm" type="none"/>
          </a:ln>
        </p:spPr>
      </p:cxnSp>
      <p:cxnSp>
        <p:nvCxnSpPr>
          <p:cNvPr id="321" name="Google Shape;321;p36"/>
          <p:cNvCxnSpPr/>
          <p:nvPr/>
        </p:nvCxnSpPr>
        <p:spPr>
          <a:xfrm rot="10800000">
            <a:off x="6521837" y="2004264"/>
            <a:ext cx="99600" cy="3883800"/>
          </a:xfrm>
          <a:prstGeom prst="straightConnector1">
            <a:avLst/>
          </a:prstGeom>
          <a:noFill/>
          <a:ln cap="flat" cmpd="sng" w="9525">
            <a:solidFill>
              <a:srgbClr val="000000"/>
            </a:solidFill>
            <a:prstDash val="solid"/>
            <a:round/>
            <a:headEnd len="sm" w="sm" type="none"/>
            <a:tailEnd len="sm" w="sm" type="none"/>
          </a:ln>
        </p:spPr>
      </p:cxnSp>
      <p:sp>
        <p:nvSpPr>
          <p:cNvPr id="322" name="Google Shape;322;p36"/>
          <p:cNvSpPr txBox="1"/>
          <p:nvPr/>
        </p:nvSpPr>
        <p:spPr>
          <a:xfrm>
            <a:off x="1880400" y="1693300"/>
            <a:ext cx="2295900" cy="536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b="0" i="0" lang="en" sz="3000" u="none" cap="none" strike="noStrike">
                <a:solidFill>
                  <a:srgbClr val="9A2F3E"/>
                </a:solidFill>
                <a:latin typeface="Boogaloo"/>
                <a:ea typeface="Boogaloo"/>
                <a:cs typeface="Boogaloo"/>
                <a:sym typeface="Boogaloo"/>
              </a:rPr>
              <a:t>With Your Class</a:t>
            </a:r>
            <a:endParaRPr b="0" i="0" sz="3000" u="none" cap="none" strike="noStrike">
              <a:solidFill>
                <a:srgbClr val="000000"/>
              </a:solidFill>
              <a:latin typeface="Boogaloo"/>
              <a:ea typeface="Boogaloo"/>
              <a:cs typeface="Boogaloo"/>
              <a:sym typeface="Boogaloo"/>
            </a:endParaRPr>
          </a:p>
        </p:txBody>
      </p:sp>
      <p:pic>
        <p:nvPicPr>
          <p:cNvPr descr="With your class icon" id="323" name="Google Shape;323;p36"/>
          <p:cNvPicPr preferRelativeResize="0"/>
          <p:nvPr/>
        </p:nvPicPr>
        <p:blipFill rotWithShape="1">
          <a:blip r:embed="rId4">
            <a:alphaModFix/>
          </a:blip>
          <a:srcRect b="0" l="0" r="0" t="0"/>
          <a:stretch/>
        </p:blipFill>
        <p:spPr>
          <a:xfrm>
            <a:off x="523475" y="1632525"/>
            <a:ext cx="1356925" cy="137790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7"/>
          <p:cNvSpPr txBox="1"/>
          <p:nvPr>
            <p:ph idx="1" type="subTitle"/>
          </p:nvPr>
        </p:nvSpPr>
        <p:spPr>
          <a:xfrm>
            <a:off x="457200" y="75200"/>
            <a:ext cx="3520200" cy="46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solidFill>
                  <a:srgbClr val="980000"/>
                </a:solidFill>
              </a:rPr>
              <a:t>Slide O</a:t>
            </a:r>
            <a:endParaRPr>
              <a:solidFill>
                <a:srgbClr val="980000"/>
              </a:solidFill>
            </a:endParaRPr>
          </a:p>
        </p:txBody>
      </p:sp>
      <p:sp>
        <p:nvSpPr>
          <p:cNvPr id="329" name="Google Shape;329;p37"/>
          <p:cNvSpPr txBox="1"/>
          <p:nvPr>
            <p:ph type="title"/>
          </p:nvPr>
        </p:nvSpPr>
        <p:spPr>
          <a:xfrm>
            <a:off x="457200" y="472450"/>
            <a:ext cx="8229600" cy="685800"/>
          </a:xfrm>
          <a:prstGeom prst="rect">
            <a:avLst/>
          </a:prstGeom>
          <a:solidFill>
            <a:srgbClr val="980000"/>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Classroom Norms</a:t>
            </a:r>
            <a:endParaRPr/>
          </a:p>
        </p:txBody>
      </p:sp>
      <p:graphicFrame>
        <p:nvGraphicFramePr>
          <p:cNvPr id="330" name="Google Shape;330;p37"/>
          <p:cNvGraphicFramePr/>
          <p:nvPr/>
        </p:nvGraphicFramePr>
        <p:xfrm>
          <a:off x="457200" y="1205900"/>
          <a:ext cx="3000000" cy="3000000"/>
        </p:xfrm>
        <a:graphic>
          <a:graphicData uri="http://schemas.openxmlformats.org/drawingml/2006/table">
            <a:tbl>
              <a:tblPr>
                <a:noFill/>
                <a:tableStyleId>{F0E55A38-AAA3-4A13-B69B-84FFE08AEA20}</a:tableStyleId>
              </a:tblPr>
              <a:tblGrid>
                <a:gridCol w="1797950"/>
                <a:gridCol w="6431650"/>
              </a:tblGrid>
              <a:tr h="120100">
                <a:tc gridSpan="2">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rgbClr val="FFFFFF"/>
                        </a:solidFill>
                        <a:latin typeface="Cabin"/>
                        <a:ea typeface="Cabin"/>
                        <a:cs typeface="Cabin"/>
                        <a:sym typeface="Cabin"/>
                      </a:endParaRPr>
                    </a:p>
                  </a:txBody>
                  <a:tcPr marT="63500" marB="63500" marR="63500" marL="63500">
                    <a:lnB cap="flat" cmpd="sng" w="12700">
                      <a:solidFill>
                        <a:srgbClr val="9A2F3E"/>
                      </a:solidFill>
                      <a:prstDash val="solid"/>
                      <a:round/>
                      <a:headEnd len="sm" w="sm" type="none"/>
                      <a:tailEnd len="sm" w="sm" type="none"/>
                    </a:lnB>
                    <a:solidFill>
                      <a:srgbClr val="9A2F3E"/>
                    </a:solidFill>
                  </a:tcPr>
                </a:tc>
                <a:tc hMerge="1"/>
              </a:tr>
              <a:tr h="1393625">
                <a:tc>
                  <a:txBody>
                    <a:bodyPr/>
                    <a:lstStyle/>
                    <a:p>
                      <a:pPr indent="0" lvl="0" marL="0" marR="0" rtl="0" algn="ctr">
                        <a:lnSpc>
                          <a:spcPct val="100000"/>
                        </a:lnSpc>
                        <a:spcBef>
                          <a:spcPts val="0"/>
                        </a:spcBef>
                        <a:spcAft>
                          <a:spcPts val="0"/>
                        </a:spcAft>
                        <a:buClr>
                          <a:srgbClr val="000000"/>
                        </a:buClr>
                        <a:buSzPts val="1600"/>
                        <a:buFont typeface="Arial"/>
                        <a:buNone/>
                      </a:pPr>
                      <a:r>
                        <a:rPr b="1" lang="en" sz="1600" u="none" cap="none" strike="noStrike">
                          <a:latin typeface="Cabin"/>
                          <a:ea typeface="Cabin"/>
                          <a:cs typeface="Cabin"/>
                          <a:sym typeface="Cabin"/>
                        </a:rPr>
                        <a:t>Respectful</a:t>
                      </a:r>
                      <a:endParaRPr b="1" sz="1600" u="none" cap="none" strike="noStrike">
                        <a:latin typeface="Cabin"/>
                        <a:ea typeface="Cabin"/>
                        <a:cs typeface="Cabin"/>
                        <a:sym typeface="Cabin"/>
                      </a:endParaRPr>
                    </a:p>
                    <a:p>
                      <a:pPr indent="0" lvl="0" marL="0" marR="0" rtl="0" algn="ctr">
                        <a:lnSpc>
                          <a:spcPct val="100000"/>
                        </a:lnSpc>
                        <a:spcBef>
                          <a:spcPts val="1000"/>
                        </a:spcBef>
                        <a:spcAft>
                          <a:spcPts val="0"/>
                        </a:spcAft>
                        <a:buClr>
                          <a:srgbClr val="000000"/>
                        </a:buClr>
                        <a:buSzPts val="1600"/>
                        <a:buFont typeface="Arial"/>
                        <a:buNone/>
                      </a:pPr>
                      <a:r>
                        <a:rPr lang="en" sz="1600" u="none" cap="none" strike="noStrike">
                          <a:latin typeface="Cabin"/>
                          <a:ea typeface="Cabin"/>
                          <a:cs typeface="Cabin"/>
                          <a:sym typeface="Cabin"/>
                        </a:rPr>
                        <a:t>Our classroom is a safe space to share.</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5EDEF"/>
                    </a:solidFill>
                  </a:tcPr>
                </a:tc>
                <a:tc>
                  <a:txBody>
                    <a:bodyPr/>
                    <a:lstStyle/>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provide each other with support and encouragement.</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share our time to talk. We do this by giving others time to think and share.</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critique the </a:t>
                      </a:r>
                      <a:r>
                        <a:rPr i="1" lang="en" sz="1600" u="none" cap="none" strike="noStrike">
                          <a:latin typeface="Cabin"/>
                          <a:ea typeface="Cabin"/>
                          <a:cs typeface="Cabin"/>
                          <a:sym typeface="Cabin"/>
                        </a:rPr>
                        <a:t>ideas</a:t>
                      </a:r>
                      <a:r>
                        <a:rPr lang="en" sz="1600" u="none" cap="none" strike="noStrike">
                          <a:latin typeface="Cabin"/>
                          <a:ea typeface="Cabin"/>
                          <a:cs typeface="Cabin"/>
                          <a:sym typeface="Cabin"/>
                        </a:rPr>
                        <a:t> we are working with, but not the </a:t>
                      </a:r>
                      <a:r>
                        <a:rPr i="1" lang="en" sz="1600" u="none" cap="none" strike="noStrike">
                          <a:latin typeface="Cabin"/>
                          <a:ea typeface="Cabin"/>
                          <a:cs typeface="Cabin"/>
                          <a:sym typeface="Cabin"/>
                        </a:rPr>
                        <a:t>people</a:t>
                      </a:r>
                      <a:r>
                        <a:rPr lang="en" sz="1600" u="none" cap="none" strike="noStrike">
                          <a:latin typeface="Cabin"/>
                          <a:ea typeface="Cabin"/>
                          <a:cs typeface="Cabin"/>
                          <a:sym typeface="Cabin"/>
                        </a:rPr>
                        <a:t> we are working with.</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FFFFF"/>
                    </a:solidFill>
                  </a:tcPr>
                </a:tc>
              </a:tr>
              <a:tr h="1267225">
                <a:tc>
                  <a:txBody>
                    <a:bodyPr/>
                    <a:lstStyle/>
                    <a:p>
                      <a:pPr indent="0" lvl="0" marL="0" marR="0" rtl="0" algn="ctr">
                        <a:lnSpc>
                          <a:spcPct val="100000"/>
                        </a:lnSpc>
                        <a:spcBef>
                          <a:spcPts val="0"/>
                        </a:spcBef>
                        <a:spcAft>
                          <a:spcPts val="0"/>
                        </a:spcAft>
                        <a:buClr>
                          <a:srgbClr val="000000"/>
                        </a:buClr>
                        <a:buSzPts val="1600"/>
                        <a:buFont typeface="Arial"/>
                        <a:buNone/>
                      </a:pPr>
                      <a:r>
                        <a:rPr b="1" lang="en" sz="1600" u="none" cap="none" strike="noStrike">
                          <a:latin typeface="Cabin"/>
                          <a:ea typeface="Cabin"/>
                          <a:cs typeface="Cabin"/>
                          <a:sym typeface="Cabin"/>
                        </a:rPr>
                        <a:t>Equitable</a:t>
                      </a:r>
                      <a:endParaRPr sz="1600" u="none" cap="none" strike="noStrike">
                        <a:latin typeface="Cabin"/>
                        <a:ea typeface="Cabin"/>
                        <a:cs typeface="Cabin"/>
                        <a:sym typeface="Cabin"/>
                      </a:endParaRPr>
                    </a:p>
                    <a:p>
                      <a:pPr indent="0" lvl="0" marL="0" marR="0" rtl="0" algn="ctr">
                        <a:lnSpc>
                          <a:spcPct val="100000"/>
                        </a:lnSpc>
                        <a:spcBef>
                          <a:spcPts val="1000"/>
                        </a:spcBef>
                        <a:spcAft>
                          <a:spcPts val="0"/>
                        </a:spcAft>
                        <a:buClr>
                          <a:srgbClr val="000000"/>
                        </a:buClr>
                        <a:buSzPts val="1600"/>
                        <a:buFont typeface="Arial"/>
                        <a:buNone/>
                      </a:pPr>
                      <a:r>
                        <a:rPr lang="en" sz="1600" u="none" cap="none" strike="noStrike">
                          <a:latin typeface="Cabin"/>
                          <a:ea typeface="Cabin"/>
                          <a:cs typeface="Cabin"/>
                          <a:sym typeface="Cabin"/>
                        </a:rPr>
                        <a:t>Everyone’s participation and ideas are valuable.</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5EDEF"/>
                    </a:solidFill>
                  </a:tcPr>
                </a:tc>
                <a:tc>
                  <a:txBody>
                    <a:bodyPr/>
                    <a:lstStyle/>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monitor our own time spent talking.</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encourage others’ voices who we have not heard from yet. </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recognize and value that people think, share, and represent their ideas in different ways.</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FFFFF"/>
                    </a:solidFill>
                  </a:tcPr>
                </a:tc>
              </a:tr>
              <a:tr h="1393625">
                <a:tc>
                  <a:txBody>
                    <a:bodyPr/>
                    <a:lstStyle/>
                    <a:p>
                      <a:pPr indent="0" lvl="0" marL="0" marR="0" rtl="0" algn="ctr">
                        <a:lnSpc>
                          <a:spcPct val="100000"/>
                        </a:lnSpc>
                        <a:spcBef>
                          <a:spcPts val="0"/>
                        </a:spcBef>
                        <a:spcAft>
                          <a:spcPts val="0"/>
                        </a:spcAft>
                        <a:buClr>
                          <a:srgbClr val="000000"/>
                        </a:buClr>
                        <a:buSzPts val="1600"/>
                        <a:buFont typeface="Arial"/>
                        <a:buNone/>
                      </a:pPr>
                      <a:r>
                        <a:rPr b="1" lang="en" sz="1600" u="none" cap="none" strike="noStrike">
                          <a:latin typeface="Cabin"/>
                          <a:ea typeface="Cabin"/>
                          <a:cs typeface="Cabin"/>
                          <a:sym typeface="Cabin"/>
                        </a:rPr>
                        <a:t>Committed to our community</a:t>
                      </a:r>
                      <a:endParaRPr sz="1600" u="none" cap="none" strike="noStrike">
                        <a:latin typeface="Cabin"/>
                        <a:ea typeface="Cabin"/>
                        <a:cs typeface="Cabin"/>
                        <a:sym typeface="Cabin"/>
                      </a:endParaRPr>
                    </a:p>
                    <a:p>
                      <a:pPr indent="0" lvl="0" marL="0" marR="0" rtl="0" algn="ctr">
                        <a:lnSpc>
                          <a:spcPct val="100000"/>
                        </a:lnSpc>
                        <a:spcBef>
                          <a:spcPts val="1000"/>
                        </a:spcBef>
                        <a:spcAft>
                          <a:spcPts val="0"/>
                        </a:spcAft>
                        <a:buClr>
                          <a:srgbClr val="000000"/>
                        </a:buClr>
                        <a:buSzPts val="1600"/>
                        <a:buFont typeface="Arial"/>
                        <a:buNone/>
                      </a:pPr>
                      <a:r>
                        <a:rPr lang="en" sz="1600" u="none" cap="none" strike="noStrike">
                          <a:latin typeface="Cabin"/>
                          <a:ea typeface="Cabin"/>
                          <a:cs typeface="Cabin"/>
                          <a:sym typeface="Cabin"/>
                        </a:rPr>
                        <a:t> We learn together. </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5EDEF"/>
                    </a:solidFill>
                  </a:tcPr>
                </a:tc>
                <a:tc>
                  <a:txBody>
                    <a:bodyPr/>
                    <a:lstStyle/>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come prepared to work toward a common goal. </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share our own thinking to help us all learn.</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listen carefully and ask questions to help us understand everyone’s ideas.</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speak clearly and loud enough so everyone can hear. </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FFFFF"/>
                    </a:solidFill>
                  </a:tcPr>
                </a:tc>
              </a:tr>
              <a:tr h="1393625">
                <a:tc>
                  <a:txBody>
                    <a:bodyPr/>
                    <a:lstStyle/>
                    <a:p>
                      <a:pPr indent="0" lvl="0" marL="0" marR="0" rtl="0" algn="ctr">
                        <a:lnSpc>
                          <a:spcPct val="100000"/>
                        </a:lnSpc>
                        <a:spcBef>
                          <a:spcPts val="0"/>
                        </a:spcBef>
                        <a:spcAft>
                          <a:spcPts val="0"/>
                        </a:spcAft>
                        <a:buClr>
                          <a:srgbClr val="000000"/>
                        </a:buClr>
                        <a:buSzPts val="1600"/>
                        <a:buFont typeface="Arial"/>
                        <a:buNone/>
                      </a:pPr>
                      <a:r>
                        <a:rPr b="1" lang="en" sz="1600" u="none" cap="none" strike="noStrike">
                          <a:latin typeface="Cabin"/>
                          <a:ea typeface="Cabin"/>
                          <a:cs typeface="Cabin"/>
                          <a:sym typeface="Cabin"/>
                        </a:rPr>
                        <a:t>Moving our science thinking forward </a:t>
                      </a:r>
                      <a:endParaRPr sz="1600" u="none" cap="none" strike="noStrike">
                        <a:latin typeface="Cabin"/>
                        <a:ea typeface="Cabin"/>
                        <a:cs typeface="Cabin"/>
                        <a:sym typeface="Cabin"/>
                      </a:endParaRPr>
                    </a:p>
                    <a:p>
                      <a:pPr indent="0" lvl="0" marL="0" marR="0" rtl="0" algn="ctr">
                        <a:lnSpc>
                          <a:spcPct val="100000"/>
                        </a:lnSpc>
                        <a:spcBef>
                          <a:spcPts val="1000"/>
                        </a:spcBef>
                        <a:spcAft>
                          <a:spcPts val="0"/>
                        </a:spcAft>
                        <a:buClr>
                          <a:srgbClr val="000000"/>
                        </a:buClr>
                        <a:buSzPts val="1600"/>
                        <a:buFont typeface="Arial"/>
                        <a:buNone/>
                      </a:pPr>
                      <a:r>
                        <a:rPr lang="en" sz="1600" u="none" cap="none" strike="noStrike">
                          <a:latin typeface="Cabin"/>
                          <a:ea typeface="Cabin"/>
                          <a:cs typeface="Cabin"/>
                          <a:sym typeface="Cabin"/>
                        </a:rPr>
                        <a:t>We work together to figure things out.</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5EDEF"/>
                    </a:solidFill>
                  </a:tcPr>
                </a:tc>
                <a:tc>
                  <a:txBody>
                    <a:bodyPr/>
                    <a:lstStyle/>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use and build on other’s ideas.</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use evidence to support our ideas, ask for evidence from others, and suggest ways to get additional evidence.</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are open to changing our minds.</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challenge ourselves to think in new ways.</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34" name="Shape 334"/>
        <p:cNvGrpSpPr/>
        <p:nvPr/>
      </p:nvGrpSpPr>
      <p:grpSpPr>
        <a:xfrm>
          <a:off x="0" y="0"/>
          <a:ext cx="0" cy="0"/>
          <a:chOff x="0" y="0"/>
          <a:chExt cx="0" cy="0"/>
        </a:xfrm>
      </p:grpSpPr>
      <p:sp>
        <p:nvSpPr>
          <p:cNvPr id="335" name="Google Shape;335;p38"/>
          <p:cNvSpPr/>
          <p:nvPr/>
        </p:nvSpPr>
        <p:spPr>
          <a:xfrm>
            <a:off x="457175" y="1378300"/>
            <a:ext cx="8229600" cy="5040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38"/>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Revisit Factors and Variables</a:t>
            </a:r>
            <a:endParaRPr b="0" i="0" sz="3200" u="none" cap="none" strike="noStrike">
              <a:solidFill>
                <a:srgbClr val="FFFFFF"/>
              </a:solidFill>
              <a:latin typeface="Boogaloo"/>
              <a:ea typeface="Boogaloo"/>
              <a:cs typeface="Boogaloo"/>
              <a:sym typeface="Boogaloo"/>
            </a:endParaRPr>
          </a:p>
        </p:txBody>
      </p:sp>
      <p:sp>
        <p:nvSpPr>
          <p:cNvPr id="337" name="Google Shape;337;p38"/>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P</a:t>
            </a:r>
            <a:endParaRPr b="0" i="0" sz="1800" u="none" cap="none" strike="noStrike">
              <a:solidFill>
                <a:srgbClr val="9A2F3E"/>
              </a:solidFill>
              <a:latin typeface="Boogaloo"/>
              <a:ea typeface="Boogaloo"/>
              <a:cs typeface="Boogaloo"/>
              <a:sym typeface="Boogaloo"/>
            </a:endParaRPr>
          </a:p>
        </p:txBody>
      </p:sp>
      <p:sp>
        <p:nvSpPr>
          <p:cNvPr id="338" name="Google Shape;338;p38"/>
          <p:cNvSpPr txBox="1"/>
          <p:nvPr/>
        </p:nvSpPr>
        <p:spPr>
          <a:xfrm>
            <a:off x="926950" y="3145750"/>
            <a:ext cx="3377100" cy="195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980000"/>
                </a:solidFill>
                <a:latin typeface="Cabin Condensed"/>
                <a:ea typeface="Cabin Condensed"/>
                <a:cs typeface="Cabin Condensed"/>
                <a:sym typeface="Cabin Condensed"/>
              </a:rPr>
              <a:t>Look back at your Patterns in collisions chart. </a:t>
            </a:r>
            <a:endParaRPr b="0" i="0" sz="2400" u="none" cap="none" strike="noStrike">
              <a:solidFill>
                <a:srgbClr val="98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98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chemeClr val="dk1"/>
              </a:buClr>
              <a:buSzPts val="1100"/>
              <a:buFont typeface="Arial"/>
              <a:buNone/>
            </a:pPr>
            <a:r>
              <a:rPr b="0" i="0" lang="en" sz="2400" u="none" cap="none" strike="noStrike">
                <a:solidFill>
                  <a:srgbClr val="980000"/>
                </a:solidFill>
                <a:latin typeface="Cabin Condensed"/>
                <a:ea typeface="Cabin Condensed"/>
                <a:cs typeface="Cabin Condensed"/>
                <a:sym typeface="Cabin Condensed"/>
              </a:rPr>
              <a:t>Did anyone come up with any new factors or variables that we should add to our class chart?</a:t>
            </a:r>
            <a:endParaRPr b="0" i="0" sz="2400" u="none" cap="none" strike="noStrike">
              <a:solidFill>
                <a:srgbClr val="98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980000"/>
              </a:solidFill>
              <a:latin typeface="Cabin Condensed"/>
              <a:ea typeface="Cabin Condensed"/>
              <a:cs typeface="Cabin Condensed"/>
              <a:sym typeface="Cabin Condensed"/>
            </a:endParaRPr>
          </a:p>
        </p:txBody>
      </p:sp>
      <p:pic>
        <p:nvPicPr>
          <p:cNvPr descr="A lined notebook page is divided by a vertical line. The left side is labeled Patterns in Collisions and the right side is labeled Factors/Variables that might cause damage in a collision." id="339" name="Google Shape;339;p38"/>
          <p:cNvPicPr preferRelativeResize="0"/>
          <p:nvPr/>
        </p:nvPicPr>
        <p:blipFill rotWithShape="1">
          <a:blip r:embed="rId3">
            <a:alphaModFix/>
          </a:blip>
          <a:srcRect b="-3127" l="49928" r="-823" t="-1485"/>
          <a:stretch/>
        </p:blipFill>
        <p:spPr>
          <a:xfrm flipH="1" rot="-58716">
            <a:off x="4595598" y="1637790"/>
            <a:ext cx="3772006" cy="4661845"/>
          </a:xfrm>
          <a:prstGeom prst="rect">
            <a:avLst/>
          </a:prstGeom>
          <a:noFill/>
          <a:ln>
            <a:noFill/>
          </a:ln>
          <a:effectLst>
            <a:outerShdw blurRad="57150" rotWithShape="0" algn="bl" dir="5400000" dist="19050">
              <a:srgbClr val="000000">
                <a:alpha val="49019"/>
              </a:srgbClr>
            </a:outerShdw>
          </a:effectLst>
        </p:spPr>
      </p:pic>
      <p:sp>
        <p:nvSpPr>
          <p:cNvPr id="340" name="Google Shape;340;p38"/>
          <p:cNvSpPr txBox="1"/>
          <p:nvPr/>
        </p:nvSpPr>
        <p:spPr>
          <a:xfrm rot="-58759">
            <a:off x="5015871" y="1988384"/>
            <a:ext cx="1404205" cy="666713"/>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aveat"/>
                <a:ea typeface="Caveat"/>
                <a:cs typeface="Caveat"/>
                <a:sym typeface="Caveat"/>
              </a:rPr>
              <a:t>Patterns in collisions</a:t>
            </a:r>
            <a:endParaRPr b="0" i="0" sz="1800" u="none" cap="none" strike="noStrike">
              <a:solidFill>
                <a:srgbClr val="000000"/>
              </a:solidFill>
              <a:latin typeface="Caveat"/>
              <a:ea typeface="Caveat"/>
              <a:cs typeface="Caveat"/>
              <a:sym typeface="Caveat"/>
            </a:endParaRPr>
          </a:p>
        </p:txBody>
      </p:sp>
      <p:sp>
        <p:nvSpPr>
          <p:cNvPr id="341" name="Google Shape;341;p38"/>
          <p:cNvSpPr txBox="1"/>
          <p:nvPr/>
        </p:nvSpPr>
        <p:spPr>
          <a:xfrm rot="-59130">
            <a:off x="6635881" y="1882347"/>
            <a:ext cx="1709353" cy="878244"/>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aveat"/>
                <a:ea typeface="Caveat"/>
                <a:cs typeface="Caveat"/>
                <a:sym typeface="Caveat"/>
              </a:rPr>
              <a:t>Factors or variables that might cause damage in a collision</a:t>
            </a:r>
            <a:endParaRPr b="0" i="0" sz="1800" u="none" cap="none" strike="noStrike">
              <a:solidFill>
                <a:srgbClr val="000000"/>
              </a:solidFill>
              <a:latin typeface="Caveat"/>
              <a:ea typeface="Caveat"/>
              <a:cs typeface="Caveat"/>
              <a:sym typeface="Caveat"/>
            </a:endParaRPr>
          </a:p>
        </p:txBody>
      </p:sp>
      <p:cxnSp>
        <p:nvCxnSpPr>
          <p:cNvPr id="342" name="Google Shape;342;p38"/>
          <p:cNvCxnSpPr/>
          <p:nvPr/>
        </p:nvCxnSpPr>
        <p:spPr>
          <a:xfrm flipH="1" rot="10800000">
            <a:off x="4797656" y="2773492"/>
            <a:ext cx="3536700" cy="39900"/>
          </a:xfrm>
          <a:prstGeom prst="straightConnector1">
            <a:avLst/>
          </a:prstGeom>
          <a:noFill/>
          <a:ln cap="flat" cmpd="sng" w="9525">
            <a:solidFill>
              <a:srgbClr val="000000"/>
            </a:solidFill>
            <a:prstDash val="solid"/>
            <a:round/>
            <a:headEnd len="sm" w="sm" type="none"/>
            <a:tailEnd len="sm" w="sm" type="none"/>
          </a:ln>
        </p:spPr>
      </p:cxnSp>
      <p:cxnSp>
        <p:nvCxnSpPr>
          <p:cNvPr id="343" name="Google Shape;343;p38"/>
          <p:cNvCxnSpPr/>
          <p:nvPr/>
        </p:nvCxnSpPr>
        <p:spPr>
          <a:xfrm rot="10800000">
            <a:off x="6521837" y="2004264"/>
            <a:ext cx="99600" cy="3883800"/>
          </a:xfrm>
          <a:prstGeom prst="straightConnector1">
            <a:avLst/>
          </a:prstGeom>
          <a:noFill/>
          <a:ln cap="flat" cmpd="sng" w="9525">
            <a:solidFill>
              <a:srgbClr val="000000"/>
            </a:solidFill>
            <a:prstDash val="solid"/>
            <a:round/>
            <a:headEnd len="sm" w="sm" type="none"/>
            <a:tailEnd len="sm" w="sm" type="none"/>
          </a:ln>
        </p:spPr>
      </p:cxnSp>
      <p:sp>
        <p:nvSpPr>
          <p:cNvPr id="344" name="Google Shape;344;p38"/>
          <p:cNvSpPr txBox="1"/>
          <p:nvPr/>
        </p:nvSpPr>
        <p:spPr>
          <a:xfrm>
            <a:off x="1880400" y="1693300"/>
            <a:ext cx="2295900" cy="536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b="0" i="0" lang="en" sz="3000" u="none" cap="none" strike="noStrike">
                <a:solidFill>
                  <a:srgbClr val="9A2F3E"/>
                </a:solidFill>
                <a:latin typeface="Boogaloo"/>
                <a:ea typeface="Boogaloo"/>
                <a:cs typeface="Boogaloo"/>
                <a:sym typeface="Boogaloo"/>
              </a:rPr>
              <a:t>With Your Class</a:t>
            </a:r>
            <a:endParaRPr b="0" i="0" sz="800" u="none" cap="none" strike="noStrike">
              <a:solidFill>
                <a:srgbClr val="000000"/>
              </a:solidFill>
              <a:latin typeface="Boogaloo"/>
              <a:ea typeface="Boogaloo"/>
              <a:cs typeface="Boogaloo"/>
              <a:sym typeface="Boogaloo"/>
            </a:endParaRPr>
          </a:p>
        </p:txBody>
      </p:sp>
      <p:pic>
        <p:nvPicPr>
          <p:cNvPr descr="With your class icon" id="345" name="Google Shape;345;p38"/>
          <p:cNvPicPr preferRelativeResize="0"/>
          <p:nvPr/>
        </p:nvPicPr>
        <p:blipFill rotWithShape="1">
          <a:blip r:embed="rId4">
            <a:alphaModFix/>
          </a:blip>
          <a:srcRect b="0" l="0" r="0" t="0"/>
          <a:stretch/>
        </p:blipFill>
        <p:spPr>
          <a:xfrm>
            <a:off x="523475" y="1632525"/>
            <a:ext cx="1356925" cy="137790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9"/>
          <p:cNvSpPr/>
          <p:nvPr/>
        </p:nvSpPr>
        <p:spPr>
          <a:xfrm>
            <a:off x="482375" y="1530700"/>
            <a:ext cx="8204400" cy="5040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39"/>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Q</a:t>
            </a:r>
            <a:endParaRPr/>
          </a:p>
        </p:txBody>
      </p:sp>
      <p:sp>
        <p:nvSpPr>
          <p:cNvPr id="352" name="Google Shape;352;p39"/>
          <p:cNvSpPr txBox="1"/>
          <p:nvPr>
            <p:ph idx="2" type="body"/>
          </p:nvPr>
        </p:nvSpPr>
        <p:spPr>
          <a:xfrm>
            <a:off x="2149200" y="1728475"/>
            <a:ext cx="4060200" cy="87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sz="3000"/>
              <a:t>On Your Own</a:t>
            </a:r>
            <a:endParaRPr sz="3000"/>
          </a:p>
        </p:txBody>
      </p:sp>
      <p:sp>
        <p:nvSpPr>
          <p:cNvPr id="353" name="Google Shape;353;p39"/>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Developing Additional Questions</a:t>
            </a:r>
            <a:endParaRPr/>
          </a:p>
        </p:txBody>
      </p:sp>
      <p:pic>
        <p:nvPicPr>
          <p:cNvPr descr="On your own icon" id="354" name="Google Shape;354;p39"/>
          <p:cNvPicPr preferRelativeResize="0"/>
          <p:nvPr/>
        </p:nvPicPr>
        <p:blipFill rotWithShape="1">
          <a:blip r:embed="rId3">
            <a:alphaModFix/>
          </a:blip>
          <a:srcRect b="0" l="0" r="0" t="0"/>
          <a:stretch/>
        </p:blipFill>
        <p:spPr>
          <a:xfrm>
            <a:off x="914400" y="1769875"/>
            <a:ext cx="892165" cy="1051962"/>
          </a:xfrm>
          <a:prstGeom prst="rect">
            <a:avLst/>
          </a:prstGeom>
          <a:noFill/>
          <a:ln>
            <a:noFill/>
          </a:ln>
        </p:spPr>
      </p:pic>
      <p:sp>
        <p:nvSpPr>
          <p:cNvPr id="355" name="Google Shape;355;p39"/>
          <p:cNvSpPr txBox="1"/>
          <p:nvPr/>
        </p:nvSpPr>
        <p:spPr>
          <a:xfrm>
            <a:off x="536525" y="3507325"/>
            <a:ext cx="4652700" cy="31398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9A2F3E"/>
              </a:buClr>
              <a:buSzPts val="2400"/>
              <a:buFont typeface="Cabin"/>
              <a:buChar char="●"/>
            </a:pPr>
            <a:r>
              <a:rPr b="0" i="0" lang="en" sz="2400" u="none" cap="none" strike="noStrike">
                <a:solidFill>
                  <a:srgbClr val="9A2F3E"/>
                </a:solidFill>
                <a:latin typeface="Cabin"/>
                <a:ea typeface="Cabin"/>
                <a:cs typeface="Cabin"/>
                <a:sym typeface="Cabin"/>
              </a:rPr>
              <a:t>What new questions do you have about the changes that might happen during a collision and what affects the outcome?</a:t>
            </a:r>
            <a:endParaRPr b="0" i="0" sz="2400" u="none" cap="none" strike="noStrike">
              <a:solidFill>
                <a:srgbClr val="9A2F3E"/>
              </a:solidFill>
              <a:latin typeface="Cabin"/>
              <a:ea typeface="Cabin"/>
              <a:cs typeface="Cabin"/>
              <a:sym typeface="Cabin"/>
            </a:endParaRPr>
          </a:p>
          <a:p>
            <a:pPr indent="-381000" lvl="0" marL="457200" marR="0" rtl="0" algn="l">
              <a:lnSpc>
                <a:spcPct val="100000"/>
              </a:lnSpc>
              <a:spcBef>
                <a:spcPts val="1000"/>
              </a:spcBef>
              <a:spcAft>
                <a:spcPts val="1000"/>
              </a:spcAft>
              <a:buClr>
                <a:srgbClr val="9A2F3E"/>
              </a:buClr>
              <a:buSzPts val="2400"/>
              <a:buFont typeface="Cabin"/>
              <a:buChar char="●"/>
            </a:pPr>
            <a:r>
              <a:rPr b="0" i="0" lang="en" sz="2400" u="none" cap="none" strike="noStrike">
                <a:solidFill>
                  <a:srgbClr val="9A2F3E"/>
                </a:solidFill>
                <a:latin typeface="Cabin"/>
                <a:ea typeface="Cabin"/>
                <a:cs typeface="Cabin"/>
                <a:sym typeface="Cabin"/>
              </a:rPr>
              <a:t>Write the question(s) down on your index card or sticky note.</a:t>
            </a:r>
            <a:endParaRPr b="0" i="0" sz="2400" u="none" cap="none" strike="noStrike">
              <a:solidFill>
                <a:srgbClr val="9A2F3E"/>
              </a:solidFill>
              <a:latin typeface="Cabin"/>
              <a:ea typeface="Cabin"/>
              <a:cs typeface="Cabin"/>
              <a:sym typeface="Cabin"/>
            </a:endParaRPr>
          </a:p>
        </p:txBody>
      </p:sp>
      <p:sp>
        <p:nvSpPr>
          <p:cNvPr descr="Sticky note with text: Write one question per sticky note or index card. Write in marker - big and bold. Put your initials on the back in pencil." id="356" name="Google Shape;356;p39"/>
          <p:cNvSpPr/>
          <p:nvPr/>
        </p:nvSpPr>
        <p:spPr>
          <a:xfrm rot="-66714">
            <a:off x="5408683" y="3244067"/>
            <a:ext cx="3370235" cy="2995566"/>
          </a:xfrm>
          <a:prstGeom prst="rect">
            <a:avLst/>
          </a:prstGeom>
          <a:solidFill>
            <a:srgbClr val="FFF2CC"/>
          </a:solidFill>
          <a:ln>
            <a:noFill/>
          </a:ln>
          <a:effectLst>
            <a:outerShdw blurRad="57150" rotWithShape="0" algn="bl" dir="5400000" dist="19050">
              <a:srgbClr val="000000">
                <a:alpha val="4901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39"/>
          <p:cNvSpPr txBox="1"/>
          <p:nvPr/>
        </p:nvSpPr>
        <p:spPr>
          <a:xfrm rot="-66815">
            <a:off x="5588622" y="3464915"/>
            <a:ext cx="2948357" cy="252420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666666"/>
                </a:solidFill>
                <a:latin typeface="Caveat"/>
                <a:ea typeface="Caveat"/>
                <a:cs typeface="Caveat"/>
                <a:sym typeface="Caveat"/>
              </a:rPr>
              <a:t>Write one question per sticky note or index card.</a:t>
            </a:r>
            <a:endParaRPr b="0" i="0" sz="2400" u="none" cap="none" strike="noStrike">
              <a:solidFill>
                <a:srgbClr val="666666"/>
              </a:solidFill>
              <a:latin typeface="Caveat"/>
              <a:ea typeface="Caveat"/>
              <a:cs typeface="Caveat"/>
              <a:sym typeface="Caveat"/>
            </a:endParaRPr>
          </a:p>
          <a:p>
            <a:pPr indent="0" lvl="0" marL="0" marR="0" rtl="0" algn="l">
              <a:lnSpc>
                <a:spcPct val="100000"/>
              </a:lnSpc>
              <a:spcBef>
                <a:spcPts val="1000"/>
              </a:spcBef>
              <a:spcAft>
                <a:spcPts val="0"/>
              </a:spcAft>
              <a:buClr>
                <a:srgbClr val="000000"/>
              </a:buClr>
              <a:buSzPts val="2400"/>
              <a:buFont typeface="Arial"/>
              <a:buNone/>
            </a:pPr>
            <a:r>
              <a:rPr b="0" i="0" lang="en" sz="2400" u="none" cap="none" strike="noStrike">
                <a:solidFill>
                  <a:srgbClr val="666666"/>
                </a:solidFill>
                <a:latin typeface="Caveat"/>
                <a:ea typeface="Caveat"/>
                <a:cs typeface="Caveat"/>
                <a:sym typeface="Caveat"/>
              </a:rPr>
              <a:t>Write in marker--big and bold.</a:t>
            </a:r>
            <a:endParaRPr b="0" i="0" sz="2400" u="none" cap="none" strike="noStrike">
              <a:solidFill>
                <a:srgbClr val="666666"/>
              </a:solidFill>
              <a:latin typeface="Caveat"/>
              <a:ea typeface="Caveat"/>
              <a:cs typeface="Caveat"/>
              <a:sym typeface="Caveat"/>
            </a:endParaRPr>
          </a:p>
          <a:p>
            <a:pPr indent="0" lvl="0" marL="0" marR="0" rtl="0" algn="l">
              <a:lnSpc>
                <a:spcPct val="100000"/>
              </a:lnSpc>
              <a:spcBef>
                <a:spcPts val="1000"/>
              </a:spcBef>
              <a:spcAft>
                <a:spcPts val="0"/>
              </a:spcAft>
              <a:buClr>
                <a:srgbClr val="000000"/>
              </a:buClr>
              <a:buSzPts val="2400"/>
              <a:buFont typeface="Arial"/>
              <a:buNone/>
            </a:pPr>
            <a:r>
              <a:rPr b="0" i="0" lang="en" sz="2400" u="none" cap="none" strike="noStrike">
                <a:solidFill>
                  <a:srgbClr val="666666"/>
                </a:solidFill>
                <a:latin typeface="Caveat"/>
                <a:ea typeface="Caveat"/>
                <a:cs typeface="Caveat"/>
                <a:sym typeface="Caveat"/>
              </a:rPr>
              <a:t>Put your initials on the back of each note in pencil.</a:t>
            </a:r>
            <a:endParaRPr b="0" i="0" sz="2400" u="none" cap="none" strike="noStrike">
              <a:solidFill>
                <a:srgbClr val="666666"/>
              </a:solidFill>
              <a:latin typeface="Caveat"/>
              <a:ea typeface="Caveat"/>
              <a:cs typeface="Caveat"/>
              <a:sym typeface="Caveat"/>
            </a:endParaRPr>
          </a:p>
          <a:p>
            <a:pPr indent="0" lvl="0" marL="0" marR="0" rtl="0" algn="l">
              <a:lnSpc>
                <a:spcPct val="100000"/>
              </a:lnSpc>
              <a:spcBef>
                <a:spcPts val="1000"/>
              </a:spcBef>
              <a:spcAft>
                <a:spcPts val="0"/>
              </a:spcAft>
              <a:buClr>
                <a:srgbClr val="000000"/>
              </a:buClr>
              <a:buSzPts val="1800"/>
              <a:buFont typeface="Arial"/>
              <a:buNone/>
            </a:pPr>
            <a:r>
              <a:t/>
            </a:r>
            <a:endParaRPr b="0" i="0" sz="1800" u="none" cap="none" strike="noStrike">
              <a:solidFill>
                <a:srgbClr val="0B0B0B"/>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B0B0B"/>
              </a:solidFill>
              <a:latin typeface="Caveat"/>
              <a:ea typeface="Caveat"/>
              <a:cs typeface="Caveat"/>
              <a:sym typeface="Caveat"/>
            </a:endParaRPr>
          </a:p>
        </p:txBody>
      </p:sp>
      <p:sp>
        <p:nvSpPr>
          <p:cNvPr id="358" name="Google Shape;358;p39"/>
          <p:cNvSpPr txBox="1"/>
          <p:nvPr/>
        </p:nvSpPr>
        <p:spPr>
          <a:xfrm>
            <a:off x="2165550" y="2364450"/>
            <a:ext cx="6032400" cy="9234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00000"/>
              </a:lnSpc>
              <a:spcBef>
                <a:spcPts val="0"/>
              </a:spcBef>
              <a:spcAft>
                <a:spcPts val="0"/>
              </a:spcAft>
              <a:buClr>
                <a:srgbClr val="9A2F3E"/>
              </a:buClr>
              <a:buSzPts val="2400"/>
              <a:buFont typeface="Cabin"/>
              <a:buChar char="●"/>
            </a:pPr>
            <a:r>
              <a:rPr b="0" i="0" lang="en" sz="2400" u="none" cap="none" strike="noStrike">
                <a:solidFill>
                  <a:srgbClr val="9A2F3E"/>
                </a:solidFill>
                <a:latin typeface="Cabin"/>
                <a:ea typeface="Cabin"/>
                <a:cs typeface="Cabin"/>
                <a:sym typeface="Cabin"/>
              </a:rPr>
              <a:t>Look at your notebook and the Patterns in collisions chart.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62" name="Shape 362"/>
        <p:cNvGrpSpPr/>
        <p:nvPr/>
      </p:nvGrpSpPr>
      <p:grpSpPr>
        <a:xfrm>
          <a:off x="0" y="0"/>
          <a:ext cx="0" cy="0"/>
          <a:chOff x="0" y="0"/>
          <a:chExt cx="0" cy="0"/>
        </a:xfrm>
      </p:grpSpPr>
      <p:pic>
        <p:nvPicPr>
          <p:cNvPr descr="Scientists circle icon" id="363" name="Google Shape;363;p40"/>
          <p:cNvPicPr preferRelativeResize="0"/>
          <p:nvPr/>
        </p:nvPicPr>
        <p:blipFill rotWithShape="1">
          <a:blip r:embed="rId3">
            <a:alphaModFix/>
          </a:blip>
          <a:srcRect b="0" l="278" r="278" t="0"/>
          <a:stretch/>
        </p:blipFill>
        <p:spPr>
          <a:xfrm>
            <a:off x="523875" y="1413738"/>
            <a:ext cx="1061236" cy="1144700"/>
          </a:xfrm>
          <a:prstGeom prst="rect">
            <a:avLst/>
          </a:prstGeom>
          <a:noFill/>
          <a:ln>
            <a:noFill/>
          </a:ln>
        </p:spPr>
      </p:pic>
      <p:sp>
        <p:nvSpPr>
          <p:cNvPr id="364" name="Google Shape;364;p40"/>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Driving Question Board (DQB)</a:t>
            </a:r>
            <a:endParaRPr b="0" i="0" sz="3200" u="none" cap="none" strike="noStrike">
              <a:solidFill>
                <a:srgbClr val="FFFFFF"/>
              </a:solidFill>
              <a:latin typeface="Boogaloo"/>
              <a:ea typeface="Boogaloo"/>
              <a:cs typeface="Boogaloo"/>
              <a:sym typeface="Boogaloo"/>
            </a:endParaRPr>
          </a:p>
        </p:txBody>
      </p:sp>
      <p:sp>
        <p:nvSpPr>
          <p:cNvPr id="365" name="Google Shape;365;p40"/>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R</a:t>
            </a:r>
            <a:endParaRPr b="0" i="0" sz="1800" u="none" cap="none" strike="noStrike">
              <a:solidFill>
                <a:srgbClr val="9A2F3E"/>
              </a:solidFill>
              <a:latin typeface="Boogaloo"/>
              <a:ea typeface="Boogaloo"/>
              <a:cs typeface="Boogaloo"/>
              <a:sym typeface="Boogaloo"/>
            </a:endParaRPr>
          </a:p>
        </p:txBody>
      </p:sp>
      <p:sp>
        <p:nvSpPr>
          <p:cNvPr id="366" name="Google Shape;366;p40"/>
          <p:cNvSpPr txBox="1"/>
          <p:nvPr/>
        </p:nvSpPr>
        <p:spPr>
          <a:xfrm>
            <a:off x="1809500" y="1437263"/>
            <a:ext cx="5858100" cy="114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980000"/>
                </a:solidFill>
                <a:latin typeface="Cabin"/>
                <a:ea typeface="Cabin"/>
                <a:cs typeface="Cabin"/>
                <a:sym typeface="Cabin"/>
              </a:rPr>
              <a:t>Take out your sticky notes with questions. Bring those with you to our Scientists Circle along with your science notebook.</a:t>
            </a:r>
            <a:endParaRPr b="0" i="0" sz="2400" u="none" cap="none" strike="noStrike">
              <a:solidFill>
                <a:srgbClr val="98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87A96B"/>
              </a:solidFill>
              <a:latin typeface="Cabin Condensed"/>
              <a:ea typeface="Cabin Condensed"/>
              <a:cs typeface="Cabin Condensed"/>
              <a:sym typeface="Cabin Condensed"/>
            </a:endParaRPr>
          </a:p>
        </p:txBody>
      </p:sp>
      <p:sp>
        <p:nvSpPr>
          <p:cNvPr id="367" name="Google Shape;367;p40"/>
          <p:cNvSpPr txBox="1"/>
          <p:nvPr/>
        </p:nvSpPr>
        <p:spPr>
          <a:xfrm>
            <a:off x="457200" y="2600325"/>
            <a:ext cx="8362200" cy="33672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The first student reads a question aloud to the class, then posts it on the DQB.</a:t>
            </a:r>
            <a:endParaRPr b="0" i="0" sz="2400" u="none" cap="none" strike="noStrike">
              <a:solidFill>
                <a:srgbClr val="9A2F3E"/>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Students who are listening should raise their hands if they have a question that relates to the question that was just read aloud.</a:t>
            </a:r>
            <a:endParaRPr b="0" i="0" sz="2400" u="none" cap="none" strike="noStrike">
              <a:solidFill>
                <a:srgbClr val="9A2F3E"/>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The first student selects the next student whose hand is raised.</a:t>
            </a:r>
            <a:endParaRPr b="0" i="0" sz="2400" u="none" cap="none" strike="noStrike">
              <a:solidFill>
                <a:srgbClr val="9A2F3E"/>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The second student reads a question, says why or how it relates, and posts it near the question it most relates to on the DQB. </a:t>
            </a:r>
            <a:endParaRPr b="0" i="0" sz="2400" u="none" cap="none" strike="noStrike">
              <a:solidFill>
                <a:srgbClr val="9A2F3E"/>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That student selects the next student.</a:t>
            </a:r>
            <a:endParaRPr b="0" i="0" sz="2400" u="none" cap="none" strike="noStrike">
              <a:solidFill>
                <a:srgbClr val="9A2F3E"/>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If another student has shared the same question that you have, try to share a different question that has not been shared.</a:t>
            </a:r>
            <a:endParaRPr b="0" i="0" sz="2400" u="none" cap="none" strike="noStrike">
              <a:solidFill>
                <a:srgbClr val="9A2F3E"/>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We will continue until everyone has at least one question on the DQB.</a:t>
            </a:r>
            <a:endParaRPr b="0" i="0" sz="2400" u="none" cap="none" strike="noStrike">
              <a:solidFill>
                <a:srgbClr val="9A2F3E"/>
              </a:solidFill>
              <a:latin typeface="Cabin Condensed"/>
              <a:ea typeface="Cabin Condensed"/>
              <a:cs typeface="Cabin Condensed"/>
              <a:sym typeface="Cabin Condense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71" name="Shape 371"/>
        <p:cNvGrpSpPr/>
        <p:nvPr/>
      </p:nvGrpSpPr>
      <p:grpSpPr>
        <a:xfrm>
          <a:off x="0" y="0"/>
          <a:ext cx="0" cy="0"/>
          <a:chOff x="0" y="0"/>
          <a:chExt cx="0" cy="0"/>
        </a:xfrm>
      </p:grpSpPr>
      <p:sp>
        <p:nvSpPr>
          <p:cNvPr id="372" name="Google Shape;372;p41"/>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Ideas for Investigations</a:t>
            </a:r>
            <a:endParaRPr b="0" i="0" sz="3200" u="none" cap="none" strike="noStrike">
              <a:solidFill>
                <a:srgbClr val="FFFFFF"/>
              </a:solidFill>
              <a:latin typeface="Boogaloo"/>
              <a:ea typeface="Boogaloo"/>
              <a:cs typeface="Boogaloo"/>
              <a:sym typeface="Boogaloo"/>
            </a:endParaRPr>
          </a:p>
        </p:txBody>
      </p:sp>
      <p:sp>
        <p:nvSpPr>
          <p:cNvPr id="373" name="Google Shape;373;p41"/>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S</a:t>
            </a:r>
            <a:endParaRPr b="0" i="0" sz="1800" u="none" cap="none" strike="noStrike">
              <a:solidFill>
                <a:srgbClr val="9A2F3E"/>
              </a:solidFill>
              <a:latin typeface="Boogaloo"/>
              <a:ea typeface="Boogaloo"/>
              <a:cs typeface="Boogaloo"/>
              <a:sym typeface="Boogaloo"/>
            </a:endParaRPr>
          </a:p>
        </p:txBody>
      </p:sp>
      <p:sp>
        <p:nvSpPr>
          <p:cNvPr id="374" name="Google Shape;374;p41"/>
          <p:cNvSpPr/>
          <p:nvPr/>
        </p:nvSpPr>
        <p:spPr>
          <a:xfrm>
            <a:off x="548650" y="1600200"/>
            <a:ext cx="81381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D4F53"/>
              </a:buClr>
              <a:buSzPts val="1500"/>
              <a:buFont typeface="Proxima Nova"/>
              <a:buNone/>
            </a:pPr>
            <a:r>
              <a:rPr b="0" i="0" lang="en" sz="2400" u="none" cap="none" strike="noStrike">
                <a:solidFill>
                  <a:srgbClr val="0B0B0B"/>
                </a:solidFill>
                <a:latin typeface="Cabin"/>
                <a:ea typeface="Cabin"/>
                <a:cs typeface="Cabin"/>
                <a:sym typeface="Cabin"/>
              </a:rPr>
              <a:t>What kinds of investigations could we do and/or what additional sources of data might we need to figure out the answers to our questions?</a:t>
            </a:r>
            <a:endParaRPr b="0" i="0" sz="2400" u="none" cap="none" strike="noStrike">
              <a:solidFill>
                <a:srgbClr val="0B0B0B"/>
              </a:solidFill>
              <a:latin typeface="Cabin"/>
              <a:ea typeface="Cabin"/>
              <a:cs typeface="Cabin"/>
              <a:sym typeface="Cabin"/>
            </a:endParaRPr>
          </a:p>
          <a:p>
            <a:pPr indent="0" lvl="0" marL="0" marR="0" rtl="0" algn="l">
              <a:lnSpc>
                <a:spcPct val="100000"/>
              </a:lnSpc>
              <a:spcBef>
                <a:spcPts val="0"/>
              </a:spcBef>
              <a:spcAft>
                <a:spcPts val="0"/>
              </a:spcAft>
              <a:buClr>
                <a:srgbClr val="4D4F53"/>
              </a:buClr>
              <a:buSzPts val="1500"/>
              <a:buFont typeface="Proxima Nova"/>
              <a:buNone/>
            </a:pPr>
            <a:r>
              <a:t/>
            </a:r>
            <a:endParaRPr b="0" i="0" sz="1800" u="none" cap="none" strike="noStrike">
              <a:solidFill>
                <a:srgbClr val="0B0B0B"/>
              </a:solidFill>
              <a:latin typeface="Cabin"/>
              <a:ea typeface="Cabin"/>
              <a:cs typeface="Cabin"/>
              <a:sym typeface="Cabin"/>
            </a:endParaRPr>
          </a:p>
        </p:txBody>
      </p:sp>
      <p:sp>
        <p:nvSpPr>
          <p:cNvPr id="375" name="Google Shape;375;p41"/>
          <p:cNvSpPr/>
          <p:nvPr/>
        </p:nvSpPr>
        <p:spPr>
          <a:xfrm>
            <a:off x="457250" y="3048000"/>
            <a:ext cx="8229600" cy="32241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ined paper titled Ideas for future investigations and data we need" id="376" name="Google Shape;376;p41"/>
          <p:cNvPicPr preferRelativeResize="0"/>
          <p:nvPr/>
        </p:nvPicPr>
        <p:blipFill rotWithShape="1">
          <a:blip r:embed="rId3">
            <a:alphaModFix/>
          </a:blip>
          <a:srcRect b="3329" l="2359" r="2880" t="3131"/>
          <a:stretch/>
        </p:blipFill>
        <p:spPr>
          <a:xfrm flipH="1" rot="-59997">
            <a:off x="4573573" y="3238369"/>
            <a:ext cx="3880929" cy="2563286"/>
          </a:xfrm>
          <a:prstGeom prst="rect">
            <a:avLst/>
          </a:prstGeom>
          <a:noFill/>
          <a:ln>
            <a:noFill/>
          </a:ln>
          <a:effectLst>
            <a:outerShdw blurRad="57150" rotWithShape="0" algn="bl" dir="5400000" dist="19050">
              <a:srgbClr val="000000">
                <a:alpha val="49019"/>
              </a:srgbClr>
            </a:outerShdw>
          </a:effectLst>
        </p:spPr>
      </p:pic>
      <p:sp>
        <p:nvSpPr>
          <p:cNvPr id="377" name="Google Shape;377;p41"/>
          <p:cNvSpPr txBox="1"/>
          <p:nvPr/>
        </p:nvSpPr>
        <p:spPr>
          <a:xfrm rot="-60103">
            <a:off x="6588420" y="3295436"/>
            <a:ext cx="1698860" cy="7933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666666"/>
                </a:solidFill>
                <a:latin typeface="Caveat"/>
                <a:ea typeface="Caveat"/>
                <a:cs typeface="Caveat"/>
                <a:sym typeface="Caveat"/>
              </a:rPr>
              <a:t>Ideas for future investigations and data we need</a:t>
            </a:r>
            <a:endParaRPr b="0" i="0" sz="1800" u="none" cap="none" strike="noStrike">
              <a:solidFill>
                <a:srgbClr val="666666"/>
              </a:solidFill>
              <a:latin typeface="Caveat"/>
              <a:ea typeface="Caveat"/>
              <a:cs typeface="Caveat"/>
              <a:sym typeface="Caveat"/>
            </a:endParaRPr>
          </a:p>
        </p:txBody>
      </p:sp>
      <p:pic>
        <p:nvPicPr>
          <p:cNvPr descr="In your notebook icon" id="378" name="Google Shape;378;p41"/>
          <p:cNvPicPr preferRelativeResize="0"/>
          <p:nvPr/>
        </p:nvPicPr>
        <p:blipFill rotWithShape="1">
          <a:blip r:embed="rId4">
            <a:alphaModFix/>
          </a:blip>
          <a:srcRect b="641" l="0" r="0" t="651"/>
          <a:stretch/>
        </p:blipFill>
        <p:spPr>
          <a:xfrm>
            <a:off x="631650" y="3414600"/>
            <a:ext cx="990175" cy="1095500"/>
          </a:xfrm>
          <a:prstGeom prst="rect">
            <a:avLst/>
          </a:prstGeom>
          <a:noFill/>
          <a:ln>
            <a:noFill/>
          </a:ln>
        </p:spPr>
      </p:pic>
      <p:sp>
        <p:nvSpPr>
          <p:cNvPr id="379" name="Google Shape;379;p41"/>
          <p:cNvSpPr txBox="1"/>
          <p:nvPr/>
        </p:nvSpPr>
        <p:spPr>
          <a:xfrm rot="-59878">
            <a:off x="6050207" y="5970599"/>
            <a:ext cx="2876536" cy="724310"/>
          </a:xfrm>
          <a:prstGeom prst="rect">
            <a:avLst/>
          </a:prstGeom>
          <a:solidFill>
            <a:srgbClr val="FFFFFF"/>
          </a:solidFill>
          <a:ln cap="flat" cmpd="sng" w="9525">
            <a:solidFill>
              <a:srgbClr val="9A2F3E"/>
            </a:solidFill>
            <a:prstDash val="solid"/>
            <a:round/>
            <a:headEnd len="sm" w="sm" type="none"/>
            <a:tailEnd len="sm" w="sm" type="none"/>
          </a:ln>
          <a:effectLst>
            <a:outerShdw blurRad="57150" rotWithShape="0" algn="bl" dir="5400000" dist="19050">
              <a:srgbClr val="000000">
                <a:alpha val="49019"/>
              </a:srgbClr>
            </a:outerShdw>
          </a:effectLst>
        </p:spPr>
        <p:txBody>
          <a:bodyPr anchorCtr="0" anchor="ctr" bIns="91425" lIns="91425" spcFirstLastPara="1" rIns="91425" wrap="square" tIns="91425">
            <a:noAutofit/>
          </a:bodyPr>
          <a:lstStyle/>
          <a:p>
            <a:pPr indent="-342900" lvl="0" marL="457200" marR="0" rtl="0" algn="l">
              <a:lnSpc>
                <a:spcPct val="100000"/>
              </a:lnSpc>
              <a:spcBef>
                <a:spcPts val="0"/>
              </a:spcBef>
              <a:spcAft>
                <a:spcPts val="0"/>
              </a:spcAft>
              <a:buClr>
                <a:srgbClr val="9A2F3E"/>
              </a:buClr>
              <a:buSzPts val="1800"/>
              <a:buFont typeface="Cabin Condensed"/>
              <a:buChar char="➔"/>
            </a:pPr>
            <a:r>
              <a:rPr b="0" i="0" lang="en" sz="1800" u="none" cap="none" strike="noStrike">
                <a:solidFill>
                  <a:srgbClr val="9A2F3E"/>
                </a:solidFill>
                <a:latin typeface="Cabin Condensed"/>
                <a:ea typeface="Cabin Condensed"/>
                <a:cs typeface="Cabin Condensed"/>
                <a:sym typeface="Cabin Condensed"/>
              </a:rPr>
              <a:t>Be prepared to share these with the whole class.</a:t>
            </a:r>
            <a:endParaRPr b="0" i="0" sz="1800" u="none" cap="none" strike="noStrike">
              <a:solidFill>
                <a:srgbClr val="9A2F3E"/>
              </a:solidFill>
              <a:latin typeface="Cabin Condensed"/>
              <a:ea typeface="Cabin Condensed"/>
              <a:cs typeface="Cabin Condensed"/>
              <a:sym typeface="Cabin Condensed"/>
            </a:endParaRPr>
          </a:p>
        </p:txBody>
      </p:sp>
      <p:sp>
        <p:nvSpPr>
          <p:cNvPr id="380" name="Google Shape;380;p41"/>
          <p:cNvSpPr txBox="1"/>
          <p:nvPr/>
        </p:nvSpPr>
        <p:spPr>
          <a:xfrm>
            <a:off x="1874413" y="3352800"/>
            <a:ext cx="2573100" cy="82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1000"/>
              </a:spcAft>
              <a:buClr>
                <a:srgbClr val="000000"/>
              </a:buClr>
              <a:buSzPts val="2400"/>
              <a:buFont typeface="Arial"/>
              <a:buNone/>
            </a:pPr>
            <a:r>
              <a:rPr b="0" i="0" lang="en" sz="2400" u="none" cap="none" strike="noStrike">
                <a:solidFill>
                  <a:srgbClr val="9A2F3E"/>
                </a:solidFill>
                <a:latin typeface="Cabin Condensed"/>
                <a:ea typeface="Cabin Condensed"/>
                <a:cs typeface="Cabin Condensed"/>
                <a:sym typeface="Cabin Condensed"/>
              </a:rPr>
              <a:t>Add your ideas to a new notebook page titled “Ideas for future investigations and data we need.”</a:t>
            </a:r>
            <a:endParaRPr b="0" i="0" sz="2400" u="none" cap="none" strike="noStrike">
              <a:solidFill>
                <a:srgbClr val="9A2F3E"/>
              </a:solidFill>
              <a:latin typeface="Cabin Condensed"/>
              <a:ea typeface="Cabin Condensed"/>
              <a:cs typeface="Cabin Condensed"/>
              <a:sym typeface="Cabin Condense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84" name="Shape 384"/>
        <p:cNvGrpSpPr/>
        <p:nvPr/>
      </p:nvGrpSpPr>
      <p:grpSpPr>
        <a:xfrm>
          <a:off x="0" y="0"/>
          <a:ext cx="0" cy="0"/>
          <a:chOff x="0" y="0"/>
          <a:chExt cx="0" cy="0"/>
        </a:xfrm>
      </p:grpSpPr>
      <p:sp>
        <p:nvSpPr>
          <p:cNvPr id="385" name="Google Shape;385;p42"/>
          <p:cNvSpPr/>
          <p:nvPr/>
        </p:nvSpPr>
        <p:spPr>
          <a:xfrm>
            <a:off x="457200" y="1600200"/>
            <a:ext cx="8229600" cy="47346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42"/>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Looking Forward</a:t>
            </a:r>
            <a:endParaRPr b="0" i="0" sz="3200" u="none" cap="none" strike="noStrike">
              <a:solidFill>
                <a:srgbClr val="FFFFFF"/>
              </a:solidFill>
              <a:latin typeface="Boogaloo"/>
              <a:ea typeface="Boogaloo"/>
              <a:cs typeface="Boogaloo"/>
              <a:sym typeface="Boogaloo"/>
            </a:endParaRPr>
          </a:p>
        </p:txBody>
      </p:sp>
      <p:sp>
        <p:nvSpPr>
          <p:cNvPr id="387" name="Google Shape;387;p42"/>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T</a:t>
            </a:r>
            <a:endParaRPr b="0" i="0" sz="1800" u="none" cap="none" strike="noStrike">
              <a:solidFill>
                <a:srgbClr val="9A2F3E"/>
              </a:solidFill>
              <a:latin typeface="Boogaloo"/>
              <a:ea typeface="Boogaloo"/>
              <a:cs typeface="Boogaloo"/>
              <a:sym typeface="Boogaloo"/>
            </a:endParaRPr>
          </a:p>
        </p:txBody>
      </p:sp>
      <p:sp>
        <p:nvSpPr>
          <p:cNvPr id="388" name="Google Shape;388;p42"/>
          <p:cNvSpPr txBox="1"/>
          <p:nvPr/>
        </p:nvSpPr>
        <p:spPr>
          <a:xfrm>
            <a:off x="875500" y="1983450"/>
            <a:ext cx="7559700" cy="4158000"/>
          </a:xfrm>
          <a:prstGeom prst="rect">
            <a:avLst/>
          </a:prstGeom>
          <a:noFill/>
          <a:ln>
            <a:noFill/>
          </a:ln>
        </p:spPr>
        <p:txBody>
          <a:bodyPr anchorCtr="0" anchor="t" bIns="0" lIns="0" spcFirstLastPara="1" rIns="0" wrap="square" tIns="0">
            <a:noAutofit/>
          </a:bodyPr>
          <a:lstStyle/>
          <a:p>
            <a:pPr indent="-381000" lvl="0" marL="457200" marR="0" rtl="0" algn="l">
              <a:lnSpc>
                <a:spcPct val="100000"/>
              </a:lnSpc>
              <a:spcBef>
                <a:spcPts val="0"/>
              </a:spcBef>
              <a:spcAft>
                <a:spcPts val="0"/>
              </a:spcAft>
              <a:buClr>
                <a:srgbClr val="980000"/>
              </a:buClr>
              <a:buSzPts val="2400"/>
              <a:buFont typeface="Cabin"/>
              <a:buChar char="◉"/>
            </a:pPr>
            <a:r>
              <a:rPr b="0" i="0" lang="en" sz="2400" u="none" cap="none" strike="noStrike">
                <a:solidFill>
                  <a:srgbClr val="980000"/>
                </a:solidFill>
                <a:latin typeface="Cabin"/>
                <a:ea typeface="Cabin"/>
                <a:cs typeface="Cabin"/>
                <a:sym typeface="Cabin"/>
              </a:rPr>
              <a:t>We have a mission to accomplish as a class! </a:t>
            </a:r>
            <a:endParaRPr b="0" i="0" sz="2400" u="none" cap="none" strike="noStrike">
              <a:solidFill>
                <a:srgbClr val="980000"/>
              </a:solidFill>
              <a:latin typeface="Cabin"/>
              <a:ea typeface="Cabin"/>
              <a:cs typeface="Cabin"/>
              <a:sym typeface="Cabin"/>
            </a:endParaRPr>
          </a:p>
          <a:p>
            <a:pPr indent="-381000" lvl="0" marL="457200" marR="0" rtl="0" algn="l">
              <a:lnSpc>
                <a:spcPct val="100000"/>
              </a:lnSpc>
              <a:spcBef>
                <a:spcPts val="1000"/>
              </a:spcBef>
              <a:spcAft>
                <a:spcPts val="0"/>
              </a:spcAft>
              <a:buClr>
                <a:srgbClr val="980000"/>
              </a:buClr>
              <a:buSzPts val="2400"/>
              <a:buFont typeface="Cabin"/>
              <a:buChar char="◉"/>
            </a:pPr>
            <a:r>
              <a:rPr b="0" i="0" lang="en" sz="2400" u="none" cap="none" strike="noStrike">
                <a:solidFill>
                  <a:srgbClr val="980000"/>
                </a:solidFill>
                <a:latin typeface="Cabin"/>
                <a:ea typeface="Cabin"/>
                <a:cs typeface="Cabin"/>
                <a:sym typeface="Cabin"/>
              </a:rPr>
              <a:t>Our questions represent what it is we hope to be able to figure out. </a:t>
            </a:r>
            <a:endParaRPr b="0" i="0" sz="2400" u="none" cap="none" strike="noStrike">
              <a:solidFill>
                <a:srgbClr val="980000"/>
              </a:solidFill>
              <a:latin typeface="Cabin"/>
              <a:ea typeface="Cabin"/>
              <a:cs typeface="Cabin"/>
              <a:sym typeface="Cabin"/>
            </a:endParaRPr>
          </a:p>
          <a:p>
            <a:pPr indent="-381000" lvl="0" marL="457200" marR="0" rtl="0" algn="l">
              <a:lnSpc>
                <a:spcPct val="100000"/>
              </a:lnSpc>
              <a:spcBef>
                <a:spcPts val="1000"/>
              </a:spcBef>
              <a:spcAft>
                <a:spcPts val="0"/>
              </a:spcAft>
              <a:buClr>
                <a:srgbClr val="980000"/>
              </a:buClr>
              <a:buSzPts val="2400"/>
              <a:buFont typeface="Cabin"/>
              <a:buChar char="◉"/>
            </a:pPr>
            <a:r>
              <a:rPr b="0" i="0" lang="en" sz="2400" u="none" cap="none" strike="noStrike">
                <a:solidFill>
                  <a:srgbClr val="980000"/>
                </a:solidFill>
                <a:latin typeface="Cabin"/>
                <a:ea typeface="Cabin"/>
                <a:cs typeface="Cabin"/>
                <a:sym typeface="Cabin"/>
              </a:rPr>
              <a:t>Our ideas for investigations and sources of data will help us try to figure this all out.</a:t>
            </a:r>
            <a:endParaRPr b="0" i="0" sz="2400" u="none" cap="none" strike="noStrike">
              <a:solidFill>
                <a:srgbClr val="980000"/>
              </a:solidFill>
              <a:latin typeface="Cabin"/>
              <a:ea typeface="Cabin"/>
              <a:cs typeface="Cabin"/>
              <a:sym typeface="Cabin"/>
            </a:endParaRPr>
          </a:p>
          <a:p>
            <a:pPr indent="-381000" lvl="0" marL="457200" marR="0" rtl="0" algn="l">
              <a:lnSpc>
                <a:spcPct val="100000"/>
              </a:lnSpc>
              <a:spcBef>
                <a:spcPts val="1000"/>
              </a:spcBef>
              <a:spcAft>
                <a:spcPts val="0"/>
              </a:spcAft>
              <a:buClr>
                <a:srgbClr val="980000"/>
              </a:buClr>
              <a:buSzPts val="2400"/>
              <a:buFont typeface="Cabin"/>
              <a:buChar char="◉"/>
            </a:pPr>
            <a:r>
              <a:rPr b="0" i="0" lang="en" sz="2400" u="none" cap="none" strike="noStrike">
                <a:solidFill>
                  <a:srgbClr val="980000"/>
                </a:solidFill>
                <a:latin typeface="Cabin"/>
                <a:ea typeface="Cabin"/>
                <a:cs typeface="Cabin"/>
                <a:sym typeface="Cabin"/>
              </a:rPr>
              <a:t>Let’s get started exploring in our next class!</a:t>
            </a:r>
            <a:endParaRPr b="0" i="0" sz="1800" u="none" cap="none" strike="noStrike">
              <a:solidFill>
                <a:srgbClr val="980000"/>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2400"/>
              <a:buFont typeface="Arial"/>
              <a:buNone/>
            </a:pPr>
            <a:r>
              <a:t/>
            </a:r>
            <a:endParaRPr b="0" i="0" sz="2400" u="none" cap="none" strike="noStrike">
              <a:solidFill>
                <a:srgbClr val="87A96B"/>
              </a:solidFill>
              <a:latin typeface="Cabin Condensed"/>
              <a:ea typeface="Cabin Condensed"/>
              <a:cs typeface="Cabin Condensed"/>
              <a:sym typeface="Cabin Condense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3"/>
          <p:cNvSpPr txBox="1"/>
          <p:nvPr>
            <p:ph idx="1" type="subTitle"/>
          </p:nvPr>
        </p:nvSpPr>
        <p:spPr>
          <a:xfrm>
            <a:off x="457200" y="75200"/>
            <a:ext cx="3520200" cy="46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solidFill>
                  <a:srgbClr val="980000"/>
                </a:solidFill>
              </a:rPr>
              <a:t>Slide U</a:t>
            </a:r>
            <a:endParaRPr>
              <a:solidFill>
                <a:srgbClr val="980000"/>
              </a:solidFill>
            </a:endParaRPr>
          </a:p>
        </p:txBody>
      </p:sp>
      <p:sp>
        <p:nvSpPr>
          <p:cNvPr id="394" name="Google Shape;394;p43"/>
          <p:cNvSpPr txBox="1"/>
          <p:nvPr>
            <p:ph type="title"/>
          </p:nvPr>
        </p:nvSpPr>
        <p:spPr>
          <a:xfrm>
            <a:off x="457200" y="472450"/>
            <a:ext cx="8229600" cy="685800"/>
          </a:xfrm>
          <a:prstGeom prst="rect">
            <a:avLst/>
          </a:prstGeom>
          <a:solidFill>
            <a:srgbClr val="980000"/>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Classroom Norms</a:t>
            </a:r>
            <a:endParaRPr/>
          </a:p>
        </p:txBody>
      </p:sp>
      <p:graphicFrame>
        <p:nvGraphicFramePr>
          <p:cNvPr id="395" name="Google Shape;395;p43"/>
          <p:cNvGraphicFramePr/>
          <p:nvPr/>
        </p:nvGraphicFramePr>
        <p:xfrm>
          <a:off x="457200" y="1205900"/>
          <a:ext cx="3000000" cy="3000000"/>
        </p:xfrm>
        <a:graphic>
          <a:graphicData uri="http://schemas.openxmlformats.org/drawingml/2006/table">
            <a:tbl>
              <a:tblPr>
                <a:noFill/>
                <a:tableStyleId>{F0E55A38-AAA3-4A13-B69B-84FFE08AEA20}</a:tableStyleId>
              </a:tblPr>
              <a:tblGrid>
                <a:gridCol w="1797950"/>
                <a:gridCol w="6431650"/>
              </a:tblGrid>
              <a:tr h="120100">
                <a:tc gridSpan="2">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rgbClr val="FFFFFF"/>
                        </a:solidFill>
                        <a:latin typeface="Cabin"/>
                        <a:ea typeface="Cabin"/>
                        <a:cs typeface="Cabin"/>
                        <a:sym typeface="Cabin"/>
                      </a:endParaRPr>
                    </a:p>
                  </a:txBody>
                  <a:tcPr marT="63500" marB="63500" marR="63500" marL="63500">
                    <a:lnB cap="flat" cmpd="sng" w="12700">
                      <a:solidFill>
                        <a:srgbClr val="9A2F3E"/>
                      </a:solidFill>
                      <a:prstDash val="solid"/>
                      <a:round/>
                      <a:headEnd len="sm" w="sm" type="none"/>
                      <a:tailEnd len="sm" w="sm" type="none"/>
                    </a:lnB>
                    <a:solidFill>
                      <a:srgbClr val="9A2F3E"/>
                    </a:solidFill>
                  </a:tcPr>
                </a:tc>
                <a:tc hMerge="1"/>
              </a:tr>
              <a:tr h="1393625">
                <a:tc>
                  <a:txBody>
                    <a:bodyPr/>
                    <a:lstStyle/>
                    <a:p>
                      <a:pPr indent="0" lvl="0" marL="0" marR="0" rtl="0" algn="ctr">
                        <a:lnSpc>
                          <a:spcPct val="100000"/>
                        </a:lnSpc>
                        <a:spcBef>
                          <a:spcPts val="0"/>
                        </a:spcBef>
                        <a:spcAft>
                          <a:spcPts val="0"/>
                        </a:spcAft>
                        <a:buClr>
                          <a:srgbClr val="000000"/>
                        </a:buClr>
                        <a:buSzPts val="1600"/>
                        <a:buFont typeface="Arial"/>
                        <a:buNone/>
                      </a:pPr>
                      <a:r>
                        <a:rPr b="1" lang="en" sz="1600" u="none" cap="none" strike="noStrike">
                          <a:latin typeface="Cabin"/>
                          <a:ea typeface="Cabin"/>
                          <a:cs typeface="Cabin"/>
                          <a:sym typeface="Cabin"/>
                        </a:rPr>
                        <a:t>Respectful</a:t>
                      </a:r>
                      <a:endParaRPr b="1" sz="1600" u="none" cap="none" strike="noStrike">
                        <a:latin typeface="Cabin"/>
                        <a:ea typeface="Cabin"/>
                        <a:cs typeface="Cabin"/>
                        <a:sym typeface="Cabin"/>
                      </a:endParaRPr>
                    </a:p>
                    <a:p>
                      <a:pPr indent="0" lvl="0" marL="0" marR="0" rtl="0" algn="ctr">
                        <a:lnSpc>
                          <a:spcPct val="100000"/>
                        </a:lnSpc>
                        <a:spcBef>
                          <a:spcPts val="1000"/>
                        </a:spcBef>
                        <a:spcAft>
                          <a:spcPts val="0"/>
                        </a:spcAft>
                        <a:buClr>
                          <a:srgbClr val="000000"/>
                        </a:buClr>
                        <a:buSzPts val="1600"/>
                        <a:buFont typeface="Arial"/>
                        <a:buNone/>
                      </a:pPr>
                      <a:r>
                        <a:rPr lang="en" sz="1600" u="none" cap="none" strike="noStrike">
                          <a:latin typeface="Cabin"/>
                          <a:ea typeface="Cabin"/>
                          <a:cs typeface="Cabin"/>
                          <a:sym typeface="Cabin"/>
                        </a:rPr>
                        <a:t>Our classroom is a safe space to share.</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5EDEF"/>
                    </a:solidFill>
                  </a:tcPr>
                </a:tc>
                <a:tc>
                  <a:txBody>
                    <a:bodyPr/>
                    <a:lstStyle/>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provide each other with support and encouragement.</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share our time to talk. We do this by giving others time to think and share.</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critique the </a:t>
                      </a:r>
                      <a:r>
                        <a:rPr i="1" lang="en" sz="1600" u="none" cap="none" strike="noStrike">
                          <a:latin typeface="Cabin"/>
                          <a:ea typeface="Cabin"/>
                          <a:cs typeface="Cabin"/>
                          <a:sym typeface="Cabin"/>
                        </a:rPr>
                        <a:t>ideas</a:t>
                      </a:r>
                      <a:r>
                        <a:rPr lang="en" sz="1600" u="none" cap="none" strike="noStrike">
                          <a:latin typeface="Cabin"/>
                          <a:ea typeface="Cabin"/>
                          <a:cs typeface="Cabin"/>
                          <a:sym typeface="Cabin"/>
                        </a:rPr>
                        <a:t> we are working with, but not the </a:t>
                      </a:r>
                      <a:r>
                        <a:rPr i="1" lang="en" sz="1600" u="none" cap="none" strike="noStrike">
                          <a:latin typeface="Cabin"/>
                          <a:ea typeface="Cabin"/>
                          <a:cs typeface="Cabin"/>
                          <a:sym typeface="Cabin"/>
                        </a:rPr>
                        <a:t>people</a:t>
                      </a:r>
                      <a:r>
                        <a:rPr lang="en" sz="1600" u="none" cap="none" strike="noStrike">
                          <a:latin typeface="Cabin"/>
                          <a:ea typeface="Cabin"/>
                          <a:cs typeface="Cabin"/>
                          <a:sym typeface="Cabin"/>
                        </a:rPr>
                        <a:t> we are working with.</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FFFFF"/>
                    </a:solidFill>
                  </a:tcPr>
                </a:tc>
              </a:tr>
              <a:tr h="1267225">
                <a:tc>
                  <a:txBody>
                    <a:bodyPr/>
                    <a:lstStyle/>
                    <a:p>
                      <a:pPr indent="0" lvl="0" marL="0" marR="0" rtl="0" algn="ctr">
                        <a:lnSpc>
                          <a:spcPct val="100000"/>
                        </a:lnSpc>
                        <a:spcBef>
                          <a:spcPts val="0"/>
                        </a:spcBef>
                        <a:spcAft>
                          <a:spcPts val="0"/>
                        </a:spcAft>
                        <a:buClr>
                          <a:srgbClr val="000000"/>
                        </a:buClr>
                        <a:buSzPts val="1600"/>
                        <a:buFont typeface="Arial"/>
                        <a:buNone/>
                      </a:pPr>
                      <a:r>
                        <a:rPr b="1" lang="en" sz="1600" u="none" cap="none" strike="noStrike">
                          <a:latin typeface="Cabin"/>
                          <a:ea typeface="Cabin"/>
                          <a:cs typeface="Cabin"/>
                          <a:sym typeface="Cabin"/>
                        </a:rPr>
                        <a:t>Equitable</a:t>
                      </a:r>
                      <a:endParaRPr sz="1600" u="none" cap="none" strike="noStrike">
                        <a:latin typeface="Cabin"/>
                        <a:ea typeface="Cabin"/>
                        <a:cs typeface="Cabin"/>
                        <a:sym typeface="Cabin"/>
                      </a:endParaRPr>
                    </a:p>
                    <a:p>
                      <a:pPr indent="0" lvl="0" marL="0" marR="0" rtl="0" algn="ctr">
                        <a:lnSpc>
                          <a:spcPct val="100000"/>
                        </a:lnSpc>
                        <a:spcBef>
                          <a:spcPts val="1000"/>
                        </a:spcBef>
                        <a:spcAft>
                          <a:spcPts val="0"/>
                        </a:spcAft>
                        <a:buClr>
                          <a:srgbClr val="000000"/>
                        </a:buClr>
                        <a:buSzPts val="1600"/>
                        <a:buFont typeface="Arial"/>
                        <a:buNone/>
                      </a:pPr>
                      <a:r>
                        <a:rPr lang="en" sz="1600" u="none" cap="none" strike="noStrike">
                          <a:latin typeface="Cabin"/>
                          <a:ea typeface="Cabin"/>
                          <a:cs typeface="Cabin"/>
                          <a:sym typeface="Cabin"/>
                        </a:rPr>
                        <a:t>Everyone’s participation and ideas are valuable.</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5EDEF"/>
                    </a:solidFill>
                  </a:tcPr>
                </a:tc>
                <a:tc>
                  <a:txBody>
                    <a:bodyPr/>
                    <a:lstStyle/>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monitor our own time spent talking.</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encourage others’ voices who we have not heard from yet. </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recognize and value that people think, share, and represent their ideas in different ways.</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FFFFF"/>
                    </a:solidFill>
                  </a:tcPr>
                </a:tc>
              </a:tr>
              <a:tr h="1393625">
                <a:tc>
                  <a:txBody>
                    <a:bodyPr/>
                    <a:lstStyle/>
                    <a:p>
                      <a:pPr indent="0" lvl="0" marL="0" marR="0" rtl="0" algn="ctr">
                        <a:lnSpc>
                          <a:spcPct val="100000"/>
                        </a:lnSpc>
                        <a:spcBef>
                          <a:spcPts val="0"/>
                        </a:spcBef>
                        <a:spcAft>
                          <a:spcPts val="0"/>
                        </a:spcAft>
                        <a:buClr>
                          <a:srgbClr val="000000"/>
                        </a:buClr>
                        <a:buSzPts val="1600"/>
                        <a:buFont typeface="Arial"/>
                        <a:buNone/>
                      </a:pPr>
                      <a:r>
                        <a:rPr b="1" lang="en" sz="1600" u="none" cap="none" strike="noStrike">
                          <a:latin typeface="Cabin"/>
                          <a:ea typeface="Cabin"/>
                          <a:cs typeface="Cabin"/>
                          <a:sym typeface="Cabin"/>
                        </a:rPr>
                        <a:t>Committed to our community</a:t>
                      </a:r>
                      <a:endParaRPr sz="1600" u="none" cap="none" strike="noStrike">
                        <a:latin typeface="Cabin"/>
                        <a:ea typeface="Cabin"/>
                        <a:cs typeface="Cabin"/>
                        <a:sym typeface="Cabin"/>
                      </a:endParaRPr>
                    </a:p>
                    <a:p>
                      <a:pPr indent="0" lvl="0" marL="0" marR="0" rtl="0" algn="ctr">
                        <a:lnSpc>
                          <a:spcPct val="100000"/>
                        </a:lnSpc>
                        <a:spcBef>
                          <a:spcPts val="1000"/>
                        </a:spcBef>
                        <a:spcAft>
                          <a:spcPts val="0"/>
                        </a:spcAft>
                        <a:buClr>
                          <a:srgbClr val="000000"/>
                        </a:buClr>
                        <a:buSzPts val="1600"/>
                        <a:buFont typeface="Arial"/>
                        <a:buNone/>
                      </a:pPr>
                      <a:r>
                        <a:rPr lang="en" sz="1600" u="none" cap="none" strike="noStrike">
                          <a:latin typeface="Cabin"/>
                          <a:ea typeface="Cabin"/>
                          <a:cs typeface="Cabin"/>
                          <a:sym typeface="Cabin"/>
                        </a:rPr>
                        <a:t> We learn together. </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5EDEF"/>
                    </a:solidFill>
                  </a:tcPr>
                </a:tc>
                <a:tc>
                  <a:txBody>
                    <a:bodyPr/>
                    <a:lstStyle/>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come prepared to work toward a common goal. </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share our own thinking to help us all learn.</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listen carefully and ask questions to help us understand everyone’s ideas.</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speak clearly and loud enough so everyone can hear. </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FFFFF"/>
                    </a:solidFill>
                  </a:tcPr>
                </a:tc>
              </a:tr>
              <a:tr h="1393625">
                <a:tc>
                  <a:txBody>
                    <a:bodyPr/>
                    <a:lstStyle/>
                    <a:p>
                      <a:pPr indent="0" lvl="0" marL="0" marR="0" rtl="0" algn="ctr">
                        <a:lnSpc>
                          <a:spcPct val="100000"/>
                        </a:lnSpc>
                        <a:spcBef>
                          <a:spcPts val="0"/>
                        </a:spcBef>
                        <a:spcAft>
                          <a:spcPts val="0"/>
                        </a:spcAft>
                        <a:buClr>
                          <a:srgbClr val="000000"/>
                        </a:buClr>
                        <a:buSzPts val="1600"/>
                        <a:buFont typeface="Arial"/>
                        <a:buNone/>
                      </a:pPr>
                      <a:r>
                        <a:rPr b="1" lang="en" sz="1600" u="none" cap="none" strike="noStrike">
                          <a:latin typeface="Cabin"/>
                          <a:ea typeface="Cabin"/>
                          <a:cs typeface="Cabin"/>
                          <a:sym typeface="Cabin"/>
                        </a:rPr>
                        <a:t>Moving our science thinking forward </a:t>
                      </a:r>
                      <a:endParaRPr sz="1600" u="none" cap="none" strike="noStrike">
                        <a:latin typeface="Cabin"/>
                        <a:ea typeface="Cabin"/>
                        <a:cs typeface="Cabin"/>
                        <a:sym typeface="Cabin"/>
                      </a:endParaRPr>
                    </a:p>
                    <a:p>
                      <a:pPr indent="0" lvl="0" marL="0" marR="0" rtl="0" algn="ctr">
                        <a:lnSpc>
                          <a:spcPct val="100000"/>
                        </a:lnSpc>
                        <a:spcBef>
                          <a:spcPts val="1000"/>
                        </a:spcBef>
                        <a:spcAft>
                          <a:spcPts val="0"/>
                        </a:spcAft>
                        <a:buClr>
                          <a:srgbClr val="000000"/>
                        </a:buClr>
                        <a:buSzPts val="1600"/>
                        <a:buFont typeface="Arial"/>
                        <a:buNone/>
                      </a:pPr>
                      <a:r>
                        <a:rPr lang="en" sz="1600" u="none" cap="none" strike="noStrike">
                          <a:latin typeface="Cabin"/>
                          <a:ea typeface="Cabin"/>
                          <a:cs typeface="Cabin"/>
                          <a:sym typeface="Cabin"/>
                        </a:rPr>
                        <a:t>We work together to figure things out.</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5EDEF"/>
                    </a:solidFill>
                  </a:tcPr>
                </a:tc>
                <a:tc>
                  <a:txBody>
                    <a:bodyPr/>
                    <a:lstStyle/>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use and build on other’s ideas.</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use evidence to support our ideas, ask for evidence from others, and suggest ways to get additional evidence.</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are open to changing our minds.</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challenge ourselves to think in new ways.</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FFFFF"/>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penSciEd-Asparagu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penSciEd-Stillet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