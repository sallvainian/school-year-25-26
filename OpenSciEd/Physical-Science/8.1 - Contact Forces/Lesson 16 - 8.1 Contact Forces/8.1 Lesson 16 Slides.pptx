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 id="2147483670" r:id="rId5"/>
  </p:sldMasterIdLst>
  <p:notesMasterIdLst>
    <p:notesMasterId r:id="rId6"/>
  </p:notesMasterIdLst>
  <p:sldIdLst>
    <p:sldId id="256" r:id="rId7"/>
    <p:sldId id="257" r:id="rId8"/>
  </p:sldIdLst>
  <p:sldSz cy="6858000" cx="9144000"/>
  <p:notesSz cx="6858000" cy="9144000"/>
  <p:embeddedFontLst>
    <p:embeddedFont>
      <p:font typeface="Boogaloo"/>
      <p:regular r:id="rId9"/>
    </p:embeddedFont>
    <p:embeddedFont>
      <p:font typeface="Cabin"/>
      <p:regular r:id="rId10"/>
      <p:bold r:id="rId11"/>
      <p:italic r:id="rId12"/>
      <p:boldItalic r:id="rId13"/>
    </p:embeddedFont>
    <p:embeddedFont>
      <p:font typeface="Helvetica Neue"/>
      <p:regular r:id="rId14"/>
      <p:bold r:id="rId15"/>
      <p:italic r:id="rId16"/>
      <p:boldItalic r:id="rId17"/>
    </p:embeddedFont>
    <p:embeddedFont>
      <p:font typeface="Cabin Condense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Cabin-bold.fntdata"/><Relationship Id="rId10" Type="http://schemas.openxmlformats.org/officeDocument/2006/relationships/font" Target="fonts/Cabin-regular.fntdata"/><Relationship Id="rId13" Type="http://schemas.openxmlformats.org/officeDocument/2006/relationships/font" Target="fonts/Cabin-boldItalic.fntdata"/><Relationship Id="rId12" Type="http://schemas.openxmlformats.org/officeDocument/2006/relationships/font" Target="fonts/Cabin-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Boogaloo-regular.fntdata"/><Relationship Id="rId15" Type="http://schemas.openxmlformats.org/officeDocument/2006/relationships/font" Target="fonts/HelveticaNeue-bold.fntdata"/><Relationship Id="rId14" Type="http://schemas.openxmlformats.org/officeDocument/2006/relationships/font" Target="fonts/HelveticaNeue-regular.fntdata"/><Relationship Id="rId17" Type="http://schemas.openxmlformats.org/officeDocument/2006/relationships/font" Target="fonts/HelveticaNeue-boldItalic.fntdata"/><Relationship Id="rId16" Type="http://schemas.openxmlformats.org/officeDocument/2006/relationships/font" Target="fonts/HelveticaNeue-italic.fntdata"/><Relationship Id="rId5" Type="http://schemas.openxmlformats.org/officeDocument/2006/relationships/slideMaster" Target="slideMasters/slideMaster2.xml"/><Relationship Id="rId19" Type="http://schemas.openxmlformats.org/officeDocument/2006/relationships/font" Target="fonts/CabinCondensed-bold.fntdata"/><Relationship Id="rId6" Type="http://schemas.openxmlformats.org/officeDocument/2006/relationships/notesMaster" Target="notesMasters/notesMaster1.xml"/><Relationship Id="rId18" Type="http://schemas.openxmlformats.org/officeDocument/2006/relationships/font" Target="fonts/CabinCondensed-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Last lesson we created a final design proposal. Generally, after a design proposal is drafted, the key ideas are shared with investors in a design pitch.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Have students turn and talk about the following question: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you were an investor, what would be the most important thing you would want to know about someone’s proposed design solution?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students have had time to discuss their ideas with their partner, have them share their ideas with the class. Accept all relevant responses. Students may present the following ideas: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Investors want to know if they will make money from the design.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Investors want to know if someone will want to buy it and if the designer considered the buyers when designing the device.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Investors want to know if it is realistic to build.</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Investors want to know if the stakeholders were satisfied with the trade-offs.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OK, we have a good idea of what investors want, and it seems to center around stakeholder needs. That is definitely important to communicate to the investors. Let’s actually draft a plan and share with our stakeholders and investors right here in class.</a:t>
            </a:r>
            <a:endParaRPr/>
          </a:p>
        </p:txBody>
      </p:sp>
      <p:sp>
        <p:nvSpPr>
          <p:cNvPr id="99" name="Google Shape;99;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pitch presentation project.</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B</a:t>
            </a:r>
            <a:r>
              <a:rPr lang="en">
                <a:solidFill>
                  <a:schemeClr val="dk1"/>
                </a:solidFill>
                <a:latin typeface="Cabin"/>
                <a:ea typeface="Cabin"/>
                <a:cs typeface="Cabin"/>
                <a:sym typeface="Cabin"/>
              </a:rPr>
              <a:t>. Introduce the investor design pitch project to students. Explain that students will have the opportunity to create a design pitch and present it to an audience. Tell students that there are many ways to do this, and we will consider each method as we go. If we have time, we will also be able to build a scale prototype, test it, and add other visuals to our presentation to help our investors envision this design in real life.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project options. </a:t>
            </a:r>
            <a:r>
              <a:rPr lang="en">
                <a:solidFill>
                  <a:schemeClr val="dk1"/>
                </a:solidFill>
                <a:latin typeface="Cabin"/>
                <a:ea typeface="Cabin"/>
                <a:cs typeface="Cabin"/>
                <a:sym typeface="Cabin"/>
              </a:rPr>
              <a:t>Pass out </a:t>
            </a:r>
            <a:r>
              <a:rPr i="1" lang="en">
                <a:solidFill>
                  <a:srgbClr val="0B0B0B"/>
                </a:solidFill>
                <a:latin typeface="Cabin"/>
                <a:ea typeface="Cabin"/>
                <a:cs typeface="Cabin"/>
                <a:sym typeface="Cabin"/>
              </a:rPr>
              <a:t>Presentation Format Options</a:t>
            </a:r>
            <a:r>
              <a:rPr lang="en">
                <a:solidFill>
                  <a:schemeClr val="dk1"/>
                </a:solidFill>
                <a:latin typeface="Cabin"/>
                <a:ea typeface="Cabin"/>
                <a:cs typeface="Cabin"/>
                <a:sym typeface="Cabin"/>
              </a:rPr>
              <a:t> to students. Explain that sometimes product designers and engineers pitch designs to investors in different locations, sometimes on the other side of the world. Because of that and increased use of technology in the workplace, there are a couple of different options for presenting their design pitch to investors.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Go over the three different options with students: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Presenting in person with a question and answer session after the presentation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Pre-recorded with a live question and answer session after the recording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Presented over a live, online platform with a question and answer session after the presentation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br>
              <a:rPr lang="en">
                <a:solidFill>
                  <a:schemeClr val="dk1"/>
                </a:solidFill>
                <a:latin typeface="Cabin"/>
                <a:ea typeface="Cabin"/>
                <a:cs typeface="Cabin"/>
                <a:sym typeface="Cabin"/>
              </a:rPr>
            </a:br>
            <a:r>
              <a:rPr lang="en">
                <a:solidFill>
                  <a:schemeClr val="dk1"/>
                </a:solidFill>
                <a:latin typeface="Cabin"/>
                <a:ea typeface="Cabin"/>
                <a:cs typeface="Cabin"/>
                <a:sym typeface="Cabin"/>
              </a:rPr>
              <a:t>Allow students 2-3 minutes to make their presentation choices.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a:t>
            </a:r>
            <a:r>
              <a:rPr b="1" i="1" lang="en">
                <a:solidFill>
                  <a:srgbClr val="0B0B0B"/>
                </a:solidFill>
                <a:latin typeface="Cabin"/>
                <a:ea typeface="Cabin"/>
                <a:cs typeface="Cabin"/>
                <a:sym typeface="Cabin"/>
              </a:rPr>
              <a:t>Outlining an Investor Pitch Presentation</a:t>
            </a:r>
            <a:r>
              <a:rPr b="1" lang="en">
                <a:solidFill>
                  <a:schemeClr val="dk1"/>
                </a:solidFill>
                <a:latin typeface="Cabin"/>
                <a:ea typeface="Cabin"/>
                <a:cs typeface="Cabin"/>
                <a:sym typeface="Cabin"/>
              </a:rPr>
              <a:t>.</a:t>
            </a:r>
            <a:r>
              <a:rPr lang="en">
                <a:solidFill>
                  <a:schemeClr val="dk1"/>
                </a:solidFill>
                <a:latin typeface="Cabin"/>
                <a:ea typeface="Cabin"/>
                <a:cs typeface="Cabin"/>
                <a:sym typeface="Cabin"/>
              </a:rPr>
              <a:t> After students have decided how they will present their presentation, distribute </a:t>
            </a:r>
            <a:r>
              <a:rPr i="1" lang="en">
                <a:solidFill>
                  <a:srgbClr val="0B0B0B"/>
                </a:solidFill>
                <a:latin typeface="Cabin"/>
                <a:ea typeface="Cabin"/>
                <a:cs typeface="Cabin"/>
                <a:sym typeface="Cabin"/>
              </a:rPr>
              <a:t>Outlining an Investor Pitch Presentation</a:t>
            </a:r>
            <a:r>
              <a:rPr lang="en">
                <a:solidFill>
                  <a:schemeClr val="dk1"/>
                </a:solidFill>
                <a:latin typeface="Cabin"/>
                <a:ea typeface="Cabin"/>
                <a:cs typeface="Cabin"/>
                <a:sym typeface="Cabin"/>
              </a:rPr>
              <a:t> to students. If you have previously collected </a:t>
            </a:r>
            <a:r>
              <a:rPr i="1" lang="en">
                <a:solidFill>
                  <a:srgbClr val="0B0B0B"/>
                </a:solidFill>
                <a:latin typeface="Cabin"/>
                <a:ea typeface="Cabin"/>
                <a:cs typeface="Cabin"/>
                <a:sym typeface="Cabin"/>
              </a:rPr>
              <a:t>Presentation Format Options</a:t>
            </a:r>
            <a:r>
              <a:rPr lang="en">
                <a:solidFill>
                  <a:schemeClr val="dk1"/>
                </a:solidFill>
                <a:latin typeface="Cabin"/>
                <a:ea typeface="Cabin"/>
                <a:cs typeface="Cabin"/>
                <a:sym typeface="Cabin"/>
              </a:rPr>
              <a:t>, make sure to pass that back at this time as well.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Explain to students that when designers or engineers present to investors, investors want to know that the stakeholders needs have been addressed. Because of that, this information is paramount in their presentations. </a:t>
            </a:r>
            <a:r>
              <a:rPr i="1" lang="en">
                <a:solidFill>
                  <a:srgbClr val="0B0B0B"/>
                </a:solidFill>
                <a:latin typeface="Cabin"/>
                <a:ea typeface="Cabin"/>
                <a:cs typeface="Cabin"/>
                <a:sym typeface="Cabin"/>
              </a:rPr>
              <a:t>Outlining an Investor Pitch Presentation</a:t>
            </a:r>
            <a:r>
              <a:rPr lang="en">
                <a:solidFill>
                  <a:schemeClr val="dk1"/>
                </a:solidFill>
                <a:latin typeface="Cabin"/>
                <a:ea typeface="Cabin"/>
                <a:cs typeface="Cabin"/>
                <a:sym typeface="Cabin"/>
              </a:rPr>
              <a:t> will help students plan for their presentation to investors by having them think thoughtfully about the information on </a:t>
            </a:r>
            <a:r>
              <a:rPr i="1" lang="en">
                <a:solidFill>
                  <a:srgbClr val="0B0B0B"/>
                </a:solidFill>
                <a:latin typeface="Cabin"/>
                <a:ea typeface="Cabin"/>
                <a:cs typeface="Cabin"/>
                <a:sym typeface="Cabin"/>
              </a:rPr>
              <a:t>Presentation Format Options</a:t>
            </a:r>
            <a:r>
              <a:rPr lang="en">
                <a:solidFill>
                  <a:schemeClr val="dk1"/>
                </a:solidFill>
                <a:latin typeface="Cabin"/>
                <a:ea typeface="Cabin"/>
                <a:cs typeface="Cabin"/>
                <a:sym typeface="Cabin"/>
              </a:rPr>
              <a:t> and determine how they will present the information.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Begin creating the presentation. </a:t>
            </a:r>
            <a:r>
              <a:rPr lang="en">
                <a:solidFill>
                  <a:schemeClr val="dk1"/>
                </a:solidFill>
                <a:latin typeface="Cabin"/>
                <a:ea typeface="Cabin"/>
                <a:cs typeface="Cabin"/>
                <a:sym typeface="Cabin"/>
              </a:rPr>
              <a:t>Provide students with time to complete </a:t>
            </a:r>
            <a:r>
              <a:rPr i="1" lang="en">
                <a:solidFill>
                  <a:srgbClr val="0B0B0B"/>
                </a:solidFill>
                <a:latin typeface="Cabin"/>
                <a:ea typeface="Cabin"/>
                <a:cs typeface="Cabin"/>
                <a:sym typeface="Cabin"/>
              </a:rPr>
              <a:t>Outlining an Investor Pitch Presentation</a:t>
            </a:r>
            <a:r>
              <a:rPr lang="en">
                <a:solidFill>
                  <a:schemeClr val="dk1"/>
                </a:solidFill>
                <a:latin typeface="Cabin"/>
                <a:ea typeface="Cabin"/>
                <a:cs typeface="Cabin"/>
                <a:sym typeface="Cabin"/>
              </a:rPr>
              <a:t> using their information from </a:t>
            </a:r>
            <a:r>
              <a:rPr i="1" lang="en">
                <a:solidFill>
                  <a:srgbClr val="0B0B0B"/>
                </a:solidFill>
                <a:latin typeface="Cabin"/>
                <a:ea typeface="Cabin"/>
                <a:cs typeface="Cabin"/>
                <a:sym typeface="Cabin"/>
              </a:rPr>
              <a:t>Presentation Format Options</a:t>
            </a:r>
            <a:r>
              <a:rPr lang="en">
                <a:solidFill>
                  <a:schemeClr val="dk1"/>
                </a:solidFill>
                <a:latin typeface="Cabin"/>
                <a:ea typeface="Cabin"/>
                <a:cs typeface="Cabin"/>
                <a:sym typeface="Cabin"/>
              </a:rPr>
              <a:t>. Once students are finished planning their presentation, allow students to begin creating their presentation. Students have several options to choose from for creating this presentation. As students are working, make sure that all students are utilizing the information from </a:t>
            </a:r>
            <a:r>
              <a:rPr i="1" lang="en">
                <a:solidFill>
                  <a:srgbClr val="0B0B0B"/>
                </a:solidFill>
                <a:latin typeface="Cabin"/>
                <a:ea typeface="Cabin"/>
                <a:cs typeface="Cabin"/>
                <a:sym typeface="Cabin"/>
              </a:rPr>
              <a:t>Outlining an Investor Pitch Presentation</a:t>
            </a:r>
            <a:r>
              <a:rPr lang="en">
                <a:solidFill>
                  <a:schemeClr val="dk1"/>
                </a:solidFill>
                <a:latin typeface="Cabin"/>
                <a:ea typeface="Cabin"/>
                <a:cs typeface="Cabin"/>
                <a:sym typeface="Cabin"/>
              </a:rPr>
              <a:t> in their presentation.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Allow students time to complete their presentations in the method they have identified on </a:t>
            </a:r>
            <a:r>
              <a:rPr i="1" lang="en">
                <a:solidFill>
                  <a:srgbClr val="0B0B0B"/>
                </a:solidFill>
                <a:latin typeface="Cabin"/>
                <a:ea typeface="Cabin"/>
                <a:cs typeface="Cabin"/>
                <a:sym typeface="Cabin"/>
              </a:rPr>
              <a:t>Presentation Format Options</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Students can also engage in optional activities with this presentation based upon time allotted, student interest, needed enrichment, and ability level. See </a:t>
            </a:r>
            <a:r>
              <a:rPr i="1" lang="en">
                <a:solidFill>
                  <a:srgbClr val="0B0B0B"/>
                </a:solidFill>
                <a:latin typeface="Cabin"/>
                <a:ea typeface="Cabin"/>
                <a:cs typeface="Cabin"/>
                <a:sym typeface="Cabin"/>
              </a:rPr>
              <a:t>Project Options Overview</a:t>
            </a:r>
            <a:r>
              <a:rPr lang="en">
                <a:solidFill>
                  <a:schemeClr val="dk1"/>
                </a:solidFill>
                <a:latin typeface="Cabin"/>
                <a:ea typeface="Cabin"/>
                <a:cs typeface="Cabin"/>
                <a:sym typeface="Cabin"/>
              </a:rPr>
              <a:t> for details on each option.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Present the pitch. </a:t>
            </a:r>
            <a:r>
              <a:rPr lang="en">
                <a:solidFill>
                  <a:schemeClr val="dk1"/>
                </a:solidFill>
                <a:latin typeface="Cabin"/>
                <a:ea typeface="Cabin"/>
                <a:cs typeface="Cabin"/>
                <a:sym typeface="Cabin"/>
              </a:rPr>
              <a:t>After students have completed the creation of their presentation, give time for students to present their pitches to stakeholders and/or investors. Potential applicable assessable standards for math, english language arts, and technology standards (depending on project and extension choice) can be found on </a:t>
            </a:r>
            <a:r>
              <a:rPr i="1" lang="en">
                <a:solidFill>
                  <a:srgbClr val="0B0B0B"/>
                </a:solidFill>
                <a:latin typeface="Cabin"/>
                <a:ea typeface="Cabin"/>
                <a:cs typeface="Cabin"/>
                <a:sym typeface="Cabin"/>
              </a:rPr>
              <a:t>Potential Accompanying Standards</a:t>
            </a:r>
            <a:r>
              <a:rPr lang="en">
                <a:solidFill>
                  <a:schemeClr val="dk1"/>
                </a:solidFill>
                <a:latin typeface="Cabin"/>
                <a:ea typeface="Cabin"/>
                <a:cs typeface="Cabin"/>
                <a:sym typeface="Cabin"/>
              </a:rPr>
              <a:t>. Before a presentation begins, distribute </a:t>
            </a:r>
            <a:r>
              <a:rPr i="1" lang="en">
                <a:solidFill>
                  <a:srgbClr val="0B0B0B"/>
                </a:solidFill>
                <a:latin typeface="Cabin"/>
                <a:ea typeface="Cabin"/>
                <a:cs typeface="Cabin"/>
                <a:sym typeface="Cabin"/>
              </a:rPr>
              <a:t>Investor Design Feedback Form</a:t>
            </a:r>
            <a:r>
              <a:rPr lang="en">
                <a:solidFill>
                  <a:schemeClr val="dk1"/>
                </a:solidFill>
                <a:latin typeface="Cabin"/>
                <a:ea typeface="Cabin"/>
                <a:cs typeface="Cabin"/>
                <a:sym typeface="Cabin"/>
              </a:rPr>
              <a:t> to all stakeholders and/or investors engaging with the presentation.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Give feedback. </a:t>
            </a:r>
            <a:r>
              <a:rPr lang="en">
                <a:solidFill>
                  <a:schemeClr val="dk1"/>
                </a:solidFill>
                <a:latin typeface="Cabin"/>
                <a:ea typeface="Cabin"/>
                <a:cs typeface="Cabin"/>
                <a:sym typeface="Cabin"/>
              </a:rPr>
              <a:t>As the presentation is conducted, remind the stakeholders and/or investors to use </a:t>
            </a:r>
            <a:r>
              <a:rPr i="1" lang="en">
                <a:solidFill>
                  <a:srgbClr val="0B0B0B"/>
                </a:solidFill>
                <a:latin typeface="Cabin"/>
                <a:ea typeface="Cabin"/>
                <a:cs typeface="Cabin"/>
                <a:sym typeface="Cabin"/>
              </a:rPr>
              <a:t>Investor Design Feedback Form</a:t>
            </a:r>
            <a:r>
              <a:rPr lang="en">
                <a:solidFill>
                  <a:schemeClr val="dk1"/>
                </a:solidFill>
                <a:latin typeface="Cabin"/>
                <a:ea typeface="Cabin"/>
                <a:cs typeface="Cabin"/>
                <a:sym typeface="Cabin"/>
              </a:rPr>
              <a:t> to give feedback on the design. At the end of the presentation, provide 2-3 minutes for stakeholders to ask questions and give feedback to each student.</a:t>
            </a:r>
            <a:endParaRPr>
              <a:solidFill>
                <a:schemeClr val="dk1"/>
              </a:solidFill>
              <a:latin typeface="Cabin"/>
              <a:ea typeface="Cabin"/>
              <a:cs typeface="Cabin"/>
              <a:sym typeface="Cabin"/>
            </a:endParaRPr>
          </a:p>
        </p:txBody>
      </p:sp>
      <p:sp>
        <p:nvSpPr>
          <p:cNvPr id="110" name="Google Shape;110;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9" name="Shape 9"/>
        <p:cNvGrpSpPr/>
        <p:nvPr/>
      </p:nvGrpSpPr>
      <p:grpSpPr>
        <a:xfrm>
          <a:off x="0" y="0"/>
          <a:ext cx="0" cy="0"/>
          <a:chOff x="0" y="0"/>
          <a:chExt cx="0" cy="0"/>
        </a:xfrm>
      </p:grpSpPr>
      <p:sp>
        <p:nvSpPr>
          <p:cNvPr id="10" name="Google Shape;10;p3"/>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1" name="Google Shape;11;p3"/>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3"/>
          <p:cNvSpPr txBox="1"/>
          <p:nvPr>
            <p:ph idx="3"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4" name="Google Shape;14;p3"/>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17" name="Google Shape;17;p4"/>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2"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 name="Google Shape;19;p4"/>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2" name="Google Shape;22;p5"/>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3" name="Google Shape;23;p5"/>
          <p:cNvSpPr txBox="1"/>
          <p:nvPr>
            <p:ph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4" name="Google Shape;24;p5"/>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27" name="Google Shape;27;p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28" name="Google Shape;28;p6"/>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4" name="Google Shape;34;p7"/>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7"/>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6" name="Google Shape;36;p7"/>
          <p:cNvSpPr txBox="1"/>
          <p:nvPr>
            <p:ph idx="3"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7" name="Google Shape;37;p7"/>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8" name="Google Shape;38;p7"/>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5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3"/>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8" name="Google Shape;58;p13"/>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9" name="Google Shape;59;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4"/>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2" name="Google Shape;62;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6" name="Google Shape;66;p1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6"/>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0" name="Google Shape;70;p16"/>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1" name="Google Shape;71;p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18"/>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18"/>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8" name="Google Shape;78;p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9"/>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0"/>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0"/>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0"/>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0"/>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7" name="Google Shape;87;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1"/>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90" name="Google Shape;90;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2"/>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2"/>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4" name="Google Shape;94;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1.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2" name="Shape 52"/>
        <p:cNvGrpSpPr/>
        <p:nvPr/>
      </p:nvGrpSpPr>
      <p:grpSpPr>
        <a:xfrm>
          <a:off x="0" y="0"/>
          <a:ext cx="0" cy="0"/>
          <a:chOff x="0" y="0"/>
          <a:chExt cx="0" cy="0"/>
        </a:xfrm>
      </p:grpSpPr>
      <p:sp>
        <p:nvSpPr>
          <p:cNvPr id="53" name="Google Shape;53;p1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4" name="Google Shape;54;p1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5" name="Google Shape;55;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0" name="Shape 100"/>
        <p:cNvGrpSpPr/>
        <p:nvPr/>
      </p:nvGrpSpPr>
      <p:grpSpPr>
        <a:xfrm>
          <a:off x="0" y="0"/>
          <a:ext cx="0" cy="0"/>
          <a:chOff x="0" y="0"/>
          <a:chExt cx="0" cy="0"/>
        </a:xfrm>
      </p:grpSpPr>
      <p:sp>
        <p:nvSpPr>
          <p:cNvPr id="101" name="Google Shape;101;p24"/>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Investor Considerations</a:t>
            </a:r>
            <a:endParaRPr b="0" i="0" sz="3200" u="none" cap="none" strike="noStrike">
              <a:solidFill>
                <a:srgbClr val="FFFFFF"/>
              </a:solidFill>
              <a:latin typeface="Boogaloo"/>
              <a:ea typeface="Boogaloo"/>
              <a:cs typeface="Boogaloo"/>
              <a:sym typeface="Boogaloo"/>
            </a:endParaRPr>
          </a:p>
        </p:txBody>
      </p:sp>
      <p:sp>
        <p:nvSpPr>
          <p:cNvPr id="102" name="Google Shape;102;p2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A</a:t>
            </a:r>
            <a:endParaRPr b="0" i="0" sz="1800" u="none" cap="none" strike="noStrike">
              <a:solidFill>
                <a:srgbClr val="9A2F3E"/>
              </a:solidFill>
              <a:latin typeface="Boogaloo"/>
              <a:ea typeface="Boogaloo"/>
              <a:cs typeface="Boogaloo"/>
              <a:sym typeface="Boogaloo"/>
            </a:endParaRPr>
          </a:p>
        </p:txBody>
      </p:sp>
      <p:sp>
        <p:nvSpPr>
          <p:cNvPr id="103" name="Google Shape;103;p24"/>
          <p:cNvSpPr/>
          <p:nvPr/>
        </p:nvSpPr>
        <p:spPr>
          <a:xfrm>
            <a:off x="457150" y="1539150"/>
            <a:ext cx="8229600" cy="48123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4"/>
          <p:cNvSpPr txBox="1"/>
          <p:nvPr/>
        </p:nvSpPr>
        <p:spPr>
          <a:xfrm>
            <a:off x="790675" y="3886200"/>
            <a:ext cx="7543800" cy="21345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you were an investor, what would be the most important thing you would want to know about someone’s proposed design solution?</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4"/>
          <p:cNvSpPr txBox="1"/>
          <p:nvPr/>
        </p:nvSpPr>
        <p:spPr>
          <a:xfrm>
            <a:off x="1271800" y="1761800"/>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Turn and Talk</a:t>
            </a:r>
            <a:endParaRPr b="0" i="0" sz="3000" u="none" cap="none" strike="noStrike">
              <a:solidFill>
                <a:srgbClr val="000000"/>
              </a:solidFill>
              <a:latin typeface="Arial"/>
              <a:ea typeface="Arial"/>
              <a:cs typeface="Arial"/>
              <a:sym typeface="Arial"/>
            </a:endParaRPr>
          </a:p>
        </p:txBody>
      </p:sp>
      <p:sp>
        <p:nvSpPr>
          <p:cNvPr id="106" name="Google Shape;106;p24"/>
          <p:cNvSpPr txBox="1"/>
          <p:nvPr/>
        </p:nvSpPr>
        <p:spPr>
          <a:xfrm flipH="1" rot="-204878">
            <a:off x="6288089" y="5242440"/>
            <a:ext cx="2095320" cy="1453370"/>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
        <p:nvSpPr>
          <p:cNvPr id="107" name="Google Shape;107;p24"/>
          <p:cNvSpPr txBox="1"/>
          <p:nvPr/>
        </p:nvSpPr>
        <p:spPr>
          <a:xfrm>
            <a:off x="1252317" y="2532350"/>
            <a:ext cx="7414800" cy="154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Last class we put together a final design proposal for our design. After a design proposal is drafted, designers can start pitching their ideas to investors. </a:t>
            </a:r>
            <a:endParaRPr b="0" i="0" sz="2400" u="none" cap="none" strike="noStrike">
              <a:solidFill>
                <a:srgbClr val="000000"/>
              </a:solidFill>
              <a:latin typeface="Boogaloo"/>
              <a:ea typeface="Boogaloo"/>
              <a:cs typeface="Boogaloo"/>
              <a:sym typeface="Boogalo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1" name="Shape 111"/>
        <p:cNvGrpSpPr/>
        <p:nvPr/>
      </p:nvGrpSpPr>
      <p:grpSpPr>
        <a:xfrm>
          <a:off x="0" y="0"/>
          <a:ext cx="0" cy="0"/>
          <a:chOff x="0" y="0"/>
          <a:chExt cx="0" cy="0"/>
        </a:xfrm>
      </p:grpSpPr>
      <p:sp>
        <p:nvSpPr>
          <p:cNvPr id="112" name="Google Shape;112;p25"/>
          <p:cNvSpPr/>
          <p:nvPr/>
        </p:nvSpPr>
        <p:spPr>
          <a:xfrm>
            <a:off x="457200" y="548640"/>
            <a:ext cx="8229600" cy="6855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Creating an Investor Presentation</a:t>
            </a:r>
            <a:endParaRPr b="0" i="0" sz="3200" u="none" cap="none" strike="noStrike">
              <a:solidFill>
                <a:srgbClr val="FFFFFF"/>
              </a:solidFill>
              <a:latin typeface="Boogaloo"/>
              <a:ea typeface="Boogaloo"/>
              <a:cs typeface="Boogaloo"/>
              <a:sym typeface="Boogaloo"/>
            </a:endParaRPr>
          </a:p>
        </p:txBody>
      </p:sp>
      <p:sp>
        <p:nvSpPr>
          <p:cNvPr id="113" name="Google Shape;113;p2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B</a:t>
            </a:r>
            <a:endParaRPr b="0" i="0" sz="1800" u="none" cap="none" strike="noStrike">
              <a:solidFill>
                <a:srgbClr val="9A2F3E"/>
              </a:solidFill>
              <a:latin typeface="Boogaloo"/>
              <a:ea typeface="Boogaloo"/>
              <a:cs typeface="Boogaloo"/>
              <a:sym typeface="Boogaloo"/>
            </a:endParaRPr>
          </a:p>
        </p:txBody>
      </p:sp>
      <p:sp>
        <p:nvSpPr>
          <p:cNvPr id="114" name="Google Shape;114;p25"/>
          <p:cNvSpPr/>
          <p:nvPr/>
        </p:nvSpPr>
        <p:spPr>
          <a:xfrm>
            <a:off x="457150" y="1517525"/>
            <a:ext cx="8229600" cy="50412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5"/>
          <p:cNvSpPr txBox="1"/>
          <p:nvPr/>
        </p:nvSpPr>
        <p:spPr>
          <a:xfrm>
            <a:off x="1117475" y="2635625"/>
            <a:ext cx="7323000" cy="35229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We will use a new handout to draft up our presentation with what would be important to an investor.</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After that, we will make the presentation and have the opportunity to add a physical prototype for investors.</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Some people may even have time to test their designs and create additional visuals for their presentation!</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5"/>
          <p:cNvSpPr txBox="1"/>
          <p:nvPr/>
        </p:nvSpPr>
        <p:spPr>
          <a:xfrm>
            <a:off x="1117475" y="1800313"/>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Presenting Our Ideas</a:t>
            </a:r>
            <a:endParaRPr b="0" i="0" sz="800" u="none" cap="none" strike="noStrike">
              <a:solidFill>
                <a:srgbClr val="000000"/>
              </a:solidFill>
              <a:latin typeface="Arial"/>
              <a:ea typeface="Arial"/>
              <a:cs typeface="Arial"/>
              <a:sym typeface="Arial"/>
            </a:endParaRPr>
          </a:p>
        </p:txBody>
      </p:sp>
      <p:pic>
        <p:nvPicPr>
          <p:cNvPr descr="Assessment icon" id="117" name="Google Shape;117;p25"/>
          <p:cNvPicPr preferRelativeResize="0"/>
          <p:nvPr/>
        </p:nvPicPr>
        <p:blipFill rotWithShape="1">
          <a:blip r:embed="rId3">
            <a:alphaModFix/>
          </a:blip>
          <a:srcRect b="0" l="0" r="0" t="0"/>
          <a:stretch/>
        </p:blipFill>
        <p:spPr>
          <a:xfrm>
            <a:off x="8583038" y="37175"/>
            <a:ext cx="524988" cy="474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