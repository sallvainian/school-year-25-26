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Lst>
  <p:sldSz cy="6858000" cx="9144000"/>
  <p:notesSz cx="6858000" cy="9144000"/>
  <p:embeddedFontLst>
    <p:embeddedFont>
      <p:font typeface="Boogaloo"/>
      <p:regular r:id="rId13"/>
    </p:embeddedFont>
    <p:embeddedFont>
      <p:font typeface="Cabin"/>
      <p:regular r:id="rId14"/>
      <p:bold r:id="rId15"/>
      <p:italic r:id="rId16"/>
      <p:boldItalic r:id="rId17"/>
    </p:embeddedFont>
    <p:embeddedFont>
      <p:font typeface="Helvetica Neue"/>
      <p:regular r:id="rId18"/>
      <p:bold r:id="rId19"/>
      <p:italic r:id="rId20"/>
      <p:boldItalic r:id="rId21"/>
    </p:embeddedFont>
    <p:embeddedFont>
      <p:font typeface="Cabin Condensed"/>
      <p:regular r:id="rId22"/>
      <p:bold r:id="rId23"/>
    </p:embeddedFont>
    <p:embeddedFont>
      <p:font typeface="Open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italic.fntdata"/><Relationship Id="rId22" Type="http://schemas.openxmlformats.org/officeDocument/2006/relationships/font" Target="fonts/CabinCondensed-regular.fntdata"/><Relationship Id="rId21" Type="http://schemas.openxmlformats.org/officeDocument/2006/relationships/font" Target="fonts/HelveticaNeue-boldItalic.fntdata"/><Relationship Id="rId24" Type="http://schemas.openxmlformats.org/officeDocument/2006/relationships/font" Target="fonts/OpenSans-regular.fntdata"/><Relationship Id="rId23" Type="http://schemas.openxmlformats.org/officeDocument/2006/relationships/font" Target="fonts/CabinCondense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penSans-italic.fntdata"/><Relationship Id="rId25" Type="http://schemas.openxmlformats.org/officeDocument/2006/relationships/font" Target="fonts/OpenSans-bold.fntdata"/><Relationship Id="rId27" Type="http://schemas.openxmlformats.org/officeDocument/2006/relationships/font" Target="fonts/Open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Boogaloo-regular.fntdata"/><Relationship Id="rId12" Type="http://schemas.openxmlformats.org/officeDocument/2006/relationships/slide" Target="slides/slide6.xml"/><Relationship Id="rId15" Type="http://schemas.openxmlformats.org/officeDocument/2006/relationships/font" Target="fonts/Cabin-bold.fntdata"/><Relationship Id="rId14" Type="http://schemas.openxmlformats.org/officeDocument/2006/relationships/font" Target="fonts/Cabin-regular.fntdata"/><Relationship Id="rId17" Type="http://schemas.openxmlformats.org/officeDocument/2006/relationships/font" Target="fonts/Cabin-boldItalic.fntdata"/><Relationship Id="rId16" Type="http://schemas.openxmlformats.org/officeDocument/2006/relationships/font" Target="fonts/Cabin-italic.fntdata"/><Relationship Id="rId19" Type="http://schemas.openxmlformats.org/officeDocument/2006/relationships/font" Target="fonts/HelveticaNeue-bold.fntdata"/><Relationship Id="rId18" Type="http://schemas.openxmlformats.org/officeDocument/2006/relationships/font" Target="fonts/HelveticaNeu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yaljRoKZVvg" TargetMode="External"/><Relationship Id="rId3" Type="http://schemas.openxmlformats.org/officeDocument/2006/relationships/hyperlink" Target="https://www.youtube.com/watch?v=lcUO6BX4a9Y" TargetMode="External"/><Relationship Id="rId4" Type="http://schemas.openxmlformats.org/officeDocument/2006/relationships/hyperlink" Target="https://www.youtube.com/watch?v=Ospfvnn1neE"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students to the synthesis task.</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A</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When engineers are working on a design solution they will compile all their evidence, research, and data and use it to inform decisions as they develop prototypes, drawings, and representations of their design solutions and write up their argument or recommendation of how and why a solution should be designed before moving forward with manufacturing. In the first part of class today, you will use all the materials from Lesson 14 to put together a design pitch for your design. Your design pitch should explain why your final design is effective and should be made. In your pitch include the trade-offs you have made and how you justify these trade-offs to the stakeholders. How would you explain the consequences of changing an aspect that the stakeholders were wanting in a design to something else, and how will this change benefit them and the design as compared to their original request?</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b="1" sz="1000">
              <a:solidFill>
                <a:schemeClr val="dk1"/>
              </a:solidFill>
              <a:latin typeface="Open Sans"/>
              <a:ea typeface="Open Sans"/>
              <a:cs typeface="Open Sans"/>
              <a:sym typeface="Open Sans"/>
            </a:endParaRPr>
          </a:p>
        </p:txBody>
      </p:sp>
      <p:sp>
        <p:nvSpPr>
          <p:cNvPr id="106" name="Google Shape;106;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a:solidFill>
                  <a:schemeClr val="dk1"/>
                </a:solidFill>
                <a:latin typeface="Cabin"/>
                <a:ea typeface="Cabin"/>
                <a:cs typeface="Cabin"/>
                <a:sym typeface="Cabin"/>
              </a:rPr>
              <a:t>Give students 20 minutes to write their final proposal for their design. </a:t>
            </a:r>
            <a:r>
              <a:rPr lang="en">
                <a:solidFill>
                  <a:schemeClr val="dk1"/>
                </a:solidFill>
                <a:latin typeface="Cabin"/>
                <a:ea typeface="Cabin"/>
                <a:cs typeface="Cabin"/>
                <a:sym typeface="Cabin"/>
              </a:rPr>
              <a:t>Project</a:t>
            </a:r>
            <a:r>
              <a:rPr b="1" lang="en">
                <a:solidFill>
                  <a:schemeClr val="dk1"/>
                </a:solidFill>
                <a:latin typeface="Cabin"/>
                <a:ea typeface="Cabin"/>
                <a:cs typeface="Cabin"/>
                <a:sym typeface="Cabin"/>
              </a:rPr>
              <a:t> slide B. </a:t>
            </a:r>
            <a:r>
              <a:rPr lang="en">
                <a:solidFill>
                  <a:schemeClr val="dk1"/>
                </a:solidFill>
                <a:latin typeface="Cabin"/>
                <a:ea typeface="Cabin"/>
                <a:cs typeface="Cabin"/>
                <a:sym typeface="Cabin"/>
              </a:rPr>
              <a:t>Tell students they should have out and be ready to use any resource material from their notebook, their </a:t>
            </a:r>
            <a:r>
              <a:rPr i="1" lang="en">
                <a:solidFill>
                  <a:srgbClr val="0B0B0B"/>
                </a:solidFill>
                <a:latin typeface="Cabin"/>
                <a:ea typeface="Cabin"/>
                <a:cs typeface="Cabin"/>
                <a:sym typeface="Cabin"/>
              </a:rPr>
              <a:t>Redesigning Your Protective Device</a:t>
            </a:r>
            <a:r>
              <a:rPr lang="en">
                <a:solidFill>
                  <a:schemeClr val="dk1"/>
                </a:solidFill>
                <a:latin typeface="Cabin"/>
                <a:ea typeface="Cabin"/>
                <a:cs typeface="Cabin"/>
                <a:sym typeface="Cabin"/>
              </a:rPr>
              <a:t>, their </a:t>
            </a:r>
            <a:r>
              <a:rPr i="1" lang="en">
                <a:solidFill>
                  <a:srgbClr val="0B0B0B"/>
                </a:solidFill>
                <a:latin typeface="Cabin"/>
                <a:ea typeface="Cabin"/>
                <a:cs typeface="Cabin"/>
                <a:sym typeface="Cabin"/>
              </a:rPr>
              <a:t>Decision Matrix</a:t>
            </a:r>
            <a:r>
              <a:rPr lang="en">
                <a:solidFill>
                  <a:schemeClr val="dk1"/>
                </a:solidFill>
                <a:latin typeface="Cabin"/>
                <a:ea typeface="Cabin"/>
                <a:cs typeface="Cabin"/>
                <a:sym typeface="Cabin"/>
              </a:rPr>
              <a:t>, and their </a:t>
            </a:r>
            <a:r>
              <a:rPr i="1" lang="en">
                <a:solidFill>
                  <a:srgbClr val="0B0B0B"/>
                </a:solidFill>
                <a:latin typeface="Cabin"/>
                <a:ea typeface="Cabin"/>
                <a:cs typeface="Cabin"/>
                <a:sym typeface="Cabin"/>
              </a:rPr>
              <a:t>Stakeholder Feedback Form</a:t>
            </a:r>
            <a:r>
              <a:rPr lang="en">
                <a:solidFill>
                  <a:schemeClr val="dk1"/>
                </a:solidFill>
                <a:latin typeface="Cabin"/>
                <a:ea typeface="Cabin"/>
                <a:cs typeface="Cabin"/>
                <a:sym typeface="Cabin"/>
              </a:rPr>
              <a:t> as they complete </a:t>
            </a:r>
            <a:r>
              <a:rPr i="1" lang="en">
                <a:solidFill>
                  <a:srgbClr val="0B0B0B"/>
                </a:solidFill>
                <a:latin typeface="Cabin"/>
                <a:ea typeface="Cabin"/>
                <a:cs typeface="Cabin"/>
                <a:sym typeface="Cabin"/>
              </a:rPr>
              <a:t>Final Design Proposal</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Pass out </a:t>
            </a:r>
            <a:r>
              <a:rPr i="1" lang="en">
                <a:solidFill>
                  <a:srgbClr val="0B0B0B"/>
                </a:solidFill>
                <a:latin typeface="Cabin"/>
                <a:ea typeface="Cabin"/>
                <a:cs typeface="Cabin"/>
                <a:sym typeface="Cabin"/>
              </a:rPr>
              <a:t>Final Design Proposal</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You may notice you already have ideas for some of the sections on this handout on one of the handouts from Lesson 14. In that case, you may just be transferring your ideas to this document.</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Other sections may require more thought. Read the questions carefully and compare them with the work you have already done on your designs. Some portions of the handout may need only a little more revising or thought for your presentation proposal for potential investors.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100"/>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100"/>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Though you’ve got some great ideas for how to improve your designs for our consumers, how could you use this way of thinking to evaluate and test designs that other engineers come up with for any proposed collision mitigation design solution? You will now use what you have figured out about contact forces and designing solutions and apply it to a new phenomenon scenario. This will be your final assessment of our unit. </a:t>
            </a:r>
            <a:endParaRPr i="1">
              <a:solidFill>
                <a:schemeClr val="dk1"/>
              </a:solidFill>
              <a:latin typeface="Cabin"/>
              <a:ea typeface="Cabin"/>
              <a:cs typeface="Cabin"/>
              <a:sym typeface="Cabin"/>
            </a:endParaRPr>
          </a:p>
          <a:p>
            <a:pPr indent="0" lvl="0" marL="0" rtl="0" algn="l">
              <a:lnSpc>
                <a:spcPct val="115000"/>
              </a:lnSpc>
              <a:spcBef>
                <a:spcPts val="160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b="1" sz="1000">
              <a:solidFill>
                <a:schemeClr val="dk1"/>
              </a:solidFill>
              <a:latin typeface="Open Sans"/>
              <a:ea typeface="Open Sans"/>
              <a:cs typeface="Open Sans"/>
              <a:sym typeface="Open Sans"/>
            </a:endParaRPr>
          </a:p>
        </p:txBody>
      </p:sp>
      <p:sp>
        <p:nvSpPr>
          <p:cNvPr id="116" name="Google Shape;116;p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Distribute </a:t>
            </a:r>
            <a:r>
              <a:rPr b="1" i="1" lang="en">
                <a:solidFill>
                  <a:srgbClr val="0B0B0B"/>
                </a:solidFill>
                <a:latin typeface="Cabin"/>
                <a:ea typeface="Cabin"/>
                <a:cs typeface="Cabin"/>
                <a:sym typeface="Cabin"/>
              </a:rPr>
              <a:t>Part 1: Cheerleading Headgear Assessment</a:t>
            </a:r>
            <a:r>
              <a:rPr b="1" i="1" lang="en">
                <a:solidFill>
                  <a:schemeClr val="dk1"/>
                </a:solidFill>
                <a:latin typeface="Cabin"/>
                <a:ea typeface="Cabin"/>
                <a:cs typeface="Cabin"/>
                <a:sym typeface="Cabin"/>
              </a:rPr>
              <a:t> </a:t>
            </a:r>
            <a:r>
              <a:rPr b="1" lang="en">
                <a:solidFill>
                  <a:schemeClr val="dk1"/>
                </a:solidFill>
                <a:latin typeface="Cabin"/>
                <a:ea typeface="Cabin"/>
                <a:cs typeface="Cabin"/>
                <a:sym typeface="Cabin"/>
              </a:rPr>
              <a:t>to each student. </a:t>
            </a:r>
            <a:r>
              <a:rPr lang="en">
                <a:solidFill>
                  <a:schemeClr val="dk1"/>
                </a:solidFill>
                <a:latin typeface="Cabin"/>
                <a:ea typeface="Cabin"/>
                <a:cs typeface="Cabin"/>
                <a:sym typeface="Cabin"/>
              </a:rPr>
              <a:t>Show </a:t>
            </a:r>
            <a:r>
              <a:rPr b="1" lang="en">
                <a:solidFill>
                  <a:schemeClr val="dk1"/>
                </a:solidFill>
                <a:latin typeface="Cabin"/>
                <a:ea typeface="Cabin"/>
                <a:cs typeface="Cabin"/>
                <a:sym typeface="Cabin"/>
              </a:rPr>
              <a:t>slide C</a:t>
            </a:r>
            <a:r>
              <a:rPr lang="en">
                <a:solidFill>
                  <a:schemeClr val="dk1"/>
                </a:solidFill>
                <a:latin typeface="Cabin"/>
                <a:ea typeface="Cabin"/>
                <a:cs typeface="Cabin"/>
                <a:sym typeface="Cabin"/>
              </a:rPr>
              <a:t>. Take a few minutes to go through the directions for the different sections of the transfer task. Then read the assessment introduction.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Show a cheerleading video to the class</a:t>
            </a:r>
            <a:r>
              <a:rPr lang="en">
                <a:solidFill>
                  <a:schemeClr val="dk1"/>
                </a:solidFill>
                <a:latin typeface="Cabin"/>
                <a:ea typeface="Cabin"/>
                <a:cs typeface="Cabin"/>
                <a:sym typeface="Cabin"/>
              </a:rPr>
              <a:t>. Take a moment to show a video from the list below.  Alternatively, any other cheerleading video that shows the aerial gymnastics of the sport can be shown.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u="sng">
                <a:solidFill>
                  <a:schemeClr val="hlink"/>
                </a:solidFill>
                <a:latin typeface="Cabin"/>
                <a:ea typeface="Cabin"/>
                <a:cs typeface="Cabin"/>
                <a:sym typeface="Cabin"/>
                <a:hlinkClick r:id="rId2"/>
              </a:rPr>
              <a:t>https://www.youtube.com/watch?v=yaljRoKZVvg</a:t>
            </a:r>
            <a:endParaRPr u="sng">
              <a:solidFill>
                <a:schemeClr val="hlink"/>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u="sng">
                <a:solidFill>
                  <a:schemeClr val="hlink"/>
                </a:solidFill>
                <a:latin typeface="Cabin"/>
                <a:ea typeface="Cabin"/>
                <a:cs typeface="Cabin"/>
                <a:sym typeface="Cabin"/>
                <a:hlinkClick r:id="rId3"/>
              </a:rPr>
              <a:t>https://www.youtube.com/watch?v=lcUO6BX4a9Y</a:t>
            </a:r>
            <a:endParaRPr u="sng">
              <a:solidFill>
                <a:schemeClr val="hlink"/>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u="sng">
                <a:solidFill>
                  <a:schemeClr val="hlink"/>
                </a:solidFill>
                <a:latin typeface="Cabin"/>
                <a:ea typeface="Cabin"/>
                <a:cs typeface="Cabin"/>
                <a:sym typeface="Cabin"/>
                <a:hlinkClick r:id="rId4"/>
              </a:rPr>
              <a:t>https://www.youtube.com/watch?v=Ospfvnn1neE</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100"/>
              <a:buNone/>
            </a:pPr>
            <a:r>
              <a:rPr lang="en">
                <a:solidFill>
                  <a:schemeClr val="dk1"/>
                </a:solidFill>
                <a:latin typeface="Cabin"/>
                <a:ea typeface="Cabin"/>
                <a:cs typeface="Cabin"/>
                <a:sym typeface="Cabin"/>
              </a:rPr>
              <a:t>It is advised you should show at least half the video so students can see what this sport looks like, especially in a competition. This will help them think about the idea of adding helmets to the uniform for cheerleading. Answer any questions students may have about what the questions are asking of students. Give students time to complete part 1 of the assessment on their own.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1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Conduct the end of part 1 of the transfer task. </a:t>
            </a:r>
            <a:r>
              <a:rPr lang="en">
                <a:solidFill>
                  <a:schemeClr val="dk1"/>
                </a:solidFill>
                <a:latin typeface="Cabin"/>
                <a:ea typeface="Cabin"/>
                <a:cs typeface="Cabin"/>
                <a:sym typeface="Cabin"/>
              </a:rPr>
              <a:t>Ask students to pause where they are at on the assessment and turn part 1 in. Let them know that the rest of the part 1 assessment can be completed tomorrow if they are not finished. It can be helpful to keep separate the assessments that are from students who have completed part 1 and ones from students who have not finished and may need a few minutes to finish at the beginning of the next class.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b="1">
              <a:solidFill>
                <a:schemeClr val="dk1"/>
              </a:solidFill>
              <a:latin typeface="Cabin"/>
              <a:ea typeface="Cabin"/>
              <a:cs typeface="Cabin"/>
              <a:sym typeface="Cabin"/>
            </a:endParaRPr>
          </a:p>
        </p:txBody>
      </p:sp>
      <p:sp>
        <p:nvSpPr>
          <p:cNvPr id="132" name="Google Shape;132;p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Distribute </a:t>
            </a:r>
            <a:r>
              <a:rPr b="1" i="1" lang="en">
                <a:solidFill>
                  <a:srgbClr val="0B0B0B"/>
                </a:solidFill>
                <a:latin typeface="Cabin"/>
                <a:ea typeface="Cabin"/>
                <a:cs typeface="Cabin"/>
                <a:sym typeface="Cabin"/>
              </a:rPr>
              <a:t>Part 2: Cheerleading Headgear Assessment</a:t>
            </a:r>
            <a:r>
              <a:rPr b="1" i="1" lang="en">
                <a:solidFill>
                  <a:schemeClr val="dk1"/>
                </a:solidFill>
                <a:latin typeface="Cabin"/>
                <a:ea typeface="Cabin"/>
                <a:cs typeface="Cabin"/>
                <a:sym typeface="Cabin"/>
              </a:rPr>
              <a:t> </a:t>
            </a:r>
            <a:r>
              <a:rPr b="1" lang="en">
                <a:solidFill>
                  <a:schemeClr val="dk1"/>
                </a:solidFill>
                <a:latin typeface="Cabin"/>
                <a:ea typeface="Cabin"/>
                <a:cs typeface="Cabin"/>
                <a:sym typeface="Cabin"/>
              </a:rPr>
              <a:t>to each student. </a:t>
            </a:r>
            <a:r>
              <a:rPr lang="en">
                <a:solidFill>
                  <a:schemeClr val="dk1"/>
                </a:solidFill>
                <a:latin typeface="Cabin"/>
                <a:ea typeface="Cabin"/>
                <a:cs typeface="Cabin"/>
                <a:sym typeface="Cabin"/>
              </a:rPr>
              <a:t>Show </a:t>
            </a:r>
            <a:r>
              <a:rPr b="1" lang="en">
                <a:solidFill>
                  <a:schemeClr val="dk1"/>
                </a:solidFill>
                <a:latin typeface="Cabin"/>
                <a:ea typeface="Cabin"/>
                <a:cs typeface="Cabin"/>
                <a:sym typeface="Cabin"/>
              </a:rPr>
              <a:t>slide D</a:t>
            </a:r>
            <a:r>
              <a:rPr lang="en">
                <a:solidFill>
                  <a:schemeClr val="dk1"/>
                </a:solidFill>
                <a:latin typeface="Cabin"/>
                <a:ea typeface="Cabin"/>
                <a:cs typeface="Cabin"/>
                <a:sym typeface="Cabin"/>
              </a:rPr>
              <a:t>. Take a few minutes to go through the directions for the different sections of the transfer task. Answer any questions students may have about what the questions are asking of students. Give students time to complete part 2 of the assessment on their own. You will also want to hand back part 1 to anyone who had not finished it in the prior class period. After 20 minutes, collect all transfer tasks. Most should have already finished by this time, but if there are still a few who are not finished, you may need to offer them time outside of class or, if it works logistically, they could finish the task and then join the class in revisiting the DQB when they finish.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chemeClr val="dk1"/>
              </a:solidFill>
            </a:endParaRPr>
          </a:p>
        </p:txBody>
      </p:sp>
      <p:sp>
        <p:nvSpPr>
          <p:cNvPr id="144" name="Google Shape;144;p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E </a:t>
            </a:r>
            <a:r>
              <a:rPr lang="en">
                <a:solidFill>
                  <a:schemeClr val="dk1"/>
                </a:solidFill>
                <a:latin typeface="Cabin"/>
                <a:ea typeface="Cabin"/>
                <a:cs typeface="Cabin"/>
                <a:sym typeface="Cabin"/>
              </a:rPr>
              <a:t>as students are finishing the assessment. As students finish the transfer task and have turned it in, tell them to take a few of the index tab flags  and silently visit the DQB. Using the directions slide E, they should read through the questions and put sticky dots on any that they feel they can answer.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Convene in a Scientists Circle around the Driving Question Board. </a:t>
            </a:r>
            <a:r>
              <a:rPr lang="en">
                <a:solidFill>
                  <a:schemeClr val="dk1"/>
                </a:solidFill>
                <a:latin typeface="Cabin"/>
                <a:ea typeface="Cabin"/>
                <a:cs typeface="Cabin"/>
                <a:sym typeface="Cabin"/>
              </a:rPr>
              <a:t>Look for patterns using the index tab flags. In the Scientists Circle, focus on the questions that have the most number of sticky dots.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Discuss as a class the questions the class can now answer. </a:t>
            </a:r>
            <a:r>
              <a:rPr lang="en">
                <a:solidFill>
                  <a:schemeClr val="dk1"/>
                </a:solidFill>
                <a:latin typeface="Cabin"/>
                <a:ea typeface="Cabin"/>
                <a:cs typeface="Cabin"/>
                <a:sym typeface="Cabin"/>
              </a:rPr>
              <a:t>Have the class discuss the answers to those questions as a group. If you have space, you might make a Take-Aways board that has a record of the answers the class comes up with.</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
        <p:nvSpPr>
          <p:cNvPr id="155" name="Google Shape;155;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Celebrate the class’s accomplishments.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 can’t believe how far we have come since we first wondered about the phenomenon of why smart phone screens break sometimes and not other times. We should be very proud of what we have accomplished!</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Have students reflect on their experiences with the unit.</a:t>
            </a:r>
            <a:r>
              <a:rPr lang="en">
                <a:solidFill>
                  <a:schemeClr val="dk1"/>
                </a:solidFill>
                <a:latin typeface="Cabin"/>
                <a:ea typeface="Cabin"/>
                <a:cs typeface="Cabin"/>
                <a:sym typeface="Cabin"/>
              </a:rPr>
              <a:t> Have students return to their regular seats. Prompt students to find a new page in their science notebook and title the page “Reflection.” Display </a:t>
            </a:r>
            <a:r>
              <a:rPr b="1" lang="en">
                <a:solidFill>
                  <a:schemeClr val="dk1"/>
                </a:solidFill>
                <a:latin typeface="Cabin"/>
                <a:ea typeface="Cabin"/>
                <a:cs typeface="Cabin"/>
                <a:sym typeface="Cabin"/>
              </a:rPr>
              <a:t>slide F</a:t>
            </a:r>
            <a:r>
              <a:rPr lang="en">
                <a:solidFill>
                  <a:schemeClr val="dk1"/>
                </a:solidFill>
                <a:latin typeface="Cabin"/>
                <a:ea typeface="Cabin"/>
                <a:cs typeface="Cabin"/>
                <a:sym typeface="Cabin"/>
              </a:rPr>
              <a:t>. Give students about 5 minutes to write a personal reflection on their learning based on the following prompts: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was most challenging in this unit?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was most rewarding?</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Think about how you engaged in sensemaking discussions with classmates. How would you want to engage with those experiences the next time around?</a:t>
            </a:r>
            <a:endParaRPr>
              <a:solidFill>
                <a:schemeClr val="dk1"/>
              </a:solidFill>
              <a:latin typeface="Cabin"/>
              <a:ea typeface="Cabin"/>
              <a:cs typeface="Cabin"/>
              <a:sym typeface="Cabin"/>
            </a:endParaRPr>
          </a:p>
          <a:p>
            <a:pPr indent="-298450" lvl="1" marL="9144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would you do the same? </a:t>
            </a:r>
            <a:endParaRPr>
              <a:solidFill>
                <a:schemeClr val="dk1"/>
              </a:solidFill>
              <a:latin typeface="Cabin"/>
              <a:ea typeface="Cabin"/>
              <a:cs typeface="Cabin"/>
              <a:sym typeface="Cabin"/>
            </a:endParaRPr>
          </a:p>
          <a:p>
            <a:pPr indent="-298450" lvl="1" marL="9144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would you do differently?</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 a whole group, ask each student to share part of their reflection. Taking time to reflect upon the process of this unit can allow students to think metacognitively about what works well for them as learners. </a:t>
            </a:r>
            <a:endParaRPr>
              <a:solidFill>
                <a:schemeClr val="dk1"/>
              </a:solidFill>
              <a:latin typeface="Cabin"/>
              <a:ea typeface="Cabin"/>
              <a:cs typeface="Cabin"/>
              <a:sym typeface="Cabin"/>
            </a:endParaRPr>
          </a:p>
        </p:txBody>
      </p:sp>
      <p:sp>
        <p:nvSpPr>
          <p:cNvPr id="168" name="Google Shape;168;p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9" name="Shape 9"/>
        <p:cNvGrpSpPr/>
        <p:nvPr/>
      </p:nvGrpSpPr>
      <p:grpSpPr>
        <a:xfrm>
          <a:off x="0" y="0"/>
          <a:ext cx="0" cy="0"/>
          <a:chOff x="0" y="0"/>
          <a:chExt cx="0" cy="0"/>
        </a:xfrm>
      </p:grpSpPr>
      <p:sp>
        <p:nvSpPr>
          <p:cNvPr id="10" name="Google Shape;10;p3"/>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1" name="Google Shape;11;p3"/>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 name="Google Shape;13;p3"/>
          <p:cNvSpPr txBox="1"/>
          <p:nvPr>
            <p:ph idx="3"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4" name="Google Shape;14;p3"/>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17" name="Google Shape;17;p4"/>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2"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9" name="Google Shape;19;p4"/>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2" name="Google Shape;22;p5"/>
          <p:cNvSpPr txBox="1"/>
          <p:nvPr>
            <p:ph idx="2"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3" name="Google Shape;23;p5"/>
          <p:cNvSpPr txBox="1"/>
          <p:nvPr>
            <p:ph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4" name="Google Shape;24;p5"/>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p:nvPr/>
        </p:nvSpPr>
        <p:spPr>
          <a:xfrm>
            <a:off x="457200" y="548640"/>
            <a:ext cx="8229600" cy="6855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Slide Title</a:t>
            </a:r>
            <a:endParaRPr b="0" i="0" sz="3200" u="none" cap="none" strike="noStrike">
              <a:solidFill>
                <a:srgbClr val="FFFFFF"/>
              </a:solidFill>
              <a:latin typeface="Boogaloo"/>
              <a:ea typeface="Boogaloo"/>
              <a:cs typeface="Boogaloo"/>
              <a:sym typeface="Boogaloo"/>
            </a:endParaRPr>
          </a:p>
        </p:txBody>
      </p:sp>
      <p:sp>
        <p:nvSpPr>
          <p:cNvPr id="27" name="Google Shape;27;p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Slide ID</a:t>
            </a:r>
            <a:endParaRPr b="0" i="0" sz="1800" u="none" cap="none" strike="noStrike">
              <a:solidFill>
                <a:srgbClr val="9A2F3E"/>
              </a:solidFill>
              <a:latin typeface="Boogaloo"/>
              <a:ea typeface="Boogaloo"/>
              <a:cs typeface="Boogaloo"/>
              <a:sym typeface="Boogaloo"/>
            </a:endParaRPr>
          </a:p>
        </p:txBody>
      </p:sp>
      <p:sp>
        <p:nvSpPr>
          <p:cNvPr id="28" name="Google Shape;28;p6"/>
          <p:cNvSpPr/>
          <p:nvPr/>
        </p:nvSpPr>
        <p:spPr>
          <a:xfrm>
            <a:off x="4967825"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Unit ID • Lesson ID</a:t>
            </a:r>
            <a:endParaRPr b="0" i="0" sz="1800" u="none" cap="none" strike="noStrike">
              <a:solidFill>
                <a:srgbClr val="9A2F3E"/>
              </a:solidFill>
              <a:latin typeface="Boogaloo"/>
              <a:ea typeface="Boogaloo"/>
              <a:cs typeface="Boogaloo"/>
              <a:sym typeface="Boogaloo"/>
            </a:endParaRPr>
          </a:p>
        </p:txBody>
      </p:sp>
      <p:sp>
        <p:nvSpPr>
          <p:cNvPr id="29" name="Google Shape;29;p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0" name="Google Shape;30;p6"/>
          <p:cNvSpPr txBox="1"/>
          <p:nvPr>
            <p:ph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1" name="Google Shape;31;p6"/>
          <p:cNvSpPr txBox="1"/>
          <p:nvPr>
            <p:ph idx="2"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4" name="Google Shape;34;p7"/>
          <p:cNvSpPr txBox="1"/>
          <p:nvPr>
            <p:ph idx="1" type="subTitle"/>
          </p:nvPr>
        </p:nvSpPr>
        <p:spPr>
          <a:xfrm>
            <a:off x="45722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7"/>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6" name="Google Shape;36;p7"/>
          <p:cNvSpPr txBox="1"/>
          <p:nvPr>
            <p:ph idx="3"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7" name="Google Shape;37;p7"/>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8" name="Google Shape;38;p7"/>
          <p:cNvSpPr txBox="1"/>
          <p:nvPr>
            <p:ph idx="5" type="body"/>
          </p:nvPr>
        </p:nvSpPr>
        <p:spPr>
          <a:xfrm>
            <a:off x="4568850" y="1676825"/>
            <a:ext cx="4117800" cy="44181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3" name="Google Shape;43;p8"/>
          <p:cNvSpPr txBox="1"/>
          <p:nvPr>
            <p:ph idx="3"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8"/>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8" name="Google Shape;48;p9"/>
          <p:cNvSpPr txBox="1"/>
          <p:nvPr>
            <p:ph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9" name="Google Shape;49;p9"/>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2">
    <p:spTree>
      <p:nvGrpSpPr>
        <p:cNvPr id="52" name="Shape 52"/>
        <p:cNvGrpSpPr/>
        <p:nvPr/>
      </p:nvGrpSpPr>
      <p:grpSpPr>
        <a:xfrm>
          <a:off x="0" y="0"/>
          <a:ext cx="0" cy="0"/>
          <a:chOff x="0" y="0"/>
          <a:chExt cx="0" cy="0"/>
        </a:xfrm>
      </p:grpSpPr>
      <p:sp>
        <p:nvSpPr>
          <p:cNvPr id="53" name="Google Shape;53;p12"/>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256C8D"/>
              </a:buClr>
              <a:buSzPts val="2400"/>
              <a:buFont typeface="Cabin Condensed"/>
              <a:buChar char="●"/>
              <a:defRPr b="0" i="0" sz="2400" u="none" cap="none" strike="noStrike">
                <a:solidFill>
                  <a:srgbClr val="256C8D"/>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54" name="Google Shape;54;p12"/>
          <p:cNvSpPr txBox="1"/>
          <p:nvPr>
            <p:ph idx="1" type="subTitle"/>
          </p:nvPr>
        </p:nvSpPr>
        <p:spPr>
          <a:xfrm>
            <a:off x="45727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12"/>
          <p:cNvSpPr txBox="1"/>
          <p:nvPr>
            <p:ph idx="2" type="title"/>
          </p:nvPr>
        </p:nvSpPr>
        <p:spPr>
          <a:xfrm>
            <a:off x="457200" y="548650"/>
            <a:ext cx="8229600" cy="685800"/>
          </a:xfrm>
          <a:prstGeom prst="rect">
            <a:avLst/>
          </a:prstGeom>
          <a:solidFill>
            <a:srgbClr val="256C8D"/>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6" name="Google Shape;56;p12"/>
          <p:cNvSpPr txBox="1"/>
          <p:nvPr>
            <p:ph idx="3"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7" name="Google Shape;57;p12"/>
          <p:cNvSpPr txBox="1"/>
          <p:nvPr>
            <p:ph idx="4"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
        <p:nvSpPr>
          <p:cNvPr id="58" name="Google Shape;58;p12"/>
          <p:cNvSpPr txBox="1"/>
          <p:nvPr>
            <p:ph idx="5" type="body"/>
          </p:nvPr>
        </p:nvSpPr>
        <p:spPr>
          <a:xfrm>
            <a:off x="4561900" y="1574475"/>
            <a:ext cx="4125000" cy="4662900"/>
          </a:xfrm>
          <a:prstGeom prst="rect">
            <a:avLst/>
          </a:prstGeom>
          <a:solidFill>
            <a:srgbClr val="E2EBED"/>
          </a:solidFill>
          <a:ln cap="flat" cmpd="sng" w="9525">
            <a:solidFill>
              <a:srgbClr val="256C8D"/>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14"/>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5" name="Google Shape;65;p14"/>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6" name="Google Shape;66;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sp>
        <p:nvSpPr>
          <p:cNvPr id="68" name="Google Shape;68;p15"/>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9" name="Google Shape;69;p1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3" name="Google Shape;73;p1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4" name="Shape 74"/>
        <p:cNvGrpSpPr/>
        <p:nvPr/>
      </p:nvGrpSpPr>
      <p:grpSpPr>
        <a:xfrm>
          <a:off x="0" y="0"/>
          <a:ext cx="0" cy="0"/>
          <a:chOff x="0" y="0"/>
          <a:chExt cx="0" cy="0"/>
        </a:xfrm>
      </p:grpSpPr>
      <p:sp>
        <p:nvSpPr>
          <p:cNvPr id="75" name="Google Shape;75;p1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6" name="Google Shape;76;p17"/>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7" name="Google Shape;77;p17"/>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8" name="Google Shape;78;p1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 name="Google Shape;81;p1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2" name="Shape 82"/>
        <p:cNvGrpSpPr/>
        <p:nvPr/>
      </p:nvGrpSpPr>
      <p:grpSpPr>
        <a:xfrm>
          <a:off x="0" y="0"/>
          <a:ext cx="0" cy="0"/>
          <a:chOff x="0" y="0"/>
          <a:chExt cx="0" cy="0"/>
        </a:xfrm>
      </p:grpSpPr>
      <p:sp>
        <p:nvSpPr>
          <p:cNvPr id="83" name="Google Shape;83;p19"/>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4" name="Google Shape;84;p19"/>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5" name="Google Shape;85;p1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6" name="Shape 86"/>
        <p:cNvGrpSpPr/>
        <p:nvPr/>
      </p:nvGrpSpPr>
      <p:grpSpPr>
        <a:xfrm>
          <a:off x="0" y="0"/>
          <a:ext cx="0" cy="0"/>
          <a:chOff x="0" y="0"/>
          <a:chExt cx="0" cy="0"/>
        </a:xfrm>
      </p:grpSpPr>
      <p:sp>
        <p:nvSpPr>
          <p:cNvPr id="87" name="Google Shape;87;p20"/>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8" name="Google Shape;88;p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9" name="Shape 89"/>
        <p:cNvGrpSpPr/>
        <p:nvPr/>
      </p:nvGrpSpPr>
      <p:grpSpPr>
        <a:xfrm>
          <a:off x="0" y="0"/>
          <a:ext cx="0" cy="0"/>
          <a:chOff x="0" y="0"/>
          <a:chExt cx="0" cy="0"/>
        </a:xfrm>
      </p:grpSpPr>
      <p:sp>
        <p:nvSpPr>
          <p:cNvPr id="90" name="Google Shape;90;p2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1"/>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2" name="Google Shape;92;p21"/>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3" name="Google Shape;93;p21"/>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4" name="Google Shape;94;p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5" name="Shape 95"/>
        <p:cNvGrpSpPr/>
        <p:nvPr/>
      </p:nvGrpSpPr>
      <p:grpSpPr>
        <a:xfrm>
          <a:off x="0" y="0"/>
          <a:ext cx="0" cy="0"/>
          <a:chOff x="0" y="0"/>
          <a:chExt cx="0" cy="0"/>
        </a:xfrm>
      </p:grpSpPr>
      <p:sp>
        <p:nvSpPr>
          <p:cNvPr id="96" name="Google Shape;96;p22"/>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97" name="Google Shape;97;p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8" name="Shape 98"/>
        <p:cNvGrpSpPr/>
        <p:nvPr/>
      </p:nvGrpSpPr>
      <p:grpSpPr>
        <a:xfrm>
          <a:off x="0" y="0"/>
          <a:ext cx="0" cy="0"/>
          <a:chOff x="0" y="0"/>
          <a:chExt cx="0" cy="0"/>
        </a:xfrm>
      </p:grpSpPr>
      <p:sp>
        <p:nvSpPr>
          <p:cNvPr id="99" name="Google Shape;99;p23"/>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0" name="Google Shape;100;p23"/>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01" name="Google Shape;101;p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 name="Shape 102"/>
        <p:cNvGrpSpPr/>
        <p:nvPr/>
      </p:nvGrpSpPr>
      <p:grpSpPr>
        <a:xfrm>
          <a:off x="0" y="0"/>
          <a:ext cx="0" cy="0"/>
          <a:chOff x="0" y="0"/>
          <a:chExt cx="0" cy="0"/>
        </a:xfrm>
      </p:grpSpPr>
      <p:sp>
        <p:nvSpPr>
          <p:cNvPr id="103" name="Google Shape;103;p2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89850" y="1536625"/>
            <a:ext cx="83424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9A2F3E"/>
              </a:buClr>
              <a:buSzPts val="3200"/>
              <a:buFont typeface="Boogaloo"/>
              <a:buChar char="○"/>
              <a:defRPr b="0" i="0" sz="3200" u="none" cap="none" strike="noStrike">
                <a:solidFill>
                  <a:srgbClr val="9A2F3E"/>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9A2F3E"/>
              </a:buClr>
              <a:buSzPts val="2400"/>
              <a:buFont typeface="Boogaloo"/>
              <a:buChar char="■"/>
              <a:defRPr b="0" i="0" sz="2400" u="none" cap="none" strike="noStrike">
                <a:solidFill>
                  <a:srgbClr val="9A2F3E"/>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9A2F3E"/>
              </a:buClr>
              <a:buSzPts val="1800"/>
              <a:buFont typeface="Cabin Condensed"/>
              <a:buChar char="○"/>
              <a:defRPr b="0" i="0" sz="1800" u="none" cap="none" strike="noStrike">
                <a:solidFill>
                  <a:srgbClr val="9A2F3E"/>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9" name="Shape 59"/>
        <p:cNvGrpSpPr/>
        <p:nvPr/>
      </p:nvGrpSpPr>
      <p:grpSpPr>
        <a:xfrm>
          <a:off x="0" y="0"/>
          <a:ext cx="0" cy="0"/>
          <a:chOff x="0" y="0"/>
          <a:chExt cx="0" cy="0"/>
        </a:xfrm>
      </p:grpSpPr>
      <p:sp>
        <p:nvSpPr>
          <p:cNvPr id="60" name="Google Shape;60;p1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1" name="Google Shape;61;p1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2" name="Google Shape;62;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7" name="Shape 107"/>
        <p:cNvGrpSpPr/>
        <p:nvPr/>
      </p:nvGrpSpPr>
      <p:grpSpPr>
        <a:xfrm>
          <a:off x="0" y="0"/>
          <a:ext cx="0" cy="0"/>
          <a:chOff x="0" y="0"/>
          <a:chExt cx="0" cy="0"/>
        </a:xfrm>
      </p:grpSpPr>
      <p:sp>
        <p:nvSpPr>
          <p:cNvPr id="108" name="Google Shape;108;p25"/>
          <p:cNvSpPr/>
          <p:nvPr/>
        </p:nvSpPr>
        <p:spPr>
          <a:xfrm>
            <a:off x="457200" y="548640"/>
            <a:ext cx="8229600" cy="6855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Introduce Synthesis Task for Design Pitch</a:t>
            </a:r>
            <a:endParaRPr b="0" i="0" sz="3200" u="none" cap="none" strike="noStrike">
              <a:solidFill>
                <a:srgbClr val="FFFFFF"/>
              </a:solidFill>
              <a:latin typeface="Boogaloo"/>
              <a:ea typeface="Boogaloo"/>
              <a:cs typeface="Boogaloo"/>
              <a:sym typeface="Boogaloo"/>
            </a:endParaRPr>
          </a:p>
        </p:txBody>
      </p:sp>
      <p:sp>
        <p:nvSpPr>
          <p:cNvPr id="109" name="Google Shape;109;p25"/>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A</a:t>
            </a:r>
            <a:endParaRPr b="0" i="0" sz="1800" u="none" cap="none" strike="noStrike">
              <a:solidFill>
                <a:srgbClr val="9A2F3E"/>
              </a:solidFill>
              <a:latin typeface="Boogaloo"/>
              <a:ea typeface="Boogaloo"/>
              <a:cs typeface="Boogaloo"/>
              <a:sym typeface="Boogaloo"/>
            </a:endParaRPr>
          </a:p>
        </p:txBody>
      </p:sp>
      <p:sp>
        <p:nvSpPr>
          <p:cNvPr id="110" name="Google Shape;110;p25"/>
          <p:cNvSpPr/>
          <p:nvPr/>
        </p:nvSpPr>
        <p:spPr>
          <a:xfrm>
            <a:off x="457200" y="1568375"/>
            <a:ext cx="8229600" cy="48909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5"/>
          <p:cNvSpPr txBox="1"/>
          <p:nvPr/>
        </p:nvSpPr>
        <p:spPr>
          <a:xfrm>
            <a:off x="2117100" y="2236888"/>
            <a:ext cx="3012600" cy="49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 sz="3000" u="none" cap="none" strike="noStrike">
                <a:solidFill>
                  <a:srgbClr val="9A2F3E"/>
                </a:solidFill>
                <a:latin typeface="Cabin Condensed"/>
                <a:ea typeface="Cabin Condensed"/>
                <a:cs typeface="Cabin Condensed"/>
                <a:sym typeface="Cabin Condensed"/>
              </a:rPr>
              <a:t>Final Design Pitch </a:t>
            </a:r>
            <a:endParaRPr b="0" i="0" sz="3000" u="none" cap="none" strike="noStrike">
              <a:solidFill>
                <a:srgbClr val="980000"/>
              </a:solidFill>
              <a:latin typeface="Cabin Condensed"/>
              <a:ea typeface="Cabin Condensed"/>
              <a:cs typeface="Cabin Condensed"/>
              <a:sym typeface="Cabin Condensed"/>
            </a:endParaRPr>
          </a:p>
        </p:txBody>
      </p:sp>
      <p:pic>
        <p:nvPicPr>
          <p:cNvPr descr="On your own icon" id="112" name="Google Shape;112;p25"/>
          <p:cNvPicPr preferRelativeResize="0"/>
          <p:nvPr/>
        </p:nvPicPr>
        <p:blipFill rotWithShape="1">
          <a:blip r:embed="rId3">
            <a:alphaModFix/>
          </a:blip>
          <a:srcRect b="0" l="0" r="0" t="0"/>
          <a:stretch/>
        </p:blipFill>
        <p:spPr>
          <a:xfrm>
            <a:off x="917650" y="1945575"/>
            <a:ext cx="841225" cy="991900"/>
          </a:xfrm>
          <a:prstGeom prst="rect">
            <a:avLst/>
          </a:prstGeom>
          <a:noFill/>
          <a:ln>
            <a:noFill/>
          </a:ln>
        </p:spPr>
      </p:pic>
      <p:sp>
        <p:nvSpPr>
          <p:cNvPr id="113" name="Google Shape;113;p25"/>
          <p:cNvSpPr txBox="1"/>
          <p:nvPr/>
        </p:nvSpPr>
        <p:spPr>
          <a:xfrm>
            <a:off x="2049200" y="2937475"/>
            <a:ext cx="5992800" cy="280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After engineers have developed a design per stakeholder requests, done market research, and tested the product, they use all this to develop a design pitch before going into the full development stage. Today you will use everything you have collected as feedback about your design and put together a design pitch. </a:t>
            </a:r>
            <a:endParaRPr b="0" i="0" sz="2400" u="none" cap="none" strike="noStrike">
              <a:solidFill>
                <a:srgbClr val="000000"/>
              </a:solidFill>
              <a:latin typeface="Cabin Condensed"/>
              <a:ea typeface="Cabin Condensed"/>
              <a:cs typeface="Cabin Condensed"/>
              <a:sym typeface="Cabin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7" name="Shape 117"/>
        <p:cNvGrpSpPr/>
        <p:nvPr/>
      </p:nvGrpSpPr>
      <p:grpSpPr>
        <a:xfrm>
          <a:off x="0" y="0"/>
          <a:ext cx="0" cy="0"/>
          <a:chOff x="0" y="0"/>
          <a:chExt cx="0" cy="0"/>
        </a:xfrm>
      </p:grpSpPr>
      <p:sp>
        <p:nvSpPr>
          <p:cNvPr id="118" name="Google Shape;118;p26"/>
          <p:cNvSpPr/>
          <p:nvPr/>
        </p:nvSpPr>
        <p:spPr>
          <a:xfrm>
            <a:off x="457200" y="548640"/>
            <a:ext cx="8229600" cy="6855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Construct Your Design Pitch</a:t>
            </a:r>
            <a:endParaRPr b="0" i="0" sz="3200" u="none" cap="none" strike="noStrike">
              <a:solidFill>
                <a:srgbClr val="FFFFFF"/>
              </a:solidFill>
              <a:latin typeface="Boogaloo"/>
              <a:ea typeface="Boogaloo"/>
              <a:cs typeface="Boogaloo"/>
              <a:sym typeface="Boogaloo"/>
            </a:endParaRPr>
          </a:p>
        </p:txBody>
      </p:sp>
      <p:sp>
        <p:nvSpPr>
          <p:cNvPr id="119" name="Google Shape;119;p2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B</a:t>
            </a:r>
            <a:endParaRPr b="0" i="0" sz="1800" u="none" cap="none" strike="noStrike">
              <a:solidFill>
                <a:srgbClr val="9A2F3E"/>
              </a:solidFill>
              <a:latin typeface="Boogaloo"/>
              <a:ea typeface="Boogaloo"/>
              <a:cs typeface="Boogaloo"/>
              <a:sym typeface="Boogaloo"/>
            </a:endParaRPr>
          </a:p>
        </p:txBody>
      </p:sp>
      <p:sp>
        <p:nvSpPr>
          <p:cNvPr id="120" name="Google Shape;120;p26"/>
          <p:cNvSpPr/>
          <p:nvPr/>
        </p:nvSpPr>
        <p:spPr>
          <a:xfrm>
            <a:off x="457200" y="1354075"/>
            <a:ext cx="8229600" cy="53784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6"/>
          <p:cNvSpPr txBox="1"/>
          <p:nvPr/>
        </p:nvSpPr>
        <p:spPr>
          <a:xfrm>
            <a:off x="1582900" y="1553750"/>
            <a:ext cx="3616800" cy="49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3000"/>
              <a:buFont typeface="Arial"/>
              <a:buNone/>
            </a:pPr>
            <a:r>
              <a:rPr b="1" i="0" lang="en" sz="3000" u="none" cap="none" strike="noStrike">
                <a:solidFill>
                  <a:srgbClr val="9A2F3E"/>
                </a:solidFill>
                <a:latin typeface="Cabin Condensed"/>
                <a:ea typeface="Cabin Condensed"/>
                <a:cs typeface="Cabin Condensed"/>
                <a:sym typeface="Cabin Condensed"/>
              </a:rPr>
              <a:t>Final Design Proposal</a:t>
            </a:r>
            <a:r>
              <a:rPr b="1" i="0" lang="en" sz="2400" u="none" cap="none" strike="noStrike">
                <a:solidFill>
                  <a:srgbClr val="9A2F3E"/>
                </a:solidFill>
                <a:latin typeface="Cabin Condensed"/>
                <a:ea typeface="Cabin Condensed"/>
                <a:cs typeface="Cabin Condensed"/>
                <a:sym typeface="Cabin Condensed"/>
              </a:rPr>
              <a:t> </a:t>
            </a:r>
            <a:endParaRPr b="0" i="0" sz="3000" u="none" cap="none" strike="noStrike">
              <a:solidFill>
                <a:srgbClr val="980000"/>
              </a:solidFill>
              <a:latin typeface="Cabin Condensed"/>
              <a:ea typeface="Cabin Condensed"/>
              <a:cs typeface="Cabin Condensed"/>
              <a:sym typeface="Cabin Condensed"/>
            </a:endParaRPr>
          </a:p>
        </p:txBody>
      </p:sp>
      <p:pic>
        <p:nvPicPr>
          <p:cNvPr descr="On your own icon" id="122" name="Google Shape;122;p26"/>
          <p:cNvPicPr preferRelativeResize="0"/>
          <p:nvPr/>
        </p:nvPicPr>
        <p:blipFill rotWithShape="1">
          <a:blip r:embed="rId3">
            <a:alphaModFix/>
          </a:blip>
          <a:srcRect b="0" l="0" r="0" t="0"/>
          <a:stretch/>
        </p:blipFill>
        <p:spPr>
          <a:xfrm>
            <a:off x="659570" y="1477550"/>
            <a:ext cx="817650" cy="964100"/>
          </a:xfrm>
          <a:prstGeom prst="rect">
            <a:avLst/>
          </a:prstGeom>
          <a:noFill/>
          <a:ln>
            <a:noFill/>
          </a:ln>
        </p:spPr>
      </p:pic>
      <p:sp>
        <p:nvSpPr>
          <p:cNvPr id="123" name="Google Shape;123;p26"/>
          <p:cNvSpPr txBox="1"/>
          <p:nvPr/>
        </p:nvSpPr>
        <p:spPr>
          <a:xfrm>
            <a:off x="811975" y="3219088"/>
            <a:ext cx="1340400" cy="32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Boogaloo"/>
                <a:ea typeface="Boogaloo"/>
                <a:cs typeface="Boogaloo"/>
                <a:sym typeface="Boogaloo"/>
              </a:rPr>
              <a:t>Market research</a:t>
            </a:r>
            <a:endParaRPr b="0" i="0" sz="1800" u="none" cap="none" strike="noStrike">
              <a:solidFill>
                <a:srgbClr val="000000"/>
              </a:solidFill>
              <a:latin typeface="Boogaloo"/>
              <a:ea typeface="Boogaloo"/>
              <a:cs typeface="Boogaloo"/>
              <a:sym typeface="Boogaloo"/>
            </a:endParaRPr>
          </a:p>
        </p:txBody>
      </p:sp>
      <p:sp>
        <p:nvSpPr>
          <p:cNvPr id="124" name="Google Shape;124;p26"/>
          <p:cNvSpPr txBox="1"/>
          <p:nvPr/>
        </p:nvSpPr>
        <p:spPr>
          <a:xfrm>
            <a:off x="4249025" y="1967750"/>
            <a:ext cx="2089800" cy="6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rgbClr val="000000"/>
                </a:solidFill>
                <a:latin typeface="Boogaloo"/>
                <a:ea typeface="Boogaloo"/>
                <a:cs typeface="Boogaloo"/>
                <a:sym typeface="Boogaloo"/>
              </a:rPr>
              <a:t>Use all the work you have done and resources you have to put together a written design pitch, including </a:t>
            </a:r>
            <a:endParaRPr b="0" i="0" sz="2100" u="none" cap="none" strike="noStrike">
              <a:solidFill>
                <a:srgbClr val="000000"/>
              </a:solidFill>
              <a:latin typeface="Boogaloo"/>
              <a:ea typeface="Boogaloo"/>
              <a:cs typeface="Boogaloo"/>
              <a:sym typeface="Boogaloo"/>
            </a:endParaRPr>
          </a:p>
          <a:p>
            <a:pPr indent="-228600" lvl="0" marL="228600" marR="0" rtl="0" algn="l">
              <a:lnSpc>
                <a:spcPct val="100000"/>
              </a:lnSpc>
              <a:spcBef>
                <a:spcPts val="0"/>
              </a:spcBef>
              <a:spcAft>
                <a:spcPts val="0"/>
              </a:spcAft>
              <a:buClr>
                <a:srgbClr val="000000"/>
              </a:buClr>
              <a:buSzPts val="2100"/>
              <a:buFont typeface="Boogaloo"/>
              <a:buChar char="●"/>
            </a:pPr>
            <a:r>
              <a:rPr b="0" i="0" lang="en" sz="2100" u="none" cap="none" strike="noStrike">
                <a:solidFill>
                  <a:srgbClr val="000000"/>
                </a:solidFill>
                <a:latin typeface="Boogaloo"/>
                <a:ea typeface="Boogaloo"/>
                <a:cs typeface="Boogaloo"/>
                <a:sym typeface="Boogaloo"/>
              </a:rPr>
              <a:t>the purpose of your design (What it will protect?),</a:t>
            </a:r>
            <a:endParaRPr b="0" i="0" sz="2100" u="none" cap="none" strike="noStrike">
              <a:solidFill>
                <a:srgbClr val="000000"/>
              </a:solidFill>
              <a:latin typeface="Boogaloo"/>
              <a:ea typeface="Boogaloo"/>
              <a:cs typeface="Boogaloo"/>
              <a:sym typeface="Boogaloo"/>
            </a:endParaRPr>
          </a:p>
          <a:p>
            <a:pPr indent="-228600" lvl="0" marL="228600" marR="0" rtl="0" algn="l">
              <a:lnSpc>
                <a:spcPct val="100000"/>
              </a:lnSpc>
              <a:spcBef>
                <a:spcPts val="0"/>
              </a:spcBef>
              <a:spcAft>
                <a:spcPts val="0"/>
              </a:spcAft>
              <a:buClr>
                <a:srgbClr val="000000"/>
              </a:buClr>
              <a:buSzPts val="2100"/>
              <a:buFont typeface="Boogaloo"/>
              <a:buChar char="●"/>
            </a:pPr>
            <a:r>
              <a:rPr b="0" i="0" lang="en" sz="2100" u="none" cap="none" strike="noStrike">
                <a:solidFill>
                  <a:srgbClr val="000000"/>
                </a:solidFill>
                <a:latin typeface="Boogaloo"/>
                <a:ea typeface="Boogaloo"/>
                <a:cs typeface="Boogaloo"/>
                <a:sym typeface="Boogaloo"/>
              </a:rPr>
              <a:t>the materials it will be made of and why, and</a:t>
            </a:r>
            <a:endParaRPr b="0" i="0" sz="2100" u="none" cap="none" strike="noStrike">
              <a:solidFill>
                <a:srgbClr val="000000"/>
              </a:solidFill>
              <a:latin typeface="Boogaloo"/>
              <a:ea typeface="Boogaloo"/>
              <a:cs typeface="Boogaloo"/>
              <a:sym typeface="Boogaloo"/>
            </a:endParaRPr>
          </a:p>
          <a:p>
            <a:pPr indent="-228600" lvl="0" marL="228600" marR="0" rtl="0" algn="l">
              <a:lnSpc>
                <a:spcPct val="100000"/>
              </a:lnSpc>
              <a:spcBef>
                <a:spcPts val="0"/>
              </a:spcBef>
              <a:spcAft>
                <a:spcPts val="0"/>
              </a:spcAft>
              <a:buClr>
                <a:srgbClr val="000000"/>
              </a:buClr>
              <a:buSzPts val="2100"/>
              <a:buFont typeface="Boogaloo"/>
              <a:buChar char="●"/>
            </a:pPr>
            <a:r>
              <a:rPr b="0" i="0" lang="en" sz="2100" u="none" cap="none" strike="noStrike">
                <a:solidFill>
                  <a:srgbClr val="000000"/>
                </a:solidFill>
                <a:latin typeface="Boogaloo"/>
                <a:ea typeface="Boogaloo"/>
                <a:cs typeface="Boogaloo"/>
                <a:sym typeface="Boogaloo"/>
              </a:rPr>
              <a:t>the trade-offs you made and why.</a:t>
            </a:r>
            <a:endParaRPr b="0" i="0" sz="2100" u="none" cap="none" strike="noStrike">
              <a:solidFill>
                <a:srgbClr val="000000"/>
              </a:solidFill>
              <a:latin typeface="Boogaloo"/>
              <a:ea typeface="Boogaloo"/>
              <a:cs typeface="Boogaloo"/>
              <a:sym typeface="Boogaloo"/>
            </a:endParaRPr>
          </a:p>
        </p:txBody>
      </p:sp>
      <p:sp>
        <p:nvSpPr>
          <p:cNvPr id="125" name="Google Shape;125;p26"/>
          <p:cNvSpPr txBox="1"/>
          <p:nvPr/>
        </p:nvSpPr>
        <p:spPr>
          <a:xfrm>
            <a:off x="509626" y="4775025"/>
            <a:ext cx="2286900" cy="32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Boogaloo"/>
                <a:ea typeface="Boogaloo"/>
                <a:cs typeface="Boogaloo"/>
                <a:sym typeface="Boogaloo"/>
              </a:rPr>
              <a:t>Redesign and trade-offs</a:t>
            </a:r>
            <a:endParaRPr b="0" i="0" sz="1800" u="none" cap="none" strike="noStrike">
              <a:solidFill>
                <a:srgbClr val="000000"/>
              </a:solidFill>
              <a:latin typeface="Boogaloo"/>
              <a:ea typeface="Boogaloo"/>
              <a:cs typeface="Boogaloo"/>
              <a:sym typeface="Boogaloo"/>
            </a:endParaRPr>
          </a:p>
        </p:txBody>
      </p:sp>
      <p:pic>
        <p:nvPicPr>
          <p:cNvPr descr="Assessment icon" id="126" name="Google Shape;126;p26"/>
          <p:cNvPicPr preferRelativeResize="0"/>
          <p:nvPr/>
        </p:nvPicPr>
        <p:blipFill rotWithShape="1">
          <a:blip r:embed="rId4">
            <a:alphaModFix/>
          </a:blip>
          <a:srcRect b="0" l="0" r="0" t="0"/>
          <a:stretch/>
        </p:blipFill>
        <p:spPr>
          <a:xfrm>
            <a:off x="8555900" y="24380"/>
            <a:ext cx="553300" cy="499875"/>
          </a:xfrm>
          <a:prstGeom prst="rect">
            <a:avLst/>
          </a:prstGeom>
          <a:noFill/>
          <a:ln>
            <a:noFill/>
          </a:ln>
        </p:spPr>
      </p:pic>
      <p:pic>
        <p:nvPicPr>
          <p:cNvPr descr="Screenshot of Final Design Proposal handout. " id="127" name="Google Shape;127;p26"/>
          <p:cNvPicPr preferRelativeResize="0"/>
          <p:nvPr/>
        </p:nvPicPr>
        <p:blipFill rotWithShape="1">
          <a:blip r:embed="rId5">
            <a:alphaModFix/>
          </a:blip>
          <a:srcRect b="0" l="0" r="0" t="0"/>
          <a:stretch/>
        </p:blipFill>
        <p:spPr>
          <a:xfrm>
            <a:off x="6277100" y="2653250"/>
            <a:ext cx="2089800" cy="2299650"/>
          </a:xfrm>
          <a:prstGeom prst="rect">
            <a:avLst/>
          </a:prstGeom>
          <a:noFill/>
          <a:ln>
            <a:noFill/>
          </a:ln>
        </p:spPr>
      </p:pic>
      <p:pic>
        <p:nvPicPr>
          <p:cNvPr descr="Screenshot of handout titled Part 2: Home Learning with instructions for steps 3 to 5, which detail reading a script to a stakeholder, gathering feedback on design trade-offs, and requesting a product review. It includes areas for notes and improvement ideas." id="128" name="Google Shape;128;p26"/>
          <p:cNvPicPr preferRelativeResize="0"/>
          <p:nvPr/>
        </p:nvPicPr>
        <p:blipFill rotWithShape="1">
          <a:blip r:embed="rId6">
            <a:alphaModFix/>
          </a:blip>
          <a:srcRect b="0" l="0" r="0" t="0"/>
          <a:stretch/>
        </p:blipFill>
        <p:spPr>
          <a:xfrm>
            <a:off x="1796725" y="2261863"/>
            <a:ext cx="2286900" cy="2295246"/>
          </a:xfrm>
          <a:prstGeom prst="rect">
            <a:avLst/>
          </a:prstGeom>
          <a:noFill/>
          <a:ln>
            <a:noFill/>
          </a:ln>
        </p:spPr>
      </p:pic>
      <p:pic>
        <p:nvPicPr>
          <p:cNvPr descr="Screenshot of a table with three columns titled: Change I have made to my protective device, The scientific reasoning behind the change I have made, and Effects of that change on the performance or structure of the device (positives or negatives). There are four empty rows." id="129" name="Google Shape;129;p26"/>
          <p:cNvPicPr preferRelativeResize="0"/>
          <p:nvPr/>
        </p:nvPicPr>
        <p:blipFill rotWithShape="1">
          <a:blip r:embed="rId7">
            <a:alphaModFix/>
          </a:blip>
          <a:srcRect b="0" l="0" r="0" t="0"/>
          <a:stretch/>
        </p:blipFill>
        <p:spPr>
          <a:xfrm>
            <a:off x="811975" y="5210576"/>
            <a:ext cx="2902774" cy="1358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3" name="Shape 133"/>
        <p:cNvGrpSpPr/>
        <p:nvPr/>
      </p:nvGrpSpPr>
      <p:grpSpPr>
        <a:xfrm>
          <a:off x="0" y="0"/>
          <a:ext cx="0" cy="0"/>
          <a:chOff x="0" y="0"/>
          <a:chExt cx="0" cy="0"/>
        </a:xfrm>
      </p:grpSpPr>
      <p:sp>
        <p:nvSpPr>
          <p:cNvPr id="134" name="Google Shape;134;p27"/>
          <p:cNvSpPr/>
          <p:nvPr/>
        </p:nvSpPr>
        <p:spPr>
          <a:xfrm>
            <a:off x="457200" y="548640"/>
            <a:ext cx="8229600" cy="6855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Part 1 Transfer Task</a:t>
            </a:r>
            <a:endParaRPr b="0" i="0" sz="3200" u="none" cap="none" strike="noStrike">
              <a:solidFill>
                <a:srgbClr val="FFFFFF"/>
              </a:solidFill>
              <a:latin typeface="Boogaloo"/>
              <a:ea typeface="Boogaloo"/>
              <a:cs typeface="Boogaloo"/>
              <a:sym typeface="Boogaloo"/>
            </a:endParaRPr>
          </a:p>
        </p:txBody>
      </p:sp>
      <p:sp>
        <p:nvSpPr>
          <p:cNvPr id="135" name="Google Shape;135;p2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C</a:t>
            </a:r>
            <a:endParaRPr b="0" i="0" sz="1800" u="none" cap="none" strike="noStrike">
              <a:solidFill>
                <a:srgbClr val="9A2F3E"/>
              </a:solidFill>
              <a:latin typeface="Boogaloo"/>
              <a:ea typeface="Boogaloo"/>
              <a:cs typeface="Boogaloo"/>
              <a:sym typeface="Boogaloo"/>
            </a:endParaRPr>
          </a:p>
        </p:txBody>
      </p:sp>
      <p:sp>
        <p:nvSpPr>
          <p:cNvPr id="136" name="Google Shape;136;p27"/>
          <p:cNvSpPr/>
          <p:nvPr/>
        </p:nvSpPr>
        <p:spPr>
          <a:xfrm>
            <a:off x="457200" y="1441750"/>
            <a:ext cx="8229600" cy="53343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On yoru own icon" id="137" name="Google Shape;137;p27"/>
          <p:cNvPicPr preferRelativeResize="0"/>
          <p:nvPr/>
        </p:nvPicPr>
        <p:blipFill rotWithShape="1">
          <a:blip r:embed="rId3">
            <a:alphaModFix/>
          </a:blip>
          <a:srcRect b="0" l="0" r="0" t="0"/>
          <a:stretch/>
        </p:blipFill>
        <p:spPr>
          <a:xfrm>
            <a:off x="836347" y="1663049"/>
            <a:ext cx="897203" cy="1057900"/>
          </a:xfrm>
          <a:prstGeom prst="rect">
            <a:avLst/>
          </a:prstGeom>
          <a:noFill/>
          <a:ln>
            <a:noFill/>
          </a:ln>
        </p:spPr>
      </p:pic>
      <p:sp>
        <p:nvSpPr>
          <p:cNvPr id="138" name="Google Shape;138;p27"/>
          <p:cNvSpPr txBox="1"/>
          <p:nvPr/>
        </p:nvSpPr>
        <p:spPr>
          <a:xfrm>
            <a:off x="1886300" y="1574563"/>
            <a:ext cx="5901600" cy="89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There are two parts to this transfer task. You will work on part 1 today and will do part 2 next time.</a:t>
            </a:r>
            <a:endParaRPr b="0" i="0" sz="2400" u="none" cap="none" strike="noStrike">
              <a:solidFill>
                <a:srgbClr val="000000"/>
              </a:solidFill>
              <a:latin typeface="Cabin Condensed"/>
              <a:ea typeface="Cabin Condensed"/>
              <a:cs typeface="Cabin Condensed"/>
              <a:sym typeface="Cabin Condensed"/>
            </a:endParaRPr>
          </a:p>
        </p:txBody>
      </p:sp>
      <p:sp>
        <p:nvSpPr>
          <p:cNvPr id="139" name="Google Shape;139;p27"/>
          <p:cNvSpPr txBox="1"/>
          <p:nvPr/>
        </p:nvSpPr>
        <p:spPr>
          <a:xfrm>
            <a:off x="983825" y="3186075"/>
            <a:ext cx="2655000" cy="139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9A2F3E"/>
                </a:solidFill>
                <a:latin typeface="Cabin Condensed"/>
                <a:ea typeface="Cabin Condensed"/>
                <a:cs typeface="Cabin Condensed"/>
                <a:sym typeface="Cabin Condensed"/>
              </a:rPr>
              <a:t>Let’s read through the first part together. Then we will watch a short video clip to provide you context for the device you will be evaluating.  </a:t>
            </a:r>
            <a:endParaRPr b="1" i="0" sz="2400" u="none" cap="none" strike="noStrike">
              <a:solidFill>
                <a:srgbClr val="9A2F3E"/>
              </a:solidFill>
              <a:latin typeface="Cabin Condensed"/>
              <a:ea typeface="Cabin Condensed"/>
              <a:cs typeface="Cabin Condensed"/>
              <a:sym typeface="Cabin Condensed"/>
            </a:endParaRPr>
          </a:p>
        </p:txBody>
      </p:sp>
      <p:pic>
        <p:nvPicPr>
          <p:cNvPr descr="Assessment icon" id="140" name="Google Shape;140;p27"/>
          <p:cNvPicPr preferRelativeResize="0"/>
          <p:nvPr/>
        </p:nvPicPr>
        <p:blipFill rotWithShape="1">
          <a:blip r:embed="rId4">
            <a:alphaModFix/>
          </a:blip>
          <a:srcRect b="0" l="0" r="0" t="0"/>
          <a:stretch/>
        </p:blipFill>
        <p:spPr>
          <a:xfrm>
            <a:off x="8555900" y="24380"/>
            <a:ext cx="553300" cy="499875"/>
          </a:xfrm>
          <a:prstGeom prst="rect">
            <a:avLst/>
          </a:prstGeom>
          <a:noFill/>
          <a:ln>
            <a:noFill/>
          </a:ln>
        </p:spPr>
      </p:pic>
      <p:pic>
        <p:nvPicPr>
          <p:cNvPr descr="Screenshot of the assessment with Part 1: Cheerleading Headgear Assessment reviews the need for protective headgear in cheerleading. It includes text on head injuries and illustrations of three headgear designs labeled 1, 2, and 3 to evaluate their effectiveness." id="141" name="Google Shape;141;p27"/>
          <p:cNvPicPr preferRelativeResize="0"/>
          <p:nvPr/>
        </p:nvPicPr>
        <p:blipFill rotWithShape="1">
          <a:blip r:embed="rId5">
            <a:alphaModFix/>
          </a:blip>
          <a:srcRect b="0" l="0" r="0" t="0"/>
          <a:stretch/>
        </p:blipFill>
        <p:spPr>
          <a:xfrm>
            <a:off x="4406575" y="2642162"/>
            <a:ext cx="2927725" cy="385841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5" name="Shape 145"/>
        <p:cNvGrpSpPr/>
        <p:nvPr/>
      </p:nvGrpSpPr>
      <p:grpSpPr>
        <a:xfrm>
          <a:off x="0" y="0"/>
          <a:ext cx="0" cy="0"/>
          <a:chOff x="0" y="0"/>
          <a:chExt cx="0" cy="0"/>
        </a:xfrm>
      </p:grpSpPr>
      <p:sp>
        <p:nvSpPr>
          <p:cNvPr id="146" name="Google Shape;146;p28"/>
          <p:cNvSpPr/>
          <p:nvPr/>
        </p:nvSpPr>
        <p:spPr>
          <a:xfrm>
            <a:off x="457200" y="548640"/>
            <a:ext cx="8229600" cy="6855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Part 2 Transfer Task</a:t>
            </a:r>
            <a:endParaRPr b="0" i="0" sz="3200" u="none" cap="none" strike="noStrike">
              <a:solidFill>
                <a:srgbClr val="FFFFFF"/>
              </a:solidFill>
              <a:latin typeface="Boogaloo"/>
              <a:ea typeface="Boogaloo"/>
              <a:cs typeface="Boogaloo"/>
              <a:sym typeface="Boogaloo"/>
            </a:endParaRPr>
          </a:p>
        </p:txBody>
      </p:sp>
      <p:sp>
        <p:nvSpPr>
          <p:cNvPr id="147" name="Google Shape;147;p2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D</a:t>
            </a:r>
            <a:endParaRPr b="0" i="0" sz="1800" u="none" cap="none" strike="noStrike">
              <a:solidFill>
                <a:srgbClr val="9A2F3E"/>
              </a:solidFill>
              <a:latin typeface="Boogaloo"/>
              <a:ea typeface="Boogaloo"/>
              <a:cs typeface="Boogaloo"/>
              <a:sym typeface="Boogaloo"/>
            </a:endParaRPr>
          </a:p>
        </p:txBody>
      </p:sp>
      <p:sp>
        <p:nvSpPr>
          <p:cNvPr id="148" name="Google Shape;148;p28"/>
          <p:cNvSpPr/>
          <p:nvPr/>
        </p:nvSpPr>
        <p:spPr>
          <a:xfrm>
            <a:off x="457200" y="1451475"/>
            <a:ext cx="8229600" cy="53244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On your own icon" id="149" name="Google Shape;149;p28"/>
          <p:cNvPicPr preferRelativeResize="0"/>
          <p:nvPr/>
        </p:nvPicPr>
        <p:blipFill rotWithShape="1">
          <a:blip r:embed="rId3">
            <a:alphaModFix/>
          </a:blip>
          <a:srcRect b="0" l="0" r="0" t="0"/>
          <a:stretch/>
        </p:blipFill>
        <p:spPr>
          <a:xfrm>
            <a:off x="861425" y="1616424"/>
            <a:ext cx="872125" cy="1028325"/>
          </a:xfrm>
          <a:prstGeom prst="rect">
            <a:avLst/>
          </a:prstGeom>
          <a:noFill/>
          <a:ln>
            <a:noFill/>
          </a:ln>
        </p:spPr>
      </p:pic>
      <p:sp>
        <p:nvSpPr>
          <p:cNvPr id="150" name="Google Shape;150;p28"/>
          <p:cNvSpPr txBox="1"/>
          <p:nvPr/>
        </p:nvSpPr>
        <p:spPr>
          <a:xfrm>
            <a:off x="2017600" y="1614251"/>
            <a:ext cx="5901600" cy="89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Today you will work on part 2 of the transfer task for the first part of class. </a:t>
            </a:r>
            <a:endParaRPr b="0" i="0" sz="2400" u="none" cap="none" strike="noStrike">
              <a:solidFill>
                <a:srgbClr val="000000"/>
              </a:solidFill>
              <a:latin typeface="Cabin Condensed"/>
              <a:ea typeface="Cabin Condensed"/>
              <a:cs typeface="Cabin Condensed"/>
              <a:sym typeface="Cabin Condensed"/>
            </a:endParaRPr>
          </a:p>
        </p:txBody>
      </p:sp>
      <p:pic>
        <p:nvPicPr>
          <p:cNvPr descr="Assessment icon" id="151" name="Google Shape;151;p28"/>
          <p:cNvPicPr preferRelativeResize="0"/>
          <p:nvPr/>
        </p:nvPicPr>
        <p:blipFill rotWithShape="1">
          <a:blip r:embed="rId4">
            <a:alphaModFix/>
          </a:blip>
          <a:srcRect b="0" l="0" r="0" t="0"/>
          <a:stretch/>
        </p:blipFill>
        <p:spPr>
          <a:xfrm>
            <a:off x="8555900" y="24380"/>
            <a:ext cx="553300" cy="499875"/>
          </a:xfrm>
          <a:prstGeom prst="rect">
            <a:avLst/>
          </a:prstGeom>
          <a:noFill/>
          <a:ln>
            <a:noFill/>
          </a:ln>
        </p:spPr>
      </p:pic>
      <p:pic>
        <p:nvPicPr>
          <p:cNvPr descr="Screenshot of Part 2 of the assessment. Three mannequin heads display cheerleading headgear designs. Design #1 shows a padded helmet, Design #2 features a black headband, and Design #3 displays a red headband. Text details an assignment on designing cheerleading headgear." id="152" name="Google Shape;152;p28"/>
          <p:cNvPicPr preferRelativeResize="0"/>
          <p:nvPr/>
        </p:nvPicPr>
        <p:blipFill rotWithShape="1">
          <a:blip r:embed="rId5">
            <a:alphaModFix/>
          </a:blip>
          <a:srcRect b="0" l="0" r="0" t="0"/>
          <a:stretch/>
        </p:blipFill>
        <p:spPr>
          <a:xfrm>
            <a:off x="3009098" y="2504650"/>
            <a:ext cx="4044902" cy="4142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6" name="Shape 156"/>
        <p:cNvGrpSpPr/>
        <p:nvPr/>
      </p:nvGrpSpPr>
      <p:grpSpPr>
        <a:xfrm>
          <a:off x="0" y="0"/>
          <a:ext cx="0" cy="0"/>
          <a:chOff x="0" y="0"/>
          <a:chExt cx="0" cy="0"/>
        </a:xfrm>
      </p:grpSpPr>
      <p:sp>
        <p:nvSpPr>
          <p:cNvPr id="157" name="Google Shape;157;p29"/>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Revisit Our Driving Question Board</a:t>
            </a:r>
            <a:endParaRPr b="0" i="0" sz="3200" u="none" cap="none" strike="noStrike">
              <a:solidFill>
                <a:srgbClr val="FFFFFF"/>
              </a:solidFill>
              <a:latin typeface="Boogaloo"/>
              <a:ea typeface="Boogaloo"/>
              <a:cs typeface="Boogaloo"/>
              <a:sym typeface="Boogaloo"/>
            </a:endParaRPr>
          </a:p>
        </p:txBody>
      </p:sp>
      <p:sp>
        <p:nvSpPr>
          <p:cNvPr id="158" name="Google Shape;158;p29"/>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E</a:t>
            </a:r>
            <a:endParaRPr b="0" i="0" sz="1800" u="none" cap="none" strike="noStrike">
              <a:solidFill>
                <a:srgbClr val="9A2F3E"/>
              </a:solidFill>
              <a:latin typeface="Boogaloo"/>
              <a:ea typeface="Boogaloo"/>
              <a:cs typeface="Boogaloo"/>
              <a:sym typeface="Boogaloo"/>
            </a:endParaRPr>
          </a:p>
        </p:txBody>
      </p:sp>
      <p:sp>
        <p:nvSpPr>
          <p:cNvPr id="159" name="Google Shape;159;p29"/>
          <p:cNvSpPr/>
          <p:nvPr/>
        </p:nvSpPr>
        <p:spPr>
          <a:xfrm>
            <a:off x="457200" y="1524000"/>
            <a:ext cx="8229600" cy="50679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9"/>
          <p:cNvSpPr txBox="1"/>
          <p:nvPr/>
        </p:nvSpPr>
        <p:spPr>
          <a:xfrm>
            <a:off x="2312300" y="1953800"/>
            <a:ext cx="4023300" cy="1775700"/>
          </a:xfrm>
          <a:prstGeom prst="rect">
            <a:avLst/>
          </a:prstGeom>
          <a:noFill/>
          <a:ln>
            <a:noFill/>
          </a:ln>
        </p:spPr>
        <p:txBody>
          <a:bodyPr anchorCtr="0" anchor="t" bIns="0" lIns="0" spcFirstLastPara="1" rIns="0" wrap="square" tIns="0">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Which questions have we made the most progress on?</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have we figured out? </a:t>
            </a:r>
            <a:endParaRPr b="0" i="0" sz="2400" u="none" cap="none" strike="noStrike">
              <a:solidFill>
                <a:srgbClr val="9A2F3E"/>
              </a:solidFill>
              <a:latin typeface="Cabin Condensed"/>
              <a:ea typeface="Cabin Condensed"/>
              <a:cs typeface="Cabin Condensed"/>
              <a:sym typeface="Cabin Condensed"/>
            </a:endParaRPr>
          </a:p>
          <a:p>
            <a:pPr indent="0" lvl="0" marL="457200" marR="0" rtl="0" algn="l">
              <a:lnSpc>
                <a:spcPct val="100000"/>
              </a:lnSpc>
              <a:spcBef>
                <a:spcPts val="1000"/>
              </a:spcBef>
              <a:spcAft>
                <a:spcPts val="0"/>
              </a:spcAft>
              <a:buClr>
                <a:srgbClr val="000000"/>
              </a:buClr>
              <a:buSzPts val="3000"/>
              <a:buFont typeface="Arial"/>
              <a:buNone/>
            </a:pPr>
            <a:r>
              <a:t/>
            </a:r>
            <a:endParaRPr b="0" i="0" sz="3000" u="none" cap="none" strike="noStrike">
              <a:solidFill>
                <a:srgbClr val="256C8D"/>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256C8D"/>
              </a:solidFill>
              <a:latin typeface="Cabin Condensed"/>
              <a:ea typeface="Cabin Condensed"/>
              <a:cs typeface="Cabin Condensed"/>
              <a:sym typeface="Cabin Condensed"/>
            </a:endParaRPr>
          </a:p>
        </p:txBody>
      </p:sp>
      <p:pic>
        <p:nvPicPr>
          <p:cNvPr descr="Scientists circle icon" id="161" name="Google Shape;161;p29"/>
          <p:cNvPicPr preferRelativeResize="0"/>
          <p:nvPr/>
        </p:nvPicPr>
        <p:blipFill rotWithShape="1">
          <a:blip r:embed="rId3">
            <a:alphaModFix/>
          </a:blip>
          <a:srcRect b="0" l="0" r="0" t="0"/>
          <a:stretch/>
        </p:blipFill>
        <p:spPr>
          <a:xfrm>
            <a:off x="934627" y="1948275"/>
            <a:ext cx="970454" cy="1041800"/>
          </a:xfrm>
          <a:prstGeom prst="rect">
            <a:avLst/>
          </a:prstGeom>
          <a:noFill/>
          <a:ln>
            <a:noFill/>
          </a:ln>
        </p:spPr>
      </p:pic>
      <p:sp>
        <p:nvSpPr>
          <p:cNvPr id="162" name="Google Shape;162;p29"/>
          <p:cNvSpPr txBox="1"/>
          <p:nvPr/>
        </p:nvSpPr>
        <p:spPr>
          <a:xfrm>
            <a:off x="652800" y="3703900"/>
            <a:ext cx="7957800" cy="210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000000"/>
                </a:solidFill>
                <a:latin typeface="Boogaloo"/>
                <a:ea typeface="Boogaloo"/>
                <a:cs typeface="Boogaloo"/>
                <a:sym typeface="Boogaloo"/>
              </a:rPr>
              <a:t>        </a:t>
            </a:r>
            <a:r>
              <a:rPr b="0" i="0" lang="en" sz="2300" u="none" cap="none" strike="noStrike">
                <a:solidFill>
                  <a:srgbClr val="000000"/>
                </a:solidFill>
                <a:latin typeface="Boogaloo"/>
                <a:ea typeface="Boogaloo"/>
                <a:cs typeface="Boogaloo"/>
                <a:sym typeface="Boogaloo"/>
              </a:rPr>
              <a:t>Place a green index tab flag on any questions you feel you could fully answer. It is OK if there are other green sticky dots there too.</a:t>
            </a:r>
            <a:endParaRPr b="0" i="0" sz="2300" u="none" cap="none" strike="noStrike">
              <a:solidFill>
                <a:srgbClr val="000000"/>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rgbClr val="000000"/>
                </a:solidFill>
                <a:latin typeface="Boogaloo"/>
                <a:ea typeface="Boogaloo"/>
                <a:cs typeface="Boogaloo"/>
                <a:sym typeface="Boogaloo"/>
              </a:rPr>
              <a:t>        Use a yellow i</a:t>
            </a:r>
            <a:r>
              <a:rPr b="0" i="0" lang="en" sz="2300" u="none" cap="none" strike="noStrike">
                <a:solidFill>
                  <a:schemeClr val="dk1"/>
                </a:solidFill>
                <a:latin typeface="Boogaloo"/>
                <a:ea typeface="Boogaloo"/>
                <a:cs typeface="Boogaloo"/>
                <a:sym typeface="Boogaloo"/>
              </a:rPr>
              <a:t>ndex tab flag </a:t>
            </a:r>
            <a:r>
              <a:rPr b="0" i="0" lang="en" sz="2300" u="none" cap="none" strike="noStrike">
                <a:solidFill>
                  <a:srgbClr val="000000"/>
                </a:solidFill>
                <a:latin typeface="Boogaloo"/>
                <a:ea typeface="Boogaloo"/>
                <a:cs typeface="Boogaloo"/>
                <a:sym typeface="Boogaloo"/>
              </a:rPr>
              <a:t>for any questions you can partially answer. </a:t>
            </a:r>
            <a:endParaRPr b="0" i="0" sz="2300" u="none" cap="none" strike="noStrike">
              <a:solidFill>
                <a:srgbClr val="000000"/>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rgbClr val="000000"/>
                </a:solidFill>
                <a:latin typeface="Boogaloo"/>
                <a:ea typeface="Boogaloo"/>
                <a:cs typeface="Boogaloo"/>
                <a:sym typeface="Boogaloo"/>
              </a:rPr>
              <a:t>If there are any questions you feel you can’t answer at all, leave them without any sticky dots. </a:t>
            </a:r>
            <a:endParaRPr b="0" i="0" sz="2300" u="none" cap="none" strike="noStrike">
              <a:solidFill>
                <a:srgbClr val="000000"/>
              </a:solidFill>
              <a:latin typeface="Boogaloo"/>
              <a:ea typeface="Boogaloo"/>
              <a:cs typeface="Boogaloo"/>
              <a:sym typeface="Boogaloo"/>
            </a:endParaRPr>
          </a:p>
        </p:txBody>
      </p:sp>
      <p:sp>
        <p:nvSpPr>
          <p:cNvPr id="163" name="Google Shape;163;p29"/>
          <p:cNvSpPr/>
          <p:nvPr/>
        </p:nvSpPr>
        <p:spPr>
          <a:xfrm rot="-5400000">
            <a:off x="692350" y="3583550"/>
            <a:ext cx="354725" cy="685800"/>
          </a:xfrm>
          <a:prstGeom prst="flowChartOffpageConnector">
            <a:avLst/>
          </a:pr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9"/>
          <p:cNvSpPr/>
          <p:nvPr/>
        </p:nvSpPr>
        <p:spPr>
          <a:xfrm rot="-5400000">
            <a:off x="692350" y="4697300"/>
            <a:ext cx="354725" cy="685800"/>
          </a:xfrm>
          <a:prstGeom prst="flowChartOffpageConnector">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ssessment icon" id="165" name="Google Shape;165;p29"/>
          <p:cNvPicPr preferRelativeResize="0"/>
          <p:nvPr/>
        </p:nvPicPr>
        <p:blipFill rotWithShape="1">
          <a:blip r:embed="rId4">
            <a:alphaModFix/>
          </a:blip>
          <a:srcRect b="0" l="0" r="0" t="0"/>
          <a:stretch/>
        </p:blipFill>
        <p:spPr>
          <a:xfrm>
            <a:off x="8555900" y="24380"/>
            <a:ext cx="553300" cy="499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69" name="Shape 169"/>
        <p:cNvGrpSpPr/>
        <p:nvPr/>
      </p:nvGrpSpPr>
      <p:grpSpPr>
        <a:xfrm>
          <a:off x="0" y="0"/>
          <a:ext cx="0" cy="0"/>
          <a:chOff x="0" y="0"/>
          <a:chExt cx="0" cy="0"/>
        </a:xfrm>
      </p:grpSpPr>
      <p:sp>
        <p:nvSpPr>
          <p:cNvPr id="170" name="Google Shape;170;p30"/>
          <p:cNvSpPr/>
          <p:nvPr/>
        </p:nvSpPr>
        <p:spPr>
          <a:xfrm>
            <a:off x="457200" y="1583175"/>
            <a:ext cx="8229600" cy="4740300"/>
          </a:xfrm>
          <a:prstGeom prst="rect">
            <a:avLst/>
          </a:prstGeom>
          <a:solidFill>
            <a:srgbClr val="FFFFF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0"/>
          <p:cNvSpPr/>
          <p:nvPr/>
        </p:nvSpPr>
        <p:spPr>
          <a:xfrm>
            <a:off x="434225" y="58869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lt1"/>
                </a:solidFill>
                <a:latin typeface="Boogaloo"/>
                <a:ea typeface="Boogaloo"/>
                <a:cs typeface="Boogaloo"/>
                <a:sym typeface="Boogaloo"/>
              </a:rPr>
              <a:t>Quick Write: Reflect on Our Experiences</a:t>
            </a:r>
            <a:endParaRPr b="0" i="0" sz="3200" u="none" cap="none" strike="noStrike">
              <a:solidFill>
                <a:srgbClr val="FFFFFF"/>
              </a:solidFill>
              <a:latin typeface="Boogaloo"/>
              <a:ea typeface="Boogaloo"/>
              <a:cs typeface="Boogaloo"/>
              <a:sym typeface="Boogaloo"/>
            </a:endParaRPr>
          </a:p>
        </p:txBody>
      </p:sp>
      <p:sp>
        <p:nvSpPr>
          <p:cNvPr id="172" name="Google Shape;172;p3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F</a:t>
            </a:r>
            <a:endParaRPr b="0" i="0" sz="1800" u="none" cap="none" strike="noStrike">
              <a:solidFill>
                <a:srgbClr val="9A2F3E"/>
              </a:solidFill>
              <a:latin typeface="Boogaloo"/>
              <a:ea typeface="Boogaloo"/>
              <a:cs typeface="Boogaloo"/>
              <a:sym typeface="Boogaloo"/>
            </a:endParaRPr>
          </a:p>
        </p:txBody>
      </p:sp>
      <p:sp>
        <p:nvSpPr>
          <p:cNvPr id="173" name="Google Shape;173;p30"/>
          <p:cNvSpPr txBox="1"/>
          <p:nvPr/>
        </p:nvSpPr>
        <p:spPr>
          <a:xfrm>
            <a:off x="1761325" y="1735575"/>
            <a:ext cx="6902400" cy="469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 Quick Write</a:t>
            </a:r>
            <a:endParaRPr b="0" i="0" sz="30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600"/>
              </a:spcBef>
              <a:spcAft>
                <a:spcPts val="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Answer the following questions in your science notebook. </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AutoNum type="arabicPeriod"/>
            </a:pPr>
            <a:r>
              <a:rPr b="0" i="0" lang="en" sz="2400" u="none" cap="none" strike="noStrike">
                <a:solidFill>
                  <a:srgbClr val="9A2F3E"/>
                </a:solidFill>
                <a:latin typeface="Cabin Condensed"/>
                <a:ea typeface="Cabin Condensed"/>
                <a:cs typeface="Cabin Condensed"/>
                <a:sym typeface="Cabin Condensed"/>
              </a:rPr>
              <a:t>What was most challenging in this unit?</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AutoNum type="arabicPeriod"/>
            </a:pPr>
            <a:r>
              <a:rPr b="0" i="0" lang="en" sz="2400" u="none" cap="none" strike="noStrike">
                <a:solidFill>
                  <a:srgbClr val="9A2F3E"/>
                </a:solidFill>
                <a:latin typeface="Cabin Condensed"/>
                <a:ea typeface="Cabin Condensed"/>
                <a:cs typeface="Cabin Condensed"/>
                <a:sym typeface="Cabin Condensed"/>
              </a:rPr>
              <a:t>What was most rewarding?</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AutoNum type="arabicPeriod"/>
            </a:pPr>
            <a:r>
              <a:rPr b="0" i="1" lang="en" sz="2400" u="none" cap="none" strike="noStrike">
                <a:solidFill>
                  <a:srgbClr val="9A2F3E"/>
                </a:solidFill>
                <a:latin typeface="Cabin Condensed"/>
                <a:ea typeface="Cabin Condensed"/>
                <a:cs typeface="Cabin Condensed"/>
                <a:sym typeface="Cabin Condensed"/>
              </a:rPr>
              <a:t>Think about how you engage in sensemaking discussions with classmates.</a:t>
            </a:r>
            <a:r>
              <a:rPr b="0" i="0" lang="en" sz="2400" u="none" cap="none" strike="noStrike">
                <a:solidFill>
                  <a:srgbClr val="9A2F3E"/>
                </a:solidFill>
                <a:latin typeface="Cabin Condensed"/>
                <a:ea typeface="Cabin Condensed"/>
                <a:cs typeface="Cabin Condensed"/>
                <a:sym typeface="Cabin Condensed"/>
              </a:rPr>
              <a:t> How would you want to engage in those experiences the next time around?   </a:t>
            </a:r>
            <a:endParaRPr b="0" i="0" sz="2400" u="none" cap="none" strike="noStrike">
              <a:solidFill>
                <a:srgbClr val="9A2F3E"/>
              </a:solidFill>
              <a:latin typeface="Cabin Condensed"/>
              <a:ea typeface="Cabin Condensed"/>
              <a:cs typeface="Cabin Condensed"/>
              <a:sym typeface="Cabin Condensed"/>
            </a:endParaRPr>
          </a:p>
          <a:p>
            <a:pPr indent="-381000" lvl="1" marL="914400" marR="0" rtl="0" algn="l">
              <a:lnSpc>
                <a:spcPct val="115000"/>
              </a:lnSpc>
              <a:spcBef>
                <a:spcPts val="1000"/>
              </a:spcBef>
              <a:spcAft>
                <a:spcPts val="0"/>
              </a:spcAft>
              <a:buClr>
                <a:srgbClr val="9A2F3E"/>
              </a:buClr>
              <a:buSzPts val="2400"/>
              <a:buFont typeface="Cabin Condensed"/>
              <a:buAutoNum type="alphaLcPeriod"/>
            </a:pPr>
            <a:r>
              <a:rPr b="0" i="0" lang="en" sz="2400" u="none" cap="none" strike="noStrike">
                <a:solidFill>
                  <a:srgbClr val="9A2F3E"/>
                </a:solidFill>
                <a:latin typeface="Cabin Condensed"/>
                <a:ea typeface="Cabin Condensed"/>
                <a:cs typeface="Cabin Condensed"/>
                <a:sym typeface="Cabin Condensed"/>
              </a:rPr>
              <a:t>What would you do the same?  </a:t>
            </a:r>
            <a:endParaRPr b="0" i="0" sz="2400" u="none" cap="none" strike="noStrike">
              <a:solidFill>
                <a:srgbClr val="9A2F3E"/>
              </a:solidFill>
              <a:latin typeface="Cabin Condensed"/>
              <a:ea typeface="Cabin Condensed"/>
              <a:cs typeface="Cabin Condensed"/>
              <a:sym typeface="Cabin Condensed"/>
            </a:endParaRPr>
          </a:p>
          <a:p>
            <a:pPr indent="-381000" lvl="1" marL="914400" marR="0" rtl="0" algn="l">
              <a:lnSpc>
                <a:spcPct val="115000"/>
              </a:lnSpc>
              <a:spcBef>
                <a:spcPts val="0"/>
              </a:spcBef>
              <a:spcAft>
                <a:spcPts val="0"/>
              </a:spcAft>
              <a:buClr>
                <a:srgbClr val="9A2F3E"/>
              </a:buClr>
              <a:buSzPts val="2400"/>
              <a:buFont typeface="Cabin Condensed"/>
              <a:buAutoNum type="alphaLcPeriod"/>
            </a:pPr>
            <a:r>
              <a:rPr b="0" i="0" lang="en" sz="2400" u="none" cap="none" strike="noStrike">
                <a:solidFill>
                  <a:srgbClr val="9A2F3E"/>
                </a:solidFill>
                <a:latin typeface="Cabin Condensed"/>
                <a:ea typeface="Cabin Condensed"/>
                <a:cs typeface="Cabin Condensed"/>
                <a:sym typeface="Cabin Condensed"/>
              </a:rPr>
              <a:t>What would you do differently?</a:t>
            </a:r>
            <a:endParaRPr b="0" i="0" sz="2400" u="none" cap="none" strike="noStrike">
              <a:solidFill>
                <a:srgbClr val="9A2F3E"/>
              </a:solidFill>
              <a:latin typeface="Cabin Condensed"/>
              <a:ea typeface="Cabin Condensed"/>
              <a:cs typeface="Cabin Condensed"/>
              <a:sym typeface="Cabin Condensed"/>
            </a:endParaRPr>
          </a:p>
        </p:txBody>
      </p:sp>
      <p:pic>
        <p:nvPicPr>
          <p:cNvPr descr="On your own icon" id="174" name="Google Shape;174;p30"/>
          <p:cNvPicPr preferRelativeResize="0"/>
          <p:nvPr/>
        </p:nvPicPr>
        <p:blipFill rotWithShape="1">
          <a:blip r:embed="rId3">
            <a:alphaModFix/>
          </a:blip>
          <a:srcRect b="0" l="0" r="0" t="0"/>
          <a:stretch/>
        </p:blipFill>
        <p:spPr>
          <a:xfrm>
            <a:off x="757675" y="1834675"/>
            <a:ext cx="851250" cy="1003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penSciEd-Stillet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