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9" r:id="rId4"/>
    <p:sldMasterId id="214748367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y="6858000" cx="9144000"/>
  <p:notesSz cx="6858000" cy="9144000"/>
  <p:embeddedFontLst>
    <p:embeddedFont>
      <p:font typeface="Dosis"/>
      <p:regular r:id="rId29"/>
      <p:bold r:id="rId30"/>
    </p:embeddedFont>
    <p:embeddedFont>
      <p:font typeface="Caveat"/>
      <p:regular r:id="rId31"/>
      <p:bold r:id="rId32"/>
    </p:embeddedFont>
    <p:embeddedFont>
      <p:font typeface="Boogaloo"/>
      <p:regular r:id="rId33"/>
    </p:embeddedFont>
    <p:embeddedFont>
      <p:font typeface="Cabin"/>
      <p:regular r:id="rId34"/>
      <p:bold r:id="rId35"/>
      <p:italic r:id="rId36"/>
      <p:boldItalic r:id="rId37"/>
    </p:embeddedFont>
    <p:embeddedFont>
      <p:font typeface="Helvetica Neue"/>
      <p:regular r:id="rId38"/>
      <p:bold r:id="rId39"/>
      <p:italic r:id="rId40"/>
      <p:boldItalic r:id="rId41"/>
    </p:embeddedFont>
    <p:embeddedFont>
      <p:font typeface="Petrona"/>
      <p:regular r:id="rId42"/>
      <p:bold r:id="rId43"/>
      <p:italic r:id="rId44"/>
      <p:boldItalic r:id="rId45"/>
    </p:embeddedFont>
    <p:embeddedFont>
      <p:font typeface="Cabin Condensed"/>
      <p:regular r:id="rId46"/>
      <p:bold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4061AEF-1EB5-4D07-8955-141C8B69F781}">
  <a:tblStyle styleId="{14061AEF-1EB5-4D07-8955-141C8B69F781}"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HelveticaNeue-italic.fntdata"/><Relationship Id="rId20" Type="http://schemas.openxmlformats.org/officeDocument/2006/relationships/slide" Target="slides/slide14.xml"/><Relationship Id="rId42" Type="http://schemas.openxmlformats.org/officeDocument/2006/relationships/font" Target="fonts/Petrona-regular.fntdata"/><Relationship Id="rId41" Type="http://schemas.openxmlformats.org/officeDocument/2006/relationships/font" Target="fonts/HelveticaNeue-boldItalic.fntdata"/><Relationship Id="rId22" Type="http://schemas.openxmlformats.org/officeDocument/2006/relationships/slide" Target="slides/slide16.xml"/><Relationship Id="rId44" Type="http://schemas.openxmlformats.org/officeDocument/2006/relationships/font" Target="fonts/Petrona-italic.fntdata"/><Relationship Id="rId21" Type="http://schemas.openxmlformats.org/officeDocument/2006/relationships/slide" Target="slides/slide15.xml"/><Relationship Id="rId43" Type="http://schemas.openxmlformats.org/officeDocument/2006/relationships/font" Target="fonts/Petrona-bold.fntdata"/><Relationship Id="rId24" Type="http://schemas.openxmlformats.org/officeDocument/2006/relationships/slide" Target="slides/slide18.xml"/><Relationship Id="rId46" Type="http://schemas.openxmlformats.org/officeDocument/2006/relationships/font" Target="fonts/CabinCondensed-regular.fntdata"/><Relationship Id="rId23" Type="http://schemas.openxmlformats.org/officeDocument/2006/relationships/slide" Target="slides/slide17.xml"/><Relationship Id="rId45" Type="http://schemas.openxmlformats.org/officeDocument/2006/relationships/font" Target="fonts/Petrona-bol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47" Type="http://schemas.openxmlformats.org/officeDocument/2006/relationships/font" Target="fonts/CabinCondensed-bold.fntdata"/><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Dosis-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Caveat-regular.fntdata"/><Relationship Id="rId30" Type="http://schemas.openxmlformats.org/officeDocument/2006/relationships/font" Target="fonts/Dosis-bold.fntdata"/><Relationship Id="rId11" Type="http://schemas.openxmlformats.org/officeDocument/2006/relationships/slide" Target="slides/slide5.xml"/><Relationship Id="rId33" Type="http://schemas.openxmlformats.org/officeDocument/2006/relationships/font" Target="fonts/Boogaloo-regular.fntdata"/><Relationship Id="rId10" Type="http://schemas.openxmlformats.org/officeDocument/2006/relationships/slide" Target="slides/slide4.xml"/><Relationship Id="rId32" Type="http://schemas.openxmlformats.org/officeDocument/2006/relationships/font" Target="fonts/Caveat-bold.fntdata"/><Relationship Id="rId13" Type="http://schemas.openxmlformats.org/officeDocument/2006/relationships/slide" Target="slides/slide7.xml"/><Relationship Id="rId35" Type="http://schemas.openxmlformats.org/officeDocument/2006/relationships/font" Target="fonts/Cabin-bold.fntdata"/><Relationship Id="rId12" Type="http://schemas.openxmlformats.org/officeDocument/2006/relationships/slide" Target="slides/slide6.xml"/><Relationship Id="rId34" Type="http://schemas.openxmlformats.org/officeDocument/2006/relationships/font" Target="fonts/Cabin-regular.fntdata"/><Relationship Id="rId15" Type="http://schemas.openxmlformats.org/officeDocument/2006/relationships/slide" Target="slides/slide9.xml"/><Relationship Id="rId37" Type="http://schemas.openxmlformats.org/officeDocument/2006/relationships/font" Target="fonts/Cabin-boldItalic.fntdata"/><Relationship Id="rId14" Type="http://schemas.openxmlformats.org/officeDocument/2006/relationships/slide" Target="slides/slide8.xml"/><Relationship Id="rId36" Type="http://schemas.openxmlformats.org/officeDocument/2006/relationships/font" Target="fonts/Cabin-italic.fntdata"/><Relationship Id="rId17" Type="http://schemas.openxmlformats.org/officeDocument/2006/relationships/slide" Target="slides/slide11.xml"/><Relationship Id="rId39" Type="http://schemas.openxmlformats.org/officeDocument/2006/relationships/font" Target="fonts/HelveticaNeue-bold.fntdata"/><Relationship Id="rId16" Type="http://schemas.openxmlformats.org/officeDocument/2006/relationships/slide" Target="slides/slide10.xml"/><Relationship Id="rId38" Type="http://schemas.openxmlformats.org/officeDocument/2006/relationships/font" Target="fonts/HelveticaNeue-regular.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1pPr>
            <a:lvl2pPr indent="-317500" lvl="1" marL="914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2pPr>
            <a:lvl3pPr indent="-317500" lvl="2" marL="1371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3pPr>
            <a:lvl4pPr indent="-317500" lvl="3" marL="1828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4pPr>
            <a:lvl5pPr indent="-317500" lvl="4" marL="22860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5pPr>
            <a:lvl6pPr indent="-317500" lvl="5" marL="2743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6pPr>
            <a:lvl7pPr indent="-317500" lvl="6" marL="3200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7pPr>
            <a:lvl8pPr indent="-317500" lvl="7" marL="3657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8pPr>
            <a:lvl9pPr indent="-317500" lvl="8" marL="4114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1: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Recall previous learning.</a:t>
            </a:r>
            <a:r>
              <a:rPr lang="en">
                <a:solidFill>
                  <a:schemeClr val="dk1"/>
                </a:solidFill>
                <a:latin typeface="Cabin"/>
                <a:ea typeface="Cabin"/>
                <a:cs typeface="Cabin"/>
                <a:sym typeface="Cabin"/>
              </a:rPr>
              <a:t> Display </a:t>
            </a:r>
            <a:r>
              <a:rPr b="1" lang="en">
                <a:solidFill>
                  <a:schemeClr val="dk1"/>
                </a:solidFill>
                <a:latin typeface="Cabin"/>
                <a:ea typeface="Cabin"/>
                <a:cs typeface="Cabin"/>
                <a:sym typeface="Cabin"/>
              </a:rPr>
              <a:t>slide A</a:t>
            </a:r>
            <a:r>
              <a:rPr lang="en">
                <a:solidFill>
                  <a:schemeClr val="dk1"/>
                </a:solidFill>
                <a:latin typeface="Cabin"/>
                <a:ea typeface="Cabin"/>
                <a:cs typeface="Cabin"/>
                <a:sym typeface="Cabin"/>
              </a:rPr>
              <a:t>.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Say, </a:t>
            </a:r>
            <a:r>
              <a:rPr i="1" lang="en">
                <a:solidFill>
                  <a:schemeClr val="dk1"/>
                </a:solidFill>
                <a:latin typeface="Cabin"/>
                <a:ea typeface="Cabin"/>
                <a:cs typeface="Cabin"/>
                <a:sym typeface="Cabin"/>
              </a:rPr>
              <a:t>Think back to last class. What did we learn about the role of shape, thickness, or properties of protective materials that we should be using in our designs?</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Give students time to turn and talk with a partner about the prompt on slide A. After a moment, ask students to share their ideas with the whole group. As students are sharing, listen for the following ideas to be discussed:</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Protective materials should have space (or air) for the solid materials to deform into. </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Protective materials should deform a lot when relatively weak contact forces are applied to them.</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The outer surface of those materials should be placed in an area where they will make contact with the damaging, colliding object.</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The inner surface of those materials should make contact with as large an area as possible on the parts of the body or object they are protecting.</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The thicker the protective material is (not always more dense), the more it will reduce peak forces.</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If these ideas are not mentioned, ask students to look back at their diagrams from Lessons 12 and 13. Ask students what they notice about the materials that are contributing to a reduction in the peak forces on the object they are protecting.</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Say, </a:t>
            </a:r>
            <a:r>
              <a:rPr i="1" lang="en">
                <a:solidFill>
                  <a:schemeClr val="dk1"/>
                </a:solidFill>
                <a:latin typeface="Cabin"/>
                <a:ea typeface="Cabin"/>
                <a:cs typeface="Cabin"/>
                <a:sym typeface="Cabin"/>
              </a:rPr>
              <a:t>It seems like we have learned a lot about the properties and structures of protective materials! Let’s see if we can apply this to optimize our designs. </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p:txBody>
      </p:sp>
      <p:sp>
        <p:nvSpPr>
          <p:cNvPr id="99" name="Google Shape;99;p1: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2: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Introduce </a:t>
            </a:r>
            <a:r>
              <a:rPr b="1" i="1" lang="en">
                <a:solidFill>
                  <a:srgbClr val="0B0B0B"/>
                </a:solidFill>
                <a:latin typeface="Cabin"/>
                <a:ea typeface="Cabin"/>
                <a:cs typeface="Cabin"/>
                <a:sym typeface="Cabin"/>
              </a:rPr>
              <a:t>Redesigning Your Protective Device</a:t>
            </a:r>
            <a:r>
              <a:rPr b="1" lang="en">
                <a:solidFill>
                  <a:schemeClr val="dk1"/>
                </a:solidFill>
                <a:latin typeface="Cabin"/>
                <a:ea typeface="Cabin"/>
                <a:cs typeface="Cabin"/>
                <a:sym typeface="Cabin"/>
              </a:rPr>
              <a:t>.</a:t>
            </a:r>
            <a:r>
              <a:rPr lang="en">
                <a:solidFill>
                  <a:schemeClr val="dk1"/>
                </a:solidFill>
                <a:latin typeface="Cabin"/>
                <a:ea typeface="Cabin"/>
                <a:cs typeface="Cabin"/>
                <a:sym typeface="Cabin"/>
              </a:rPr>
              <a:t> Display </a:t>
            </a:r>
            <a:r>
              <a:rPr b="1" lang="en">
                <a:solidFill>
                  <a:schemeClr val="dk1"/>
                </a:solidFill>
                <a:latin typeface="Cabin"/>
                <a:ea typeface="Cabin"/>
                <a:cs typeface="Cabin"/>
                <a:sym typeface="Cabin"/>
              </a:rPr>
              <a:t>slide B</a:t>
            </a:r>
            <a:r>
              <a:rPr lang="en">
                <a:solidFill>
                  <a:schemeClr val="dk1"/>
                </a:solidFill>
                <a:latin typeface="Cabin"/>
                <a:ea typeface="Cabin"/>
                <a:cs typeface="Cabin"/>
                <a:sym typeface="Cabin"/>
              </a:rPr>
              <a:t>. Instruct students to get out their handout </a:t>
            </a:r>
            <a:r>
              <a:rPr i="1" lang="en">
                <a:solidFill>
                  <a:srgbClr val="0B0B0B"/>
                </a:solidFill>
                <a:latin typeface="Cabin"/>
                <a:ea typeface="Cabin"/>
                <a:cs typeface="Cabin"/>
                <a:sym typeface="Cabin"/>
              </a:rPr>
              <a:t>Drafting Our Protection Device Design</a:t>
            </a:r>
            <a:r>
              <a:rPr lang="en">
                <a:solidFill>
                  <a:schemeClr val="dk1"/>
                </a:solidFill>
                <a:latin typeface="Cabin"/>
                <a:ea typeface="Cabin"/>
                <a:cs typeface="Cabin"/>
                <a:sym typeface="Cabin"/>
              </a:rPr>
              <a:t> from Lesson 11. Explain that students will get a chance at revising their old design from Lesson 11 to reflect the current understanding of materials and how they help reduce peak forces in a collision. Using a fresh, new handout to record their protective device redesign will allow students to keep a record of their first iteration of their designs as they draft their new ideas. Distribute </a:t>
            </a:r>
            <a:r>
              <a:rPr i="1" lang="en">
                <a:solidFill>
                  <a:srgbClr val="0B0B0B"/>
                </a:solidFill>
                <a:latin typeface="Cabin"/>
                <a:ea typeface="Cabin"/>
                <a:cs typeface="Cabin"/>
                <a:sym typeface="Cabin"/>
              </a:rPr>
              <a:t>Redesigning Your Protective Device</a:t>
            </a:r>
            <a:r>
              <a:rPr i="1" lang="en">
                <a:solidFill>
                  <a:schemeClr val="dk1"/>
                </a:solidFill>
                <a:latin typeface="Cabin"/>
                <a:ea typeface="Cabin"/>
                <a:cs typeface="Cabin"/>
                <a:sym typeface="Cabin"/>
              </a:rPr>
              <a:t> </a:t>
            </a:r>
            <a:r>
              <a:rPr lang="en">
                <a:solidFill>
                  <a:schemeClr val="dk1"/>
                </a:solidFill>
                <a:latin typeface="Cabin"/>
                <a:ea typeface="Cabin"/>
                <a:cs typeface="Cabin"/>
                <a:sym typeface="Cabin"/>
              </a:rPr>
              <a:t>to students and go over it with them. Begin by pointing out the box where students will be drafting their redesigned protective devices. Make sure that students know they will be redrawing their ideas in this box, using their old designs on </a:t>
            </a:r>
            <a:r>
              <a:rPr i="1" lang="en">
                <a:solidFill>
                  <a:srgbClr val="0B0B0B"/>
                </a:solidFill>
                <a:latin typeface="Cabin"/>
                <a:ea typeface="Cabin"/>
                <a:cs typeface="Cabin"/>
                <a:sym typeface="Cabin"/>
              </a:rPr>
              <a:t>Drafting Our Protection Device Design</a:t>
            </a:r>
            <a:r>
              <a:rPr lang="en">
                <a:solidFill>
                  <a:schemeClr val="dk1"/>
                </a:solidFill>
                <a:latin typeface="Cabin"/>
                <a:ea typeface="Cabin"/>
                <a:cs typeface="Cabin"/>
                <a:sym typeface="Cabin"/>
              </a:rPr>
              <a:t> as a starting point. Direct students to then look at the table on the next page. Explain that this table will walk students through considering what changes they are making and why. Column 1 asks students to list the changes that are being made, column 2 asks students to give their reasoning for the changes based upon their science ideas, and column 3 asks students to think about what effects those changes will have upon their system. Because this chart is new, tell students that we will do an example together based upon a design to protect a car side mirror in a parking lot.</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latin typeface="Cabin"/>
              <a:ea typeface="Cabin"/>
              <a:cs typeface="Cabin"/>
              <a:sym typeface="Cabin"/>
            </a:endParaRPr>
          </a:p>
        </p:txBody>
      </p:sp>
      <p:sp>
        <p:nvSpPr>
          <p:cNvPr id="110" name="Google Shape;110;p2: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3: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Display</a:t>
            </a:r>
            <a:r>
              <a:rPr b="1" lang="en">
                <a:solidFill>
                  <a:schemeClr val="dk1"/>
                </a:solidFill>
                <a:latin typeface="Cabin"/>
                <a:ea typeface="Cabin"/>
                <a:cs typeface="Cabin"/>
                <a:sym typeface="Cabin"/>
              </a:rPr>
              <a:t> slide C</a:t>
            </a:r>
            <a:r>
              <a:rPr lang="en">
                <a:solidFill>
                  <a:schemeClr val="dk1"/>
                </a:solidFill>
                <a:latin typeface="Cabin"/>
                <a:ea typeface="Cabin"/>
                <a:cs typeface="Cabin"/>
                <a:sym typeface="Cabin"/>
              </a:rPr>
              <a:t>. Point out that the chart on the slide is a copy of the chart on their handouts.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Say, </a:t>
            </a:r>
            <a:r>
              <a:rPr i="1" lang="en">
                <a:solidFill>
                  <a:schemeClr val="dk1"/>
                </a:solidFill>
                <a:latin typeface="Cabin"/>
                <a:ea typeface="Cabin"/>
                <a:cs typeface="Cabin"/>
                <a:sym typeface="Cabin"/>
              </a:rPr>
              <a:t>Imagine that I had designed a protective device to put onto the side mirrors of my car when I am parked in a parking lot to avoid scratches and bumps. Originally I had made a design that was a box of wood because I thought it would be really sturdy, but I didn’t think about the energy transferring through the wood. Now I have changed my design to be made of the same foam as earplugs.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latin typeface="Cabin"/>
              <a:ea typeface="Cabin"/>
              <a:cs typeface="Cabin"/>
              <a:sym typeface="Cabin"/>
            </a:endParaRPr>
          </a:p>
        </p:txBody>
      </p:sp>
      <p:sp>
        <p:nvSpPr>
          <p:cNvPr id="120" name="Google Shape;120;p3: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4: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Display </a:t>
            </a:r>
            <a:r>
              <a:rPr b="1" lang="en">
                <a:solidFill>
                  <a:schemeClr val="dk1"/>
                </a:solidFill>
                <a:latin typeface="Cabin"/>
                <a:ea typeface="Cabin"/>
                <a:cs typeface="Cabin"/>
                <a:sym typeface="Cabin"/>
              </a:rPr>
              <a:t>slide D</a:t>
            </a:r>
            <a:r>
              <a:rPr lang="en">
                <a:solidFill>
                  <a:schemeClr val="dk1"/>
                </a:solidFill>
                <a:latin typeface="Cabin"/>
                <a:ea typeface="Cabin"/>
                <a:cs typeface="Cabin"/>
                <a:sym typeface="Cabin"/>
              </a:rPr>
              <a:t>. Point out to students how the change is documented in the first column.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Say, </a:t>
            </a:r>
            <a:r>
              <a:rPr i="1" lang="en">
                <a:solidFill>
                  <a:schemeClr val="dk1"/>
                </a:solidFill>
                <a:latin typeface="Cabin"/>
                <a:ea typeface="Cabin"/>
                <a:cs typeface="Cabin"/>
                <a:sym typeface="Cabin"/>
              </a:rPr>
              <a:t>Now I need to think about how I can justify this change using my science ideas. I made the change from wood to foam because foam deforms more and can be shaped to spread the impact out over a larger area when it is being deformed. The wood would get bumped and then would just bump right back into my mirror!</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latin typeface="Cabin"/>
              <a:ea typeface="Cabin"/>
              <a:cs typeface="Cabin"/>
              <a:sym typeface="Cabin"/>
            </a:endParaRPr>
          </a:p>
        </p:txBody>
      </p:sp>
      <p:sp>
        <p:nvSpPr>
          <p:cNvPr id="131" name="Google Shape;131;p4: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5: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Display </a:t>
            </a:r>
            <a:r>
              <a:rPr b="1" lang="en">
                <a:solidFill>
                  <a:schemeClr val="dk1"/>
                </a:solidFill>
                <a:latin typeface="Cabin"/>
                <a:ea typeface="Cabin"/>
                <a:cs typeface="Cabin"/>
                <a:sym typeface="Cabin"/>
              </a:rPr>
              <a:t>slide E</a:t>
            </a:r>
            <a:r>
              <a:rPr lang="en">
                <a:solidFill>
                  <a:schemeClr val="dk1"/>
                </a:solidFill>
                <a:latin typeface="Cabin"/>
                <a:ea typeface="Cabin"/>
                <a:cs typeface="Cabin"/>
                <a:sym typeface="Cabin"/>
              </a:rPr>
              <a:t>. Point out to students how this rationale is documented in the second column of the chart.</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Say, </a:t>
            </a:r>
            <a:r>
              <a:rPr i="1" lang="en">
                <a:solidFill>
                  <a:schemeClr val="dk1"/>
                </a:solidFill>
                <a:latin typeface="Cabin"/>
                <a:ea typeface="Cabin"/>
                <a:cs typeface="Cabin"/>
                <a:sym typeface="Cabin"/>
              </a:rPr>
              <a:t>Finally, I have to think about the change on the overall structure of the device. There are positive and negative effects that would happen if I use foam as my main material instead of wood. I like the idea of foam better, but I think that making it out of foam will have an effect on how durable it is. I decreased how durable my design is since the wood would definitely hold up better over time. Also, foam just can’t be nailed together like wood. Because it needs special glue or something to create, it will also be a lot harder or take more time to create and sell. On the other hand, the foam will be easier to store since it can deform and probably fit under a seat in the car.</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p>
        </p:txBody>
      </p:sp>
      <p:sp>
        <p:nvSpPr>
          <p:cNvPr id="143" name="Google Shape;143;p5: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6: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Display</a:t>
            </a:r>
            <a:r>
              <a:rPr b="1" lang="en">
                <a:solidFill>
                  <a:schemeClr val="dk1"/>
                </a:solidFill>
                <a:latin typeface="Cabin"/>
                <a:ea typeface="Cabin"/>
                <a:cs typeface="Cabin"/>
                <a:sym typeface="Cabin"/>
              </a:rPr>
              <a:t> slide F</a:t>
            </a:r>
            <a:r>
              <a:rPr lang="en">
                <a:solidFill>
                  <a:schemeClr val="dk1"/>
                </a:solidFill>
                <a:latin typeface="Cabin"/>
                <a:ea typeface="Cabin"/>
                <a:cs typeface="Cabin"/>
                <a:sym typeface="Cabin"/>
              </a:rPr>
              <a:t>. Direct students to look at the documentation of these ideas in the third column.</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Tell students that they will be given time to work on this redesign. Explain that if students have made more than 3 major changes to their designs to focus the chart on the biggest changes made based upon their science ideas. Give students 10 minutes to work on their own to complete </a:t>
            </a:r>
            <a:r>
              <a:rPr i="1" lang="en">
                <a:solidFill>
                  <a:srgbClr val="0B0B0B"/>
                </a:solidFill>
                <a:latin typeface="Cabin"/>
                <a:ea typeface="Cabin"/>
                <a:cs typeface="Cabin"/>
                <a:sym typeface="Cabin"/>
              </a:rPr>
              <a:t>Redesigning Your Protective Device.</a:t>
            </a:r>
            <a:endParaRPr i="1">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i="1">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Bring the class back together. </a:t>
            </a:r>
            <a:r>
              <a:rPr lang="en">
                <a:solidFill>
                  <a:schemeClr val="dk1"/>
                </a:solidFill>
                <a:latin typeface="Cabin"/>
                <a:ea typeface="Cabin"/>
                <a:cs typeface="Cabin"/>
                <a:sym typeface="Cabin"/>
              </a:rPr>
              <a:t>Display the Whole-Class Criteria and Constraints chart from Lesson 11. Recap that up until this point our designs have focused on what materials will best help our designs protect our objects. We have spent some time learning about the materials’ properties and thinking about how best to meet those criteria. Point out that while we have done a great job addressing what we mean by good shapes and protective materials and incorporating our science ideas into our design, we also said that we have constraints to consider.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Say, </a:t>
            </a:r>
            <a:r>
              <a:rPr i="1" lang="en">
                <a:solidFill>
                  <a:schemeClr val="dk1"/>
                </a:solidFill>
                <a:latin typeface="Cabin"/>
                <a:ea typeface="Cabin"/>
                <a:cs typeface="Cabin"/>
                <a:sym typeface="Cabin"/>
              </a:rPr>
              <a:t>When we started to design our devices, we created a Criteria and Constraints chart. Other than our criteria, what else did we say we needed to consider as a class?</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Allow students time to share out the items in the ”Constraints” column. If students would like to add more constraints than currently listed on the chart, add those to the chart at this time.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Continue discussing the constraints list with students. Determine that different devices will have different constraints depending on the use of the object being protected and that all constraints may not be met perfectly for the practical use of the device. Example prompts and responses are located in the teacher guide.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Say, </a:t>
            </a:r>
            <a:r>
              <a:rPr i="1" lang="en">
                <a:solidFill>
                  <a:schemeClr val="dk1"/>
                </a:solidFill>
                <a:latin typeface="Cabin"/>
                <a:ea typeface="Cabin"/>
                <a:cs typeface="Cabin"/>
                <a:sym typeface="Cabin"/>
              </a:rPr>
              <a:t>It’s interesting that device designers seem to have to make the best decisions based upon the need and considerations of those that the device affects. It also sounds like some considerations are more important than others in most designs, and sometimes compromises need to be made. Do you think that a professionally designed item would also have some of these compromises in its design? Let’s take a look at a common protection device together to see if actual engineers have had to make the same kinds of decisions.</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i="1">
              <a:solidFill>
                <a:srgbClr val="0B0B0B"/>
              </a:solidFill>
              <a:latin typeface="Cabin"/>
              <a:ea typeface="Cabin"/>
              <a:cs typeface="Cabin"/>
              <a:sym typeface="Cabin"/>
            </a:endParaRPr>
          </a:p>
        </p:txBody>
      </p:sp>
      <p:sp>
        <p:nvSpPr>
          <p:cNvPr id="156" name="Google Shape;156;p6: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7: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Discuss trade-offs with knee pads.</a:t>
            </a:r>
            <a:r>
              <a:rPr lang="en">
                <a:solidFill>
                  <a:schemeClr val="dk1"/>
                </a:solidFill>
                <a:latin typeface="Cabin"/>
                <a:ea typeface="Cabin"/>
                <a:cs typeface="Cabin"/>
                <a:sym typeface="Cabin"/>
              </a:rPr>
              <a:t> Display </a:t>
            </a:r>
            <a:r>
              <a:rPr b="1" lang="en">
                <a:solidFill>
                  <a:schemeClr val="dk1"/>
                </a:solidFill>
                <a:latin typeface="Cabin"/>
                <a:ea typeface="Cabin"/>
                <a:cs typeface="Cabin"/>
                <a:sym typeface="Cabin"/>
              </a:rPr>
              <a:t>slide G</a:t>
            </a:r>
            <a:r>
              <a:rPr lang="en">
                <a:solidFill>
                  <a:schemeClr val="dk1"/>
                </a:solidFill>
                <a:latin typeface="Cabin"/>
                <a:ea typeface="Cabin"/>
                <a:cs typeface="Cabin"/>
                <a:sym typeface="Cabin"/>
              </a:rPr>
              <a:t>. Ask students to turn and talk about the questions on slide G.</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What are some constraints that would apply to this protective device?</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Are there any constraints that the design would have that are more important than others?</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Ask students to share their ideas with the class. Students should identify the constraints of size, cost, type of material used, shape, ease of use, reusability, and others as considerations that a designer would have to keep in mind when creating this device.</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SzPts val="1400"/>
              <a:buNone/>
            </a:pPr>
            <a:r>
              <a:rPr b="1" lang="en">
                <a:solidFill>
                  <a:schemeClr val="dk1"/>
                </a:solidFill>
                <a:latin typeface="Cabin"/>
                <a:ea typeface="Cabin"/>
                <a:cs typeface="Cabin"/>
                <a:sym typeface="Cabin"/>
              </a:rPr>
              <a:t>Discuss trade-offs.</a:t>
            </a:r>
            <a:r>
              <a:rPr lang="en">
                <a:solidFill>
                  <a:schemeClr val="dk1"/>
                </a:solidFill>
                <a:latin typeface="Cabin"/>
                <a:ea typeface="Cabin"/>
                <a:cs typeface="Cabin"/>
                <a:sym typeface="Cabin"/>
              </a:rPr>
              <a:t> Remind students that we learned about trade-offs in the </a:t>
            </a:r>
            <a:r>
              <a:rPr i="1" lang="en">
                <a:solidFill>
                  <a:schemeClr val="dk1"/>
                </a:solidFill>
                <a:latin typeface="Cabin"/>
                <a:ea typeface="Cabin"/>
                <a:cs typeface="Cabin"/>
                <a:sym typeface="Cabin"/>
              </a:rPr>
              <a:t>Tsunami Unit </a:t>
            </a:r>
            <a:r>
              <a:rPr lang="en">
                <a:solidFill>
                  <a:schemeClr val="dk1"/>
                </a:solidFill>
                <a:latin typeface="Cabin"/>
                <a:ea typeface="Cabin"/>
                <a:cs typeface="Cabin"/>
                <a:sym typeface="Cabin"/>
              </a:rPr>
              <a:t>and</a:t>
            </a:r>
            <a:r>
              <a:rPr i="1" lang="en">
                <a:solidFill>
                  <a:schemeClr val="dk1"/>
                </a:solidFill>
                <a:latin typeface="Cabin"/>
                <a:ea typeface="Cabin"/>
                <a:cs typeface="Cabin"/>
                <a:sym typeface="Cabin"/>
              </a:rPr>
              <a:t> Homemade Heater Unit</a:t>
            </a:r>
            <a:r>
              <a:rPr lang="en">
                <a:solidFill>
                  <a:schemeClr val="dk1"/>
                </a:solidFill>
                <a:latin typeface="Cabin"/>
                <a:ea typeface="Cabin"/>
                <a:cs typeface="Cabin"/>
                <a:sym typeface="Cabin"/>
              </a:rPr>
              <a:t>. </a:t>
            </a:r>
            <a:r>
              <a:rPr i="1" lang="en">
                <a:solidFill>
                  <a:schemeClr val="dk1"/>
                </a:solidFill>
                <a:latin typeface="Cabin"/>
                <a:ea typeface="Cabin"/>
                <a:cs typeface="Cabin"/>
                <a:sym typeface="Cabin"/>
              </a:rPr>
              <a:t>Trade-offs</a:t>
            </a:r>
            <a:r>
              <a:rPr lang="en">
                <a:solidFill>
                  <a:schemeClr val="dk1"/>
                </a:solidFill>
                <a:latin typeface="Cabin"/>
                <a:ea typeface="Cabin"/>
                <a:cs typeface="Cabin"/>
                <a:sym typeface="Cabin"/>
              </a:rPr>
              <a:t> are when criteria or constraints have to be weighed against each other to make an informed decision. When designers of these devices are weighing the options and the relative importance of criteria or constraints, they are making trade-offs. Ask students about the trade-offs made during the designing of the kneepad. Example prompts and responses are located in the teacher guide.</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SzPts val="1400"/>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SzPts val="1400"/>
              <a:buNone/>
            </a:pPr>
            <a:r>
              <a:rPr lang="en">
                <a:solidFill>
                  <a:schemeClr val="dk1"/>
                </a:solidFill>
                <a:latin typeface="Cabin"/>
                <a:ea typeface="Cabin"/>
                <a:cs typeface="Cabin"/>
                <a:sym typeface="Cabin"/>
              </a:rPr>
              <a:t>Say, </a:t>
            </a:r>
            <a:r>
              <a:rPr i="1" lang="en">
                <a:solidFill>
                  <a:schemeClr val="dk1"/>
                </a:solidFill>
                <a:latin typeface="Cabin"/>
                <a:ea typeface="Cabin"/>
                <a:cs typeface="Cabin"/>
                <a:sym typeface="Cabin"/>
              </a:rPr>
              <a:t>It seems that these trade-offs you are mentioning are very purposeful. It appears the designer really thought about the effects each change would have on the device and what would be important for safety but also user friendly at the same time. They had to make choices that they felt optimized the design but stayed within the limits of the device.</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SzPts val="1400"/>
              <a:buNone/>
            </a:pPr>
            <a:r>
              <a:t/>
            </a:r>
            <a:endParaRPr b="1" sz="1000">
              <a:solidFill>
                <a:schemeClr val="dk1"/>
              </a:solidFill>
              <a:latin typeface="Cabin"/>
              <a:ea typeface="Cabin"/>
              <a:cs typeface="Cabin"/>
              <a:sym typeface="Cabin"/>
            </a:endParaRPr>
          </a:p>
        </p:txBody>
      </p:sp>
      <p:sp>
        <p:nvSpPr>
          <p:cNvPr id="170" name="Google Shape;170;p7: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8: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Consider sources of feedback.</a:t>
            </a:r>
            <a:r>
              <a:rPr lang="en">
                <a:solidFill>
                  <a:schemeClr val="dk1"/>
                </a:solidFill>
                <a:latin typeface="Cabin"/>
                <a:ea typeface="Cabin"/>
                <a:cs typeface="Cabin"/>
                <a:sym typeface="Cabin"/>
              </a:rPr>
              <a:t> Project </a:t>
            </a:r>
            <a:r>
              <a:rPr b="1" lang="en">
                <a:solidFill>
                  <a:schemeClr val="dk1"/>
                </a:solidFill>
                <a:latin typeface="Cabin"/>
                <a:ea typeface="Cabin"/>
                <a:cs typeface="Cabin"/>
                <a:sym typeface="Cabin"/>
              </a:rPr>
              <a:t>slide H.</a:t>
            </a:r>
            <a:r>
              <a:rPr lang="en">
                <a:solidFill>
                  <a:schemeClr val="dk1"/>
                </a:solidFill>
                <a:latin typeface="Cabin"/>
                <a:ea typeface="Cabin"/>
                <a:cs typeface="Cabin"/>
                <a:sym typeface="Cabin"/>
              </a:rPr>
              <a:t> Have students turn and talk with a partner about the prompts on the slide.</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If we were to think about trade-offs for our devices, who would we need to consult to make sure we were making an informed decision about what was important? </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Why would we need to consult and consider the feedback of others in the first place?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Ask students to share their ideas about the first question with the class. Students should identify the following people:</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the people who know the science behind the design</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those who will use the design</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those who will benefit from the design</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those who are impacted by the design</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Ask students why we would need to consider feedback from others in the first place. Students should respond that without their feedback it may not meet their needs and people may not buy the design.</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Say, </a:t>
            </a:r>
            <a:r>
              <a:rPr i="1" lang="en">
                <a:solidFill>
                  <a:schemeClr val="dk1"/>
                </a:solidFill>
                <a:latin typeface="Cabin"/>
                <a:ea typeface="Cabin"/>
                <a:cs typeface="Cabin"/>
                <a:sym typeface="Cabin"/>
              </a:rPr>
              <a:t>OK. We have done a great job learning about the science behind our designs, but if we are going to make our devices better, we need input from people who will use the designs, benefit from the designs, or be impacted by the designs. This group of people is referred to as </a:t>
            </a:r>
            <a:r>
              <a:rPr lang="en">
                <a:solidFill>
                  <a:schemeClr val="dk1"/>
                </a:solidFill>
                <a:latin typeface="Cabin"/>
                <a:ea typeface="Cabin"/>
                <a:cs typeface="Cabin"/>
                <a:sym typeface="Cabin"/>
              </a:rPr>
              <a:t>stakeholders</a:t>
            </a:r>
            <a:r>
              <a:rPr i="1" lang="en">
                <a:solidFill>
                  <a:schemeClr val="dk1"/>
                </a:solidFill>
                <a:latin typeface="Cabin"/>
                <a:ea typeface="Cabin"/>
                <a:cs typeface="Cabin"/>
                <a:sym typeface="Cabin"/>
              </a:rPr>
              <a:t>. We need to consult at least some of our stakeholders</a:t>
            </a:r>
            <a:r>
              <a:rPr lang="en">
                <a:solidFill>
                  <a:schemeClr val="dk1"/>
                </a:solidFill>
                <a:latin typeface="Cabin"/>
                <a:ea typeface="Cabin"/>
                <a:cs typeface="Cabin"/>
                <a:sym typeface="Cabin"/>
              </a:rPr>
              <a:t>.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Remind students that in the </a:t>
            </a:r>
            <a:r>
              <a:rPr b="1" i="1" lang="en">
                <a:solidFill>
                  <a:schemeClr val="dk1"/>
                </a:solidFill>
                <a:latin typeface="Cabin"/>
                <a:ea typeface="Cabin"/>
                <a:cs typeface="Cabin"/>
                <a:sym typeface="Cabin"/>
              </a:rPr>
              <a:t>Tsunami Unit </a:t>
            </a:r>
            <a:r>
              <a:rPr b="1" lang="en">
                <a:solidFill>
                  <a:schemeClr val="dk1"/>
                </a:solidFill>
                <a:latin typeface="Cabin"/>
                <a:ea typeface="Cabin"/>
                <a:cs typeface="Cabin"/>
                <a:sym typeface="Cabin"/>
              </a:rPr>
              <a:t>we learned about stakeholders.</a:t>
            </a:r>
            <a:r>
              <a:rPr lang="en">
                <a:solidFill>
                  <a:schemeClr val="dk1"/>
                </a:solidFill>
                <a:latin typeface="Cabin"/>
                <a:ea typeface="Cabin"/>
                <a:cs typeface="Cabin"/>
                <a:sym typeface="Cabin"/>
              </a:rPr>
              <a:t> </a:t>
            </a:r>
            <a:r>
              <a:rPr i="1" lang="en">
                <a:solidFill>
                  <a:schemeClr val="dk1"/>
                </a:solidFill>
                <a:latin typeface="Cabin"/>
                <a:ea typeface="Cabin"/>
                <a:cs typeface="Cabin"/>
                <a:sym typeface="Cabin"/>
              </a:rPr>
              <a:t>Stakeholders </a:t>
            </a:r>
            <a:r>
              <a:rPr lang="en">
                <a:solidFill>
                  <a:schemeClr val="dk1"/>
                </a:solidFill>
                <a:latin typeface="Cabin"/>
                <a:ea typeface="Cabin"/>
                <a:cs typeface="Cabin"/>
                <a:sym typeface="Cabin"/>
              </a:rPr>
              <a:t>are the people who have interest in or concern for something. As we redesign our protective devices, our stakeholders will be the ones who would eventually use and/or purchase the devices. We could make the safest design in the world, but if our stakeholders would not purchase it or use it, then the design is useless. Stakeholder feedback will be needed and very important to the design of our protective devices.</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Prepare stakeholder feedback form.</a:t>
            </a:r>
            <a:r>
              <a:rPr lang="en">
                <a:solidFill>
                  <a:schemeClr val="dk1"/>
                </a:solidFill>
                <a:latin typeface="Cabin"/>
                <a:ea typeface="Cabin"/>
                <a:cs typeface="Cabin"/>
                <a:sym typeface="Cabin"/>
              </a:rPr>
              <a:t> Explain to students that we have a form to use that will help us get feedback from stakeholders. The form is set up to ask the stakeholder questions based upon the design type and will help get targeted feedback to help optimize the design.</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Explain to students that sometimes when we think about giving feedback on designs, we limit our thinking to just critiquing a specific design and the choices made in that specific design instead of considering the possibilities of what could be created if a totally new, never-before-seen design was being made. To make sure we don’t limit our feedback, we will first need to get ideas from stakeholders about our potential designs without the stakeholders being influenced by our designs.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Tell students that this can be done by either discussing designs that are already in use or by asking stakeholders generally what they would like to see in that kind of protective device design. This way students will be able to figure out what considerations are truly important to them without stakeholders feeling that they are being critical of the student’s design. After that, we can then introduce our design and get more-targeted feedback on our design and trade-offs.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Distribute </a:t>
            </a:r>
            <a:r>
              <a:rPr i="1" lang="en">
                <a:solidFill>
                  <a:srgbClr val="0B0B0B"/>
                </a:solidFill>
                <a:latin typeface="Cabin"/>
                <a:ea typeface="Cabin"/>
                <a:cs typeface="Cabin"/>
                <a:sym typeface="Cabin"/>
              </a:rPr>
              <a:t>Stakeholder Feedback Form</a:t>
            </a:r>
            <a:r>
              <a:rPr lang="en">
                <a:solidFill>
                  <a:schemeClr val="dk1"/>
                </a:solidFill>
                <a:latin typeface="Cabin"/>
                <a:ea typeface="Cabin"/>
                <a:cs typeface="Cabin"/>
                <a:sym typeface="Cabin"/>
              </a:rPr>
              <a:t>. Start by pointing out the two different parts to the handout. Part 1 is all about preparing and organizing our ideas to share with our stakeholders. Part 2 will be where we record the feedback from our stakeholders. Tell students that we will be going through part 1 together, and part 2 will be home learning.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latin typeface="Cabin"/>
              <a:ea typeface="Cabin"/>
              <a:cs typeface="Cabin"/>
              <a:sym typeface="Cabin"/>
            </a:endParaRPr>
          </a:p>
        </p:txBody>
      </p:sp>
      <p:sp>
        <p:nvSpPr>
          <p:cNvPr id="183" name="Google Shape;183;p8: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9: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Introduce the decision tree. </a:t>
            </a:r>
            <a:r>
              <a:rPr lang="en">
                <a:solidFill>
                  <a:schemeClr val="dk1"/>
                </a:solidFill>
                <a:latin typeface="Cabin"/>
                <a:ea typeface="Cabin"/>
                <a:cs typeface="Cabin"/>
                <a:sym typeface="Cabin"/>
              </a:rPr>
              <a:t>Project </a:t>
            </a:r>
            <a:r>
              <a:rPr b="1" lang="en">
                <a:solidFill>
                  <a:schemeClr val="dk1"/>
                </a:solidFill>
                <a:latin typeface="Cabin"/>
                <a:ea typeface="Cabin"/>
                <a:cs typeface="Cabin"/>
                <a:sym typeface="Cabin"/>
              </a:rPr>
              <a:t>slide I.</a:t>
            </a:r>
            <a:r>
              <a:rPr lang="en">
                <a:solidFill>
                  <a:schemeClr val="dk1"/>
                </a:solidFill>
                <a:latin typeface="Cabin"/>
                <a:ea typeface="Cabin"/>
                <a:cs typeface="Cabin"/>
                <a:sym typeface="Cabin"/>
              </a:rPr>
              <a:t> Explain that step 1 will help us know what to say to our stakeholders depending on our type of device. Walk through the decision tree in step 1, pointing out the two different columns on the slide that correspond with the columns on the handout.</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Say, </a:t>
            </a:r>
            <a:r>
              <a:rPr i="1" lang="en">
                <a:solidFill>
                  <a:schemeClr val="dk1"/>
                </a:solidFill>
                <a:latin typeface="Cabin"/>
                <a:ea typeface="Cabin"/>
                <a:cs typeface="Cabin"/>
                <a:sym typeface="Cabin"/>
              </a:rPr>
              <a:t>Look at your design on </a:t>
            </a:r>
            <a:r>
              <a:rPr lang="en">
                <a:solidFill>
                  <a:srgbClr val="0B0B0B"/>
                </a:solidFill>
                <a:latin typeface="Cabin"/>
                <a:ea typeface="Cabin"/>
                <a:cs typeface="Cabin"/>
                <a:sym typeface="Cabin"/>
              </a:rPr>
              <a:t>Redesigning Your Protective Device</a:t>
            </a:r>
            <a:r>
              <a:rPr i="1" lang="en">
                <a:solidFill>
                  <a:schemeClr val="dk1"/>
                </a:solidFill>
                <a:latin typeface="Cabin"/>
                <a:ea typeface="Cabin"/>
                <a:cs typeface="Cabin"/>
                <a:sym typeface="Cabin"/>
              </a:rPr>
              <a:t>. If you have designed a protective device that you think improves upon existing designs, like making an improved cell phone case, you will use the prompts in the first column. If you are creating a novel design for an object and there is no current protective device already available, use the prompts in column two. Let’s use some time right now to complete the column that applies to your design. </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Give students time to complete the column that is applicable to their design. Circulate and verify that students are using the correct column for their design.</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latin typeface="Cabin"/>
              <a:ea typeface="Cabin"/>
              <a:cs typeface="Cabin"/>
              <a:sym typeface="Cabin"/>
            </a:endParaRPr>
          </a:p>
        </p:txBody>
      </p:sp>
      <p:sp>
        <p:nvSpPr>
          <p:cNvPr id="194" name="Google Shape;194;p9: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0: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Explain step 2.</a:t>
            </a:r>
            <a:r>
              <a:rPr lang="en">
                <a:solidFill>
                  <a:schemeClr val="dk1"/>
                </a:solidFill>
                <a:latin typeface="Cabin"/>
                <a:ea typeface="Cabin"/>
                <a:cs typeface="Cabin"/>
                <a:sym typeface="Cabin"/>
              </a:rPr>
              <a:t> Project </a:t>
            </a:r>
            <a:r>
              <a:rPr b="1" lang="en">
                <a:solidFill>
                  <a:schemeClr val="dk1"/>
                </a:solidFill>
                <a:latin typeface="Cabin"/>
                <a:ea typeface="Cabin"/>
                <a:cs typeface="Cabin"/>
                <a:sym typeface="Cabin"/>
              </a:rPr>
              <a:t>slide J</a:t>
            </a:r>
            <a:r>
              <a:rPr lang="en">
                <a:solidFill>
                  <a:schemeClr val="dk1"/>
                </a:solidFill>
                <a:latin typeface="Cabin"/>
                <a:ea typeface="Cabin"/>
                <a:cs typeface="Cabin"/>
                <a:sym typeface="Cabin"/>
              </a:rPr>
              <a:t>. Next, direct students to step 2 on their handout. Explain that the table will help students think about their design trade-offs and organize them so they can more-easily share their design decisions with their stakeholder. In the first column students will list the trade-offs used in their design. In the second column, students will give the rationale for the trade-off choices. Explain that the rationale is important to share with the stakeholder since a quick viewing of the device design may not allow the stakeholder time to consider the impact of trade-offs associated with certain design decisions.</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Go over the home learning with students.</a:t>
            </a:r>
            <a:r>
              <a:rPr lang="en">
                <a:solidFill>
                  <a:schemeClr val="dk1"/>
                </a:solidFill>
                <a:latin typeface="Cabin"/>
                <a:ea typeface="Cabin"/>
                <a:cs typeface="Cabin"/>
                <a:sym typeface="Cabin"/>
              </a:rPr>
              <a:t> After explaining the table, move on to the home learning portion of the handout. Point out that step 3 is going to have students use the script identified in step 1 when discussing potential designs with their stakeholder. In part 2 students will get ideas from the stakeholders before sharing their design. Tell students that it is OK if they want to ask more than one stakeholder, and if they run out of room they can write on an additional piece of paper or in the margins of this home learning handout.</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On step 4, explain that students will use the trade-off table they will complete in step 2. They will share their decisions with their stakeholder and ask their stakeholder if they have any additional considerations or ideas. They will document those ideas in the table below step 4.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Finally, step 5 is asking the stakeholder to do a review of the product. Tell students that it is OK to give the paper to the stakeholder for them to record their review. Students should make sure to let the stakeholder know that it is important to be honest so that the review can be used to optimize the design. Remind students that stakeholders are anyone impacted by the design, which means stakeholders can be other teachers, students, neighbors, friends, or even siblings or other family members.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Allow students to work on the trade-offs table in step 2 until the end of the class period. As students are preparing to leave class, remind them to take home both </a:t>
            </a:r>
            <a:r>
              <a:rPr i="1" lang="en">
                <a:solidFill>
                  <a:srgbClr val="0B0B0B"/>
                </a:solidFill>
                <a:latin typeface="Cabin"/>
                <a:ea typeface="Cabin"/>
                <a:cs typeface="Cabin"/>
                <a:sym typeface="Cabin"/>
              </a:rPr>
              <a:t>Redesigning Your Protective Device</a:t>
            </a:r>
            <a:r>
              <a:rPr lang="en">
                <a:solidFill>
                  <a:schemeClr val="dk1"/>
                </a:solidFill>
                <a:latin typeface="Cabin"/>
                <a:ea typeface="Cabin"/>
                <a:cs typeface="Cabin"/>
                <a:sym typeface="Cabin"/>
              </a:rPr>
              <a:t> and </a:t>
            </a:r>
            <a:r>
              <a:rPr i="1" lang="en">
                <a:solidFill>
                  <a:srgbClr val="0B0B0B"/>
                </a:solidFill>
                <a:latin typeface="Cabin"/>
                <a:ea typeface="Cabin"/>
                <a:cs typeface="Cabin"/>
                <a:sym typeface="Cabin"/>
              </a:rPr>
              <a:t>Stakeholder Feedback Form</a:t>
            </a:r>
            <a:r>
              <a:rPr lang="en">
                <a:solidFill>
                  <a:srgbClr val="0B0B0B"/>
                </a:solidFill>
                <a:latin typeface="Cabin"/>
                <a:ea typeface="Cabin"/>
                <a:cs typeface="Cabin"/>
                <a:sym typeface="Cabin"/>
              </a:rPr>
              <a:t> </a:t>
            </a:r>
            <a:r>
              <a:rPr lang="en">
                <a:solidFill>
                  <a:schemeClr val="dk1"/>
                </a:solidFill>
                <a:latin typeface="Cabin"/>
                <a:ea typeface="Cabin"/>
                <a:cs typeface="Cabin"/>
                <a:sym typeface="Cabin"/>
              </a:rPr>
              <a:t>to get feedback from their stakeholders. They will collect feedback on their design from a stakeholder as their home learning, and the feedback will be used in class next time to consider design revisions.</a:t>
            </a:r>
            <a:endParaRPr>
              <a:solidFill>
                <a:schemeClr val="dk1"/>
              </a:solidFill>
              <a:latin typeface="Cabin"/>
              <a:ea typeface="Cabin"/>
              <a:cs typeface="Cabin"/>
              <a:sym typeface="Cabin"/>
            </a:endParaRPr>
          </a:p>
        </p:txBody>
      </p:sp>
      <p:sp>
        <p:nvSpPr>
          <p:cNvPr id="205" name="Google Shape;205;p10: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1: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Draw parallels to market research.</a:t>
            </a:r>
            <a:r>
              <a:rPr lang="en">
                <a:solidFill>
                  <a:schemeClr val="dk1"/>
                </a:solidFill>
                <a:latin typeface="Cabin"/>
                <a:ea typeface="Cabin"/>
                <a:cs typeface="Cabin"/>
                <a:sym typeface="Cabin"/>
              </a:rPr>
              <a:t> Project </a:t>
            </a:r>
            <a:r>
              <a:rPr b="1" lang="en">
                <a:solidFill>
                  <a:schemeClr val="dk1"/>
                </a:solidFill>
                <a:latin typeface="Cabin"/>
                <a:ea typeface="Cabin"/>
                <a:cs typeface="Cabin"/>
                <a:sym typeface="Cabin"/>
              </a:rPr>
              <a:t>slide K</a:t>
            </a:r>
            <a:r>
              <a:rPr lang="en">
                <a:solidFill>
                  <a:schemeClr val="dk1"/>
                </a:solidFill>
                <a:latin typeface="Cabin"/>
                <a:ea typeface="Cabin"/>
                <a:cs typeface="Cabin"/>
                <a:sym typeface="Cabin"/>
              </a:rPr>
              <a:t>. Explain to students that during their home learning they engaged in something real engineers do to get feedback from stakeholders. This is called </a:t>
            </a:r>
            <a:r>
              <a:rPr i="1" lang="en">
                <a:solidFill>
                  <a:schemeClr val="dk1"/>
                </a:solidFill>
                <a:latin typeface="Cabin"/>
                <a:ea typeface="Cabin"/>
                <a:cs typeface="Cabin"/>
                <a:sym typeface="Cabin"/>
              </a:rPr>
              <a:t>market research</a:t>
            </a:r>
            <a:r>
              <a:rPr lang="en">
                <a:solidFill>
                  <a:schemeClr val="dk1"/>
                </a:solidFill>
                <a:latin typeface="Cabin"/>
                <a:ea typeface="Cabin"/>
                <a:cs typeface="Cabin"/>
                <a:sym typeface="Cabin"/>
              </a:rPr>
              <a:t>. Companies and designers use different methods such as conducting focus groups, reviewing stakeholder thoughts on existing designs, analyzing stakeholder data from existing designs, and conducting large polls. But they also go and ask the consumers directly, just as students did during their home learning task. Explain that engineers also collaborate to create an optimal design, and the more stakeholder feedback that is received, the better the potential the design has to meet the needs of the stakeholders as a whole. Because of this, we are going to have an opportunity to share our feedback from our stakeholders with someone else in our class.</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latin typeface="Cabin"/>
              <a:ea typeface="Cabin"/>
              <a:cs typeface="Cabin"/>
              <a:sym typeface="Cabin"/>
            </a:endParaRPr>
          </a:p>
        </p:txBody>
      </p:sp>
      <p:sp>
        <p:nvSpPr>
          <p:cNvPr id="215" name="Google Shape;215;p11: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2: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Share stakeholder feedback.</a:t>
            </a:r>
            <a:r>
              <a:rPr lang="en">
                <a:solidFill>
                  <a:schemeClr val="dk1"/>
                </a:solidFill>
                <a:latin typeface="Cabin"/>
                <a:ea typeface="Cabin"/>
                <a:cs typeface="Cabin"/>
                <a:sym typeface="Cabin"/>
              </a:rPr>
              <a:t> Project </a:t>
            </a:r>
            <a:r>
              <a:rPr b="1" lang="en">
                <a:solidFill>
                  <a:schemeClr val="dk1"/>
                </a:solidFill>
                <a:latin typeface="Cabin"/>
                <a:ea typeface="Cabin"/>
                <a:cs typeface="Cabin"/>
                <a:sym typeface="Cabin"/>
              </a:rPr>
              <a:t>slide L</a:t>
            </a:r>
            <a:r>
              <a:rPr lang="en">
                <a:solidFill>
                  <a:schemeClr val="dk1"/>
                </a:solidFill>
                <a:latin typeface="Cabin"/>
                <a:ea typeface="Cabin"/>
                <a:cs typeface="Cabin"/>
                <a:sym typeface="Cabin"/>
              </a:rPr>
              <a:t>. Tell students that they can use the prompts on slide L to share their feedback from stakeholders with their partner. If their partner shares some good feedback or a trade-off that they think is important, they should add it to their handout.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Circulate as students are sharing the feedback they received from stakeholders on their devices. Listen to what trade-offs and feedback students were given by stakeholders and what trade-offs students would consider in the revision of their designs. Bring the class back together after the partners share to discuss the trade-offs and feedback shared by the stakeholders.</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Say, </a:t>
            </a:r>
            <a:r>
              <a:rPr i="1" lang="en">
                <a:solidFill>
                  <a:schemeClr val="dk1"/>
                </a:solidFill>
                <a:latin typeface="Cabin"/>
                <a:ea typeface="Cabin"/>
                <a:cs typeface="Cabin"/>
                <a:sym typeface="Cabin"/>
              </a:rPr>
              <a:t>I heard a lot of different trade-offs that were mentioned by stakeholders, like ___, ____, and ____. It sounds like some of these trade-offs might be useful in our designs, while other pieces of feedback may not be as useful. Now that we have had a chance to talk to our stakeholders, let’s think about the things our stakeholders are prioritizing and determine if those changes would actually help to optimize the design.</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Say, </a:t>
            </a:r>
            <a:r>
              <a:rPr i="1" lang="en">
                <a:solidFill>
                  <a:schemeClr val="dk1"/>
                </a:solidFill>
                <a:latin typeface="Cabin"/>
                <a:ea typeface="Cabin"/>
                <a:cs typeface="Cabin"/>
                <a:sym typeface="Cabin"/>
              </a:rPr>
              <a:t>Some of our trade-offs or suggestions mentioned by our stakeholders seemed to be practical, like it has to hold up to repeated uses or that it needs to be a certain size. Others, like how the design looks, should be considered too, but we may not think they are as important. We have to remember that to a stakeholder all of their feedback is important, so we need to consider all the feedback and trade-offs. When we think of potential stakeholder criteria such as durability, reusability, environmental friendliness, and protectiveness of our device, we are really evaluating the use of the materials that the design is constructed with.</a:t>
            </a:r>
            <a:r>
              <a:rPr lang="en">
                <a:solidFill>
                  <a:schemeClr val="dk1"/>
                </a:solidFill>
                <a:latin typeface="Cabin"/>
                <a:ea typeface="Cabin"/>
                <a:cs typeface="Cabin"/>
                <a:sym typeface="Cabin"/>
              </a:rPr>
              <a:t>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Explain to students that before engineers build their designs, they take into account the materials. Designing and redesigning prototypes can get expensive, so engineers try to get the majority of the issues resolved on paper before building the prototype. Tell students that in order to make sure we are using the right materials that align with the stakeholders’ feedback, we will get a chance to use a matrix to assess how well each material will potentially work for our designs.</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p:txBody>
      </p:sp>
      <p:sp>
        <p:nvSpPr>
          <p:cNvPr id="228" name="Google Shape;228;p12: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3: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Distribute </a:t>
            </a:r>
            <a:r>
              <a:rPr b="1" i="1" lang="en">
                <a:solidFill>
                  <a:srgbClr val="0B0B0B"/>
                </a:solidFill>
                <a:latin typeface="Cabin"/>
                <a:ea typeface="Cabin"/>
                <a:cs typeface="Cabin"/>
                <a:sym typeface="Cabin"/>
              </a:rPr>
              <a:t>Decision Matrix</a:t>
            </a:r>
            <a:r>
              <a:rPr b="1" i="1" lang="en">
                <a:solidFill>
                  <a:schemeClr val="dk1"/>
                </a:solidFill>
                <a:latin typeface="Cabin"/>
                <a:ea typeface="Cabin"/>
                <a:cs typeface="Cabin"/>
                <a:sym typeface="Cabin"/>
              </a:rPr>
              <a:t>.</a:t>
            </a:r>
            <a:r>
              <a:rPr lang="en">
                <a:solidFill>
                  <a:schemeClr val="dk1"/>
                </a:solidFill>
                <a:latin typeface="Cabin"/>
                <a:ea typeface="Cabin"/>
                <a:cs typeface="Cabin"/>
                <a:sym typeface="Cabin"/>
              </a:rPr>
              <a:t> Project </a:t>
            </a:r>
            <a:r>
              <a:rPr b="1" lang="en">
                <a:solidFill>
                  <a:schemeClr val="dk1"/>
                </a:solidFill>
                <a:latin typeface="Cabin"/>
                <a:ea typeface="Cabin"/>
                <a:cs typeface="Cabin"/>
                <a:sym typeface="Cabin"/>
              </a:rPr>
              <a:t>slide M</a:t>
            </a:r>
            <a:r>
              <a:rPr lang="en">
                <a:solidFill>
                  <a:schemeClr val="dk1"/>
                </a:solidFill>
                <a:latin typeface="Cabin"/>
                <a:ea typeface="Cabin"/>
                <a:cs typeface="Cabin"/>
                <a:sym typeface="Cabin"/>
              </a:rPr>
              <a:t>. Pass out a copy of </a:t>
            </a:r>
            <a:r>
              <a:rPr i="1" lang="en">
                <a:solidFill>
                  <a:srgbClr val="0B0B0B"/>
                </a:solidFill>
                <a:latin typeface="Cabin"/>
                <a:ea typeface="Cabin"/>
                <a:cs typeface="Cabin"/>
                <a:sym typeface="Cabin"/>
              </a:rPr>
              <a:t>Decision Matrix</a:t>
            </a:r>
            <a:r>
              <a:rPr lang="en">
                <a:solidFill>
                  <a:schemeClr val="dk1"/>
                </a:solidFill>
                <a:latin typeface="Cabin"/>
                <a:ea typeface="Cabin"/>
                <a:cs typeface="Cabin"/>
                <a:sym typeface="Cabin"/>
              </a:rPr>
              <a:t> to each student. Explain that students will be looking at the materials and considering how well they meet the stakeholder considerations and our science ideas. Students should remember using a matrix to evaluate choices in designs in the </a:t>
            </a:r>
            <a:r>
              <a:rPr i="1" lang="en">
                <a:solidFill>
                  <a:schemeClr val="dk1"/>
                </a:solidFill>
                <a:latin typeface="Cabin"/>
                <a:ea typeface="Cabin"/>
                <a:cs typeface="Cabin"/>
                <a:sym typeface="Cabin"/>
              </a:rPr>
              <a:t>Cup Unit</a:t>
            </a:r>
            <a:r>
              <a:rPr lang="en">
                <a:solidFill>
                  <a:schemeClr val="dk1"/>
                </a:solidFill>
                <a:latin typeface="Cabin"/>
                <a:ea typeface="Cabin"/>
                <a:cs typeface="Cabin"/>
                <a:sym typeface="Cabin"/>
              </a:rPr>
              <a:t>, </a:t>
            </a:r>
            <a:r>
              <a:rPr i="1" lang="en">
                <a:solidFill>
                  <a:schemeClr val="dk1"/>
                </a:solidFill>
                <a:latin typeface="Cabin"/>
                <a:ea typeface="Cabin"/>
                <a:cs typeface="Cabin"/>
                <a:sym typeface="Cabin"/>
              </a:rPr>
              <a:t>Tsunami Unit</a:t>
            </a:r>
            <a:r>
              <a:rPr lang="en">
                <a:solidFill>
                  <a:schemeClr val="dk1"/>
                </a:solidFill>
                <a:latin typeface="Cabin"/>
                <a:ea typeface="Cabin"/>
                <a:cs typeface="Cabin"/>
                <a:sym typeface="Cabin"/>
              </a:rPr>
              <a:t>, and </a:t>
            </a:r>
            <a:r>
              <a:rPr i="1" lang="en">
                <a:solidFill>
                  <a:schemeClr val="dk1"/>
                </a:solidFill>
                <a:latin typeface="Cabin"/>
                <a:ea typeface="Cabin"/>
                <a:cs typeface="Cabin"/>
                <a:sym typeface="Cabin"/>
              </a:rPr>
              <a:t>Homemade Heater Unit.</a:t>
            </a:r>
            <a:r>
              <a:rPr lang="en">
                <a:solidFill>
                  <a:schemeClr val="dk1"/>
                </a:solidFill>
                <a:latin typeface="Cabin"/>
                <a:ea typeface="Cabin"/>
                <a:cs typeface="Cabin"/>
                <a:sym typeface="Cabin"/>
              </a:rPr>
              <a:t> Tell students that we will add to our matrix just like we did in those units and focus on our material choices as we evaluate the trade-offs of each design. Tell students that just like in prior units, we will use the 1-to-5 scale to rate how well each material meets the considerations of the stakeholders, with 5 being the best and 1 being the worst.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Begin by having students look back at their designs on </a:t>
            </a:r>
            <a:r>
              <a:rPr i="1" lang="en">
                <a:solidFill>
                  <a:srgbClr val="0B0B0B"/>
                </a:solidFill>
                <a:latin typeface="Cabin"/>
                <a:ea typeface="Cabin"/>
                <a:cs typeface="Cabin"/>
                <a:sym typeface="Cabin"/>
              </a:rPr>
              <a:t>Redesigning Your Protective Device</a:t>
            </a:r>
            <a:r>
              <a:rPr lang="en">
                <a:solidFill>
                  <a:schemeClr val="dk1"/>
                </a:solidFill>
                <a:latin typeface="Cabin"/>
                <a:ea typeface="Cabin"/>
                <a:cs typeface="Cabin"/>
                <a:sym typeface="Cabin"/>
              </a:rPr>
              <a:t> and their feedback on </a:t>
            </a:r>
            <a:r>
              <a:rPr i="1" lang="en">
                <a:solidFill>
                  <a:srgbClr val="0B0B0B"/>
                </a:solidFill>
                <a:latin typeface="Cabin"/>
                <a:ea typeface="Cabin"/>
                <a:cs typeface="Cabin"/>
                <a:sym typeface="Cabin"/>
              </a:rPr>
              <a:t>Stakeholder Feedback Form</a:t>
            </a:r>
            <a:r>
              <a:rPr lang="en">
                <a:solidFill>
                  <a:schemeClr val="dk1"/>
                </a:solidFill>
                <a:latin typeface="Cabin"/>
                <a:ea typeface="Cabin"/>
                <a:cs typeface="Cabin"/>
                <a:sym typeface="Cabin"/>
              </a:rPr>
              <a:t> and think about the different materials they are considering for their device. Point out the “Material choice” column on their blank matrix. Have students list these potential materials in that first column.Tell students that we will get to compare and evaluate these materials once we determine our important considerations that we want to use to rate these materials against.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Say, </a:t>
            </a:r>
            <a:r>
              <a:rPr i="1" lang="en">
                <a:solidFill>
                  <a:schemeClr val="dk1"/>
                </a:solidFill>
                <a:latin typeface="Cabin"/>
                <a:ea typeface="Cabin"/>
                <a:cs typeface="Cabin"/>
                <a:sym typeface="Cabin"/>
              </a:rPr>
              <a:t>We will be starting with a blank matrix since we all have different objects we are protecting. Part of the matrix will have to be completed on your own, but there are criteria that we can all agree upon. Let’s record that together. What are those criteria?</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Elicit responses from students.</a:t>
            </a:r>
            <a:r>
              <a:rPr lang="en">
                <a:solidFill>
                  <a:schemeClr val="dk1"/>
                </a:solidFill>
                <a:latin typeface="Cabin"/>
                <a:ea typeface="Cabin"/>
                <a:cs typeface="Cabin"/>
                <a:sym typeface="Cabin"/>
              </a:rPr>
              <a:t> Students should say that one criterion is that the device needs to be made of materials that are good at protecting our objects. Ask students how we know that a material is protective. Students should respond that the material would reduce peak forces on the object it is protecting. Since students have already spent time exploring and naming the properties a material’s structure has to have to make it protective, explain to them that we will just use the criterion of force reduction on our matrix. Direct students add this to our matrix by writing “force reduction” in the red space under column head “Consideration #1”.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Direct students to think about other considerations that they or their stakeholders thought were important. Ask students to share 2-3 more examples and show them on the slide where those considerations would be added to the matrix. Have students think about considerations specific for their designs and list them under the other ”Consideration” columns on their own handouts.</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Say,</a:t>
            </a:r>
            <a:r>
              <a:rPr i="1" lang="en">
                <a:solidFill>
                  <a:schemeClr val="dk1"/>
                </a:solidFill>
                <a:latin typeface="Cabin"/>
                <a:ea typeface="Cabin"/>
                <a:cs typeface="Cabin"/>
                <a:sym typeface="Cabin"/>
              </a:rPr>
              <a:t> Now that we have thought a bit about what we want to evaluate for our material choices, we need to start assigning ratings to how well potential design materials meet our needs. Luckily, scientists and engineers have done many tests on the materials we have analyzed so far, and we were able to get some of those data to use in our redesign.</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latin typeface="Cabin"/>
              <a:ea typeface="Cabin"/>
              <a:cs typeface="Cabin"/>
              <a:sym typeface="Cabin"/>
            </a:endParaRPr>
          </a:p>
        </p:txBody>
      </p:sp>
      <p:sp>
        <p:nvSpPr>
          <p:cNvPr id="239" name="Google Shape;239;p13: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4: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Establish reliability of data.</a:t>
            </a:r>
            <a:r>
              <a:rPr lang="en">
                <a:solidFill>
                  <a:schemeClr val="dk1"/>
                </a:solidFill>
                <a:latin typeface="Cabin"/>
                <a:ea typeface="Cabin"/>
                <a:cs typeface="Cabin"/>
                <a:sym typeface="Cabin"/>
              </a:rPr>
              <a:t> Project </a:t>
            </a:r>
            <a:r>
              <a:rPr b="1" lang="en">
                <a:solidFill>
                  <a:schemeClr val="dk1"/>
                </a:solidFill>
                <a:latin typeface="Cabin"/>
                <a:ea typeface="Cabin"/>
                <a:cs typeface="Cabin"/>
                <a:sym typeface="Cabin"/>
              </a:rPr>
              <a:t>slide N</a:t>
            </a:r>
            <a:r>
              <a:rPr lang="en">
                <a:solidFill>
                  <a:schemeClr val="dk1"/>
                </a:solidFill>
                <a:latin typeface="Cabin"/>
                <a:ea typeface="Cabin"/>
                <a:cs typeface="Cabin"/>
                <a:sym typeface="Cabin"/>
              </a:rPr>
              <a:t>. Explain to students that data for commonly used packaging materials were assembled for our use by the Michigan State University School of Packaging. This specific school at Michigan State University is focused on studying (and teaching) all aspects of packaging and packing materials. Researchers who work there took our list of common materials from Lesson 11 and ran the same amount of each material through a Life Cycle Analysis (LCA) program that is used to look at completed package designs. They were able to assess the environmental impacts of each material. The university also used some of their preexisting data on the same amounts of materials to rate each material in the other categories shown.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Explain categories.</a:t>
            </a:r>
            <a:r>
              <a:rPr lang="en">
                <a:solidFill>
                  <a:schemeClr val="dk1"/>
                </a:solidFill>
                <a:latin typeface="Cabin"/>
                <a:ea typeface="Cabin"/>
                <a:cs typeface="Cabin"/>
                <a:sym typeface="Cabin"/>
              </a:rPr>
              <a:t> Go over each category with students. Tell students that if they find a relevant category they should add it to their matrix as a new consideration. The ratings are given as a comparison from one material to another. Below is a description of each category:</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Force reduction- how well the material reduces force on an object that it is protecting (The better the score is, the better the device does at reducing peak forces.)</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Reusable- It can collide with other objects again and again and still be reused.</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Robust- how well the device will work to protect heavy objects in a collision</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Recyclable- how easy it is to recycle the material based upon availability of recycling sites for that material</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Biodegradable- how well the material will biodegrade when thrown out</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Low material cost- how cheap the material is for the same size sample</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Low cost to work with the material in a design- how inexpensive it is to pay a worker to use that material to create a design solution</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Water used for production- how much water goes into the creation of that material</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Does not contribute to climate change- how small of an impact the creation of the material has on climate change</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Ask students to copy any relevant considerations that they would like to use from this list onto their matrix.</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SzPts val="1400"/>
              <a:buNone/>
            </a:pPr>
            <a:r>
              <a:t/>
            </a:r>
            <a:endParaRPr b="1" sz="1000">
              <a:solidFill>
                <a:schemeClr val="dk1"/>
              </a:solidFill>
              <a:latin typeface="Cabin"/>
              <a:ea typeface="Cabin"/>
              <a:cs typeface="Cabin"/>
              <a:sym typeface="Cabin"/>
            </a:endParaRPr>
          </a:p>
        </p:txBody>
      </p:sp>
      <p:sp>
        <p:nvSpPr>
          <p:cNvPr id="249" name="Google Shape;249;p14: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15: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Present data for student analysis.</a:t>
            </a:r>
            <a:r>
              <a:rPr lang="en">
                <a:solidFill>
                  <a:schemeClr val="dk1"/>
                </a:solidFill>
                <a:latin typeface="Cabin"/>
                <a:ea typeface="Cabin"/>
                <a:cs typeface="Cabin"/>
                <a:sym typeface="Cabin"/>
              </a:rPr>
              <a:t> Project </a:t>
            </a:r>
            <a:r>
              <a:rPr b="1" lang="en">
                <a:solidFill>
                  <a:schemeClr val="dk1"/>
                </a:solidFill>
                <a:latin typeface="Cabin"/>
                <a:ea typeface="Cabin"/>
                <a:cs typeface="Cabin"/>
                <a:sym typeface="Cabin"/>
              </a:rPr>
              <a:t>slide O</a:t>
            </a:r>
            <a:r>
              <a:rPr lang="en">
                <a:solidFill>
                  <a:schemeClr val="dk1"/>
                </a:solidFill>
                <a:latin typeface="Cabin"/>
                <a:ea typeface="Cabin"/>
                <a:cs typeface="Cabin"/>
                <a:sym typeface="Cabin"/>
              </a:rPr>
              <a:t>. Distribute </a:t>
            </a:r>
            <a:r>
              <a:rPr i="1" lang="en">
                <a:solidFill>
                  <a:srgbClr val="0B0B0B"/>
                </a:solidFill>
                <a:latin typeface="Cabin"/>
                <a:ea typeface="Cabin"/>
                <a:cs typeface="Cabin"/>
                <a:sym typeface="Cabin"/>
              </a:rPr>
              <a:t>Additional Material Considerations Matrix</a:t>
            </a:r>
            <a:r>
              <a:rPr lang="en">
                <a:solidFill>
                  <a:schemeClr val="dk1"/>
                </a:solidFill>
                <a:latin typeface="Cabin"/>
                <a:ea typeface="Cabin"/>
                <a:cs typeface="Cabin"/>
                <a:sym typeface="Cabin"/>
              </a:rPr>
              <a:t> to students. Show students the 5-point rating scale that has been used, which matches rating scales used in previous units. Remind students once again that to have a rating of 5 means that it works well with that consideration. A rating of 1 means that it does not work well with that consideration. </a:t>
            </a:r>
            <a:endParaRPr>
              <a:latin typeface="Cabin"/>
              <a:ea typeface="Cabin"/>
              <a:cs typeface="Cabin"/>
              <a:sym typeface="Cabin"/>
            </a:endParaRPr>
          </a:p>
        </p:txBody>
      </p:sp>
      <p:sp>
        <p:nvSpPr>
          <p:cNvPr id="261" name="Google Shape;261;p15: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16: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Transfer data to the Decision Matrix. </a:t>
            </a:r>
            <a:r>
              <a:rPr lang="en">
                <a:solidFill>
                  <a:schemeClr val="dk1"/>
                </a:solidFill>
                <a:latin typeface="Cabin"/>
                <a:ea typeface="Cabin"/>
                <a:cs typeface="Cabin"/>
                <a:sym typeface="Cabin"/>
              </a:rPr>
              <a:t>Project</a:t>
            </a:r>
            <a:r>
              <a:rPr b="1" lang="en">
                <a:solidFill>
                  <a:schemeClr val="dk1"/>
                </a:solidFill>
                <a:latin typeface="Cabin"/>
                <a:ea typeface="Cabin"/>
                <a:cs typeface="Cabin"/>
                <a:sym typeface="Cabin"/>
              </a:rPr>
              <a:t> slide P</a:t>
            </a:r>
            <a:r>
              <a:rPr lang="en">
                <a:solidFill>
                  <a:schemeClr val="dk1"/>
                </a:solidFill>
                <a:latin typeface="Cabin"/>
                <a:ea typeface="Cabin"/>
                <a:cs typeface="Cabin"/>
                <a:sym typeface="Cabin"/>
              </a:rPr>
              <a:t>.</a:t>
            </a:r>
            <a:r>
              <a:rPr b="1" lang="en">
                <a:solidFill>
                  <a:schemeClr val="dk1"/>
                </a:solidFill>
                <a:latin typeface="Cabin"/>
                <a:ea typeface="Cabin"/>
                <a:cs typeface="Cabin"/>
                <a:sym typeface="Cabin"/>
              </a:rPr>
              <a:t> </a:t>
            </a:r>
            <a:r>
              <a:rPr lang="en">
                <a:solidFill>
                  <a:schemeClr val="dk1"/>
                </a:solidFill>
                <a:latin typeface="Cabin"/>
                <a:ea typeface="Cabin"/>
                <a:cs typeface="Cabin"/>
                <a:sym typeface="Cabin"/>
              </a:rPr>
              <a:t>Tell students that in a moment they will transfer only the data that apply to their materials and design from </a:t>
            </a:r>
            <a:r>
              <a:rPr i="1" lang="en">
                <a:solidFill>
                  <a:srgbClr val="0B0B0B"/>
                </a:solidFill>
                <a:latin typeface="Cabin"/>
                <a:ea typeface="Cabin"/>
                <a:cs typeface="Cabin"/>
                <a:sym typeface="Cabin"/>
              </a:rPr>
              <a:t>Additional Material Considerations Matrix</a:t>
            </a:r>
            <a:r>
              <a:rPr lang="en">
                <a:solidFill>
                  <a:schemeClr val="dk1"/>
                </a:solidFill>
                <a:latin typeface="Cabin"/>
                <a:ea typeface="Cabin"/>
                <a:cs typeface="Cabin"/>
                <a:sym typeface="Cabin"/>
              </a:rPr>
              <a:t> to </a:t>
            </a:r>
            <a:r>
              <a:rPr i="1" lang="en">
                <a:solidFill>
                  <a:srgbClr val="0B0B0B"/>
                </a:solidFill>
                <a:latin typeface="Cabin"/>
                <a:ea typeface="Cabin"/>
                <a:cs typeface="Cabin"/>
                <a:sym typeface="Cabin"/>
              </a:rPr>
              <a:t>Decision Matrix</a:t>
            </a:r>
            <a:r>
              <a:rPr lang="en">
                <a:solidFill>
                  <a:schemeClr val="dk1"/>
                </a:solidFill>
                <a:latin typeface="Cabin"/>
                <a:ea typeface="Cabin"/>
                <a:cs typeface="Cabin"/>
                <a:sym typeface="Cabin"/>
              </a:rPr>
              <a:t>. Remind students that the ratings were done comparatively, so the materials were compared to each other to create those ratings. </a:t>
            </a:r>
            <a:r>
              <a:rPr i="1" lang="en">
                <a:solidFill>
                  <a:schemeClr val="dk1"/>
                </a:solidFill>
                <a:latin typeface="Cabin"/>
                <a:ea typeface="Cabin"/>
                <a:cs typeface="Cabin"/>
                <a:sym typeface="Cabin"/>
              </a:rPr>
              <a:t>If</a:t>
            </a:r>
            <a:r>
              <a:rPr lang="en">
                <a:solidFill>
                  <a:schemeClr val="dk1"/>
                </a:solidFill>
                <a:latin typeface="Cabin"/>
                <a:ea typeface="Cabin"/>
                <a:cs typeface="Cabin"/>
                <a:sym typeface="Cabin"/>
              </a:rPr>
              <a:t> students are going to consider materials </a:t>
            </a:r>
            <a:r>
              <a:rPr i="1" lang="en">
                <a:solidFill>
                  <a:schemeClr val="dk1"/>
                </a:solidFill>
                <a:latin typeface="Cabin"/>
                <a:ea typeface="Cabin"/>
                <a:cs typeface="Cabin"/>
                <a:sym typeface="Cabin"/>
              </a:rPr>
              <a:t>not</a:t>
            </a:r>
            <a:r>
              <a:rPr lang="en">
                <a:solidFill>
                  <a:schemeClr val="dk1"/>
                </a:solidFill>
                <a:latin typeface="Cabin"/>
                <a:ea typeface="Cabin"/>
                <a:cs typeface="Cabin"/>
                <a:sym typeface="Cabin"/>
              </a:rPr>
              <a:t> on </a:t>
            </a:r>
            <a:r>
              <a:rPr i="1" lang="en">
                <a:solidFill>
                  <a:srgbClr val="0B0B0B"/>
                </a:solidFill>
                <a:latin typeface="Cabin"/>
                <a:ea typeface="Cabin"/>
                <a:cs typeface="Cabin"/>
                <a:sym typeface="Cabin"/>
              </a:rPr>
              <a:t>Additional Material Considerations Matrix</a:t>
            </a:r>
            <a:r>
              <a:rPr lang="en">
                <a:solidFill>
                  <a:schemeClr val="dk1"/>
                </a:solidFill>
                <a:latin typeface="Cabin"/>
                <a:ea typeface="Cabin"/>
                <a:cs typeface="Cabin"/>
                <a:sym typeface="Cabin"/>
              </a:rPr>
              <a:t>, have them think about how well the material would do compared to the others for each consideration and assign it a fair rating on the scale of 1-5. Tell students they can ask a partner to help verify any newly developed ratings as they are transferring the data to the </a:t>
            </a:r>
            <a:r>
              <a:rPr i="1" lang="en">
                <a:solidFill>
                  <a:srgbClr val="0B0B0B"/>
                </a:solidFill>
                <a:latin typeface="Cabin"/>
                <a:ea typeface="Cabin"/>
                <a:cs typeface="Cabin"/>
                <a:sym typeface="Cabin"/>
              </a:rPr>
              <a:t>Decision Matrix</a:t>
            </a:r>
            <a:r>
              <a:rPr lang="en">
                <a:solidFill>
                  <a:schemeClr val="dk1"/>
                </a:solidFill>
                <a:latin typeface="Cabin"/>
                <a:ea typeface="Cabin"/>
                <a:cs typeface="Cabin"/>
                <a:sym typeface="Cabin"/>
              </a:rPr>
              <a:t>. Allow students time to transfer and develop ratings.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latin typeface="Cabin"/>
              <a:ea typeface="Cabin"/>
              <a:cs typeface="Cabin"/>
              <a:sym typeface="Cabin"/>
            </a:endParaRPr>
          </a:p>
        </p:txBody>
      </p:sp>
      <p:sp>
        <p:nvSpPr>
          <p:cNvPr id="276" name="Google Shape;276;p16: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17: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Establish a need for ranking criteria. </a:t>
            </a:r>
            <a:r>
              <a:rPr lang="en">
                <a:solidFill>
                  <a:schemeClr val="dk1"/>
                </a:solidFill>
                <a:latin typeface="Cabin"/>
                <a:ea typeface="Cabin"/>
                <a:cs typeface="Cabin"/>
                <a:sym typeface="Cabin"/>
              </a:rPr>
              <a:t>Once students have had a chance to fill in the data on the matrix, bring them back together as a class. Project </a:t>
            </a:r>
            <a:r>
              <a:rPr b="1" lang="en">
                <a:solidFill>
                  <a:schemeClr val="dk1"/>
                </a:solidFill>
                <a:latin typeface="Cabin"/>
                <a:ea typeface="Cabin"/>
                <a:cs typeface="Cabin"/>
                <a:sym typeface="Cabin"/>
              </a:rPr>
              <a:t>slide Q</a:t>
            </a:r>
            <a:r>
              <a:rPr lang="en">
                <a:solidFill>
                  <a:schemeClr val="dk1"/>
                </a:solidFill>
                <a:latin typeface="Cabin"/>
                <a:ea typeface="Cabin"/>
                <a:cs typeface="Cabin"/>
                <a:sym typeface="Cabin"/>
              </a:rPr>
              <a:t>.</a:t>
            </a:r>
            <a:r>
              <a:rPr b="1" lang="en">
                <a:solidFill>
                  <a:schemeClr val="dk1"/>
                </a:solidFill>
                <a:latin typeface="Cabin"/>
                <a:ea typeface="Cabin"/>
                <a:cs typeface="Cabin"/>
                <a:sym typeface="Cabin"/>
              </a:rPr>
              <a:t> </a:t>
            </a:r>
            <a:r>
              <a:rPr lang="en">
                <a:solidFill>
                  <a:schemeClr val="dk1"/>
                </a:solidFill>
                <a:latin typeface="Cabin"/>
                <a:ea typeface="Cabin"/>
                <a:cs typeface="Cabin"/>
                <a:sym typeface="Cabin"/>
              </a:rPr>
              <a:t>Have students turn and talk with a partner about the question on the slide.</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Use your Total points” column to total up the ratings for your particular design.</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If we were to look at the ratings and select the best material based upon which material has the highest overall rating, would that be the best material for the design? Why or why not?</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Say, </a:t>
            </a:r>
            <a:r>
              <a:rPr i="1" lang="en">
                <a:solidFill>
                  <a:schemeClr val="dk1"/>
                </a:solidFill>
                <a:latin typeface="Cabin"/>
                <a:ea typeface="Cabin"/>
                <a:cs typeface="Cabin"/>
                <a:sym typeface="Cabin"/>
              </a:rPr>
              <a:t>OK, now we have all our important data and considerations rated together on one page. If we were to just go across the chart and look at the material with the highest total points, would that material be the best for the design? Why or why not?</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Review primary and secondary considerations.</a:t>
            </a:r>
            <a:r>
              <a:rPr lang="en">
                <a:solidFill>
                  <a:schemeClr val="dk1"/>
                </a:solidFill>
                <a:latin typeface="Cabin"/>
                <a:ea typeface="Cabin"/>
                <a:cs typeface="Cabin"/>
                <a:sym typeface="Cabin"/>
              </a:rPr>
              <a:t> Allow students to respond. Students will mention that while some materials are rated lower in force reduction, the other considerations bring up the overall score. Remind students that in </a:t>
            </a:r>
            <a:r>
              <a:rPr i="1" lang="en">
                <a:solidFill>
                  <a:schemeClr val="dk1"/>
                </a:solidFill>
                <a:latin typeface="Cabin"/>
                <a:ea typeface="Cabin"/>
                <a:cs typeface="Cabin"/>
                <a:sym typeface="Cabin"/>
              </a:rPr>
              <a:t>Tsunami Unit </a:t>
            </a:r>
            <a:r>
              <a:rPr lang="en">
                <a:solidFill>
                  <a:schemeClr val="dk1"/>
                </a:solidFill>
                <a:latin typeface="Cabin"/>
                <a:ea typeface="Cabin"/>
                <a:cs typeface="Cabin"/>
                <a:sym typeface="Cabin"/>
              </a:rPr>
              <a:t>we determined that some considerations were more important than others. We reviewed our criteria and constraints and labeled the most important considerations as primary and the others as secondary.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Ask students,</a:t>
            </a:r>
            <a:r>
              <a:rPr i="1" lang="en">
                <a:solidFill>
                  <a:schemeClr val="dk1"/>
                </a:solidFill>
                <a:latin typeface="Cabin"/>
                <a:ea typeface="Cabin"/>
                <a:cs typeface="Cabin"/>
                <a:sym typeface="Cabin"/>
              </a:rPr>
              <a:t> If we were to establish a consideration across all materials that was the most important, what would it be?</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Students should respond that the primary goal of reducing peak forces on the object would be the primary consideration. Have all students put the letter “P” for primary above the ”Force reduction” column.</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Ask students if there are other considerations that are still important to the functionality of the device, but may not be a primary consideration.  Allow students to give a couple of examples of these considerations, such as the consideration of reusability.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Remind students that in the past we have used the secondary consideration designation for these criteria and constraints. Explain to students that we will label the consideration columns that fall into this category with the letter “S” as secondary considerations.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latin typeface="Cabin"/>
              <a:ea typeface="Cabin"/>
              <a:cs typeface="Cabin"/>
              <a:sym typeface="Cabin"/>
            </a:endParaRPr>
          </a:p>
        </p:txBody>
      </p:sp>
      <p:sp>
        <p:nvSpPr>
          <p:cNvPr id="286" name="Google Shape;286;p17: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18: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Introduce </a:t>
            </a:r>
            <a:r>
              <a:rPr b="1" i="1" lang="en">
                <a:solidFill>
                  <a:schemeClr val="dk1"/>
                </a:solidFill>
                <a:latin typeface="Cabin"/>
                <a:ea typeface="Cabin"/>
                <a:cs typeface="Cabin"/>
                <a:sym typeface="Cabin"/>
              </a:rPr>
              <a:t>tertiary considerations</a:t>
            </a:r>
            <a:r>
              <a:rPr b="1" lang="en">
                <a:solidFill>
                  <a:schemeClr val="dk1"/>
                </a:solidFill>
                <a:latin typeface="Cabin"/>
                <a:ea typeface="Cabin"/>
                <a:cs typeface="Cabin"/>
                <a:sym typeface="Cabin"/>
              </a:rPr>
              <a:t>.</a:t>
            </a:r>
            <a:r>
              <a:rPr lang="en">
                <a:solidFill>
                  <a:schemeClr val="dk1"/>
                </a:solidFill>
                <a:latin typeface="Cabin"/>
                <a:ea typeface="Cabin"/>
                <a:cs typeface="Cabin"/>
                <a:sym typeface="Cabin"/>
              </a:rPr>
              <a:t> Project </a:t>
            </a:r>
            <a:r>
              <a:rPr b="1" lang="en">
                <a:solidFill>
                  <a:schemeClr val="dk1"/>
                </a:solidFill>
                <a:latin typeface="Cabin"/>
                <a:ea typeface="Cabin"/>
                <a:cs typeface="Cabin"/>
                <a:sym typeface="Cabin"/>
              </a:rPr>
              <a:t>slide R</a:t>
            </a:r>
            <a:r>
              <a:rPr lang="en">
                <a:solidFill>
                  <a:schemeClr val="dk1"/>
                </a:solidFill>
                <a:latin typeface="Cabin"/>
                <a:ea typeface="Cabin"/>
                <a:cs typeface="Cabin"/>
                <a:sym typeface="Cabin"/>
              </a:rPr>
              <a:t>. Say, </a:t>
            </a:r>
            <a:r>
              <a:rPr i="1" lang="en">
                <a:solidFill>
                  <a:schemeClr val="dk1"/>
                </a:solidFill>
                <a:latin typeface="Cabin"/>
                <a:ea typeface="Cabin"/>
                <a:cs typeface="Cabin"/>
                <a:sym typeface="Cabin"/>
              </a:rPr>
              <a:t>Since we are working with stakeholder input, all of the input is valuable. But, we also know that some input is more valuable than others. Some stakeholder considerations are based around the actual function of the device, and some may be superficial. Because of this, we will be adding a third level of classification called </a:t>
            </a:r>
            <a:r>
              <a:rPr lang="en">
                <a:solidFill>
                  <a:schemeClr val="dk1"/>
                </a:solidFill>
                <a:latin typeface="Cabin"/>
                <a:ea typeface="Cabin"/>
                <a:cs typeface="Cabin"/>
                <a:sym typeface="Cabin"/>
              </a:rPr>
              <a:t>tertiary considerations</a:t>
            </a:r>
            <a:r>
              <a:rPr i="1" lang="en">
                <a:solidFill>
                  <a:schemeClr val="dk1"/>
                </a:solidFill>
                <a:latin typeface="Cabin"/>
                <a:ea typeface="Cabin"/>
                <a:cs typeface="Cabin"/>
                <a:sym typeface="Cabin"/>
              </a:rPr>
              <a:t>. </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Explain that this third level of classification falls below the rank of secondary considerations. It will be the least important of our considerations when working with a material. Tell students that now that we have an established prioritization system, we will start assigning our considerations as primary, secondary, or tertiary.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Determine primary criteria.</a:t>
            </a:r>
            <a:r>
              <a:rPr lang="en">
                <a:solidFill>
                  <a:schemeClr val="dk1"/>
                </a:solidFill>
                <a:latin typeface="Cabin"/>
                <a:ea typeface="Cabin"/>
                <a:cs typeface="Cabin"/>
                <a:sym typeface="Cabin"/>
              </a:rPr>
              <a:t> Ask students to look at their charts on </a:t>
            </a:r>
            <a:r>
              <a:rPr i="1" lang="en">
                <a:solidFill>
                  <a:srgbClr val="0B0B0B"/>
                </a:solidFill>
                <a:latin typeface="Cabin"/>
                <a:ea typeface="Cabin"/>
                <a:cs typeface="Cabin"/>
                <a:sym typeface="Cabin"/>
              </a:rPr>
              <a:t>Decision Matrix</a:t>
            </a:r>
            <a:r>
              <a:rPr i="1" lang="en">
                <a:solidFill>
                  <a:schemeClr val="dk1"/>
                </a:solidFill>
                <a:latin typeface="Cabin"/>
                <a:ea typeface="Cabin"/>
                <a:cs typeface="Cabin"/>
                <a:sym typeface="Cabin"/>
              </a:rPr>
              <a:t> </a:t>
            </a:r>
            <a:r>
              <a:rPr lang="en">
                <a:solidFill>
                  <a:schemeClr val="dk1"/>
                </a:solidFill>
                <a:latin typeface="Cabin"/>
                <a:ea typeface="Cabin"/>
                <a:cs typeface="Cabin"/>
                <a:sym typeface="Cabin"/>
              </a:rPr>
              <a:t>and start by determining what should be considered primary criteria and label the space above these columns with the letter “P”. Remind students that the primary considerations are the most important items to the stakeholders.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Determine secondary and tertiary criteria. </a:t>
            </a:r>
            <a:r>
              <a:rPr lang="en">
                <a:solidFill>
                  <a:schemeClr val="dk1"/>
                </a:solidFill>
                <a:latin typeface="Cabin"/>
                <a:ea typeface="Cabin"/>
                <a:cs typeface="Cabin"/>
                <a:sym typeface="Cabin"/>
              </a:rPr>
              <a:t>After establishing primary considerations, students should look at the remaining considerations and determine if they are of more or less importance. If any considerations are deemed to be of a higher importance, but not quite primary criteria, students should label the space above these secondary criteria with the letter “S”. All other criteria should be labeled tertiary criteria with the letter “T” in the space above their corresponding columns.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latin typeface="Cabin"/>
              <a:ea typeface="Cabin"/>
              <a:cs typeface="Cabin"/>
              <a:sym typeface="Cabin"/>
            </a:endParaRPr>
          </a:p>
        </p:txBody>
      </p:sp>
      <p:sp>
        <p:nvSpPr>
          <p:cNvPr id="297" name="Google Shape;297;p18: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19: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Check criteria rankings with a partner.</a:t>
            </a:r>
            <a:r>
              <a:rPr lang="en">
                <a:solidFill>
                  <a:schemeClr val="dk1"/>
                </a:solidFill>
                <a:latin typeface="Cabin"/>
                <a:ea typeface="Cabin"/>
                <a:cs typeface="Cabin"/>
                <a:sym typeface="Cabin"/>
              </a:rPr>
              <a:t> Display </a:t>
            </a:r>
            <a:r>
              <a:rPr b="1" lang="en">
                <a:solidFill>
                  <a:schemeClr val="dk1"/>
                </a:solidFill>
                <a:latin typeface="Cabin"/>
                <a:ea typeface="Cabin"/>
                <a:cs typeface="Cabin"/>
                <a:sym typeface="Cabin"/>
              </a:rPr>
              <a:t>slide S</a:t>
            </a:r>
            <a:r>
              <a:rPr lang="en">
                <a:solidFill>
                  <a:schemeClr val="dk1"/>
                </a:solidFill>
                <a:latin typeface="Cabin"/>
                <a:ea typeface="Cabin"/>
                <a:cs typeface="Cabin"/>
                <a:sym typeface="Cabin"/>
              </a:rPr>
              <a:t>. Ask students to share their labeling of primary, secondary, and tertiary criteria with a partner. Tell students that engineers also do this, and it is referred to as checking for interrater reliability. Students should give their partner feedback orally using the prompts on slide S. Students should adjust their rankings as needed based upon the feedback from their partner.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Compare overall scores of materials.</a:t>
            </a:r>
            <a:r>
              <a:rPr lang="en">
                <a:solidFill>
                  <a:schemeClr val="dk1"/>
                </a:solidFill>
                <a:latin typeface="Cabin"/>
                <a:ea typeface="Cabin"/>
                <a:cs typeface="Cabin"/>
                <a:sym typeface="Cabin"/>
              </a:rPr>
              <a:t> Alter point values based upon rankings. Discuss ways to elevate the primary criteria and constraints with students. Example prompts and responses can be found in the teacher guide.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p>
        </p:txBody>
      </p:sp>
      <p:sp>
        <p:nvSpPr>
          <p:cNvPr id="308" name="Google Shape;308;p19: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20: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Project </a:t>
            </a:r>
            <a:r>
              <a:rPr b="1" lang="en">
                <a:solidFill>
                  <a:schemeClr val="dk1"/>
                </a:solidFill>
                <a:latin typeface="Cabin"/>
                <a:ea typeface="Cabin"/>
                <a:cs typeface="Cabin"/>
                <a:sym typeface="Cabin"/>
              </a:rPr>
              <a:t>slide T</a:t>
            </a:r>
            <a:r>
              <a:rPr lang="en">
                <a:solidFill>
                  <a:schemeClr val="dk1"/>
                </a:solidFill>
                <a:latin typeface="Cabin"/>
                <a:ea typeface="Cabin"/>
                <a:cs typeface="Cabin"/>
                <a:sym typeface="Cabin"/>
              </a:rPr>
              <a:t>. Allow students time to do the multiplication involved with weighting the scores and then the addition in totalling up the new material score. If some students struggle with how to do this multiplication, use the example on slide T to walk them through this process of weighting the criteria, multiplying based upon the rating, and then adding up the total new points for each material. </a:t>
            </a:r>
            <a:endParaRPr>
              <a:latin typeface="Cabin"/>
              <a:ea typeface="Cabin"/>
              <a:cs typeface="Cabin"/>
              <a:sym typeface="Cabin"/>
            </a:endParaRPr>
          </a:p>
        </p:txBody>
      </p:sp>
      <p:sp>
        <p:nvSpPr>
          <p:cNvPr id="320" name="Google Shape;320;p20: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21: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Reflect on weighted scores.</a:t>
            </a:r>
            <a:r>
              <a:rPr lang="en">
                <a:solidFill>
                  <a:schemeClr val="dk1"/>
                </a:solidFill>
                <a:latin typeface="Cabin"/>
                <a:ea typeface="Cabin"/>
                <a:cs typeface="Cabin"/>
                <a:sym typeface="Cabin"/>
              </a:rPr>
              <a:t> Project </a:t>
            </a:r>
            <a:r>
              <a:rPr b="1" lang="en">
                <a:solidFill>
                  <a:schemeClr val="dk1"/>
                </a:solidFill>
                <a:latin typeface="Cabin"/>
                <a:ea typeface="Cabin"/>
                <a:cs typeface="Cabin"/>
                <a:sym typeface="Cabin"/>
              </a:rPr>
              <a:t>slide U</a:t>
            </a:r>
            <a:r>
              <a:rPr lang="en">
                <a:solidFill>
                  <a:schemeClr val="dk1"/>
                </a:solidFill>
                <a:latin typeface="Cabin"/>
                <a:ea typeface="Cabin"/>
                <a:cs typeface="Cabin"/>
                <a:sym typeface="Cabin"/>
              </a:rPr>
              <a:t>. Have students compare pre vs. post weighted scores with a partner using the prompts on slide U. After students have had a chance to share, bring the class back together. Ask students if they believe these scores are more reliable.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Some students may respond that these scores are more reflective of what the design needs to do, and some will be able to see a change in the highest rated material for their design. Others may point out that there are some criteria that should be “gating” criteria, that if they do not meet that criteria they should be automatically eliminated (they don’t make it through the gate to the next round of consideration). Verify for students that this process involves a lot of trade-offs from one aspect to another, and all criteria may not be met perfectly. But, by looking at the different considerations from a stakeholder’s point of view we learn how to make the designs work for the consumers.</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Consider design optimization consequences. </a:t>
            </a:r>
            <a:r>
              <a:rPr lang="en">
                <a:solidFill>
                  <a:schemeClr val="dk1"/>
                </a:solidFill>
                <a:latin typeface="Cabin"/>
                <a:ea typeface="Cabin"/>
                <a:cs typeface="Cabin"/>
                <a:sym typeface="Cabin"/>
              </a:rPr>
              <a:t>Say, </a:t>
            </a:r>
            <a:r>
              <a:rPr i="1" lang="en">
                <a:solidFill>
                  <a:schemeClr val="dk1"/>
                </a:solidFill>
                <a:latin typeface="Cabin"/>
                <a:ea typeface="Cabin"/>
                <a:cs typeface="Cabin"/>
                <a:sym typeface="Cabin"/>
              </a:rPr>
              <a:t>Let’s think about some of these trade-offs we are now considering with the use of certain materials. It is clear from our different ratings that certain changes and decisions have unintended consequences. By elevating certain criteria, we may be discounting something else important to the stakeholder, or by only looking at the total scores we may miss something else that is more important to the overall rankings. Let’s spend some time reflecting on these choices that we would like to make to optimize our designs.</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p:txBody>
      </p:sp>
      <p:sp>
        <p:nvSpPr>
          <p:cNvPr id="351" name="Google Shape;351;p21: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2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3" name="Google Shape;363;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Display </a:t>
            </a:r>
            <a:r>
              <a:rPr b="1" lang="en">
                <a:solidFill>
                  <a:schemeClr val="dk1"/>
                </a:solidFill>
                <a:latin typeface="Cabin"/>
                <a:ea typeface="Cabin"/>
                <a:cs typeface="Cabin"/>
                <a:sym typeface="Cabin"/>
              </a:rPr>
              <a:t>slide V</a:t>
            </a:r>
            <a:r>
              <a:rPr lang="en">
                <a:solidFill>
                  <a:schemeClr val="dk1"/>
                </a:solidFill>
                <a:latin typeface="Cabin"/>
                <a:ea typeface="Cabin"/>
                <a:cs typeface="Cabin"/>
                <a:sym typeface="Cabin"/>
              </a:rPr>
              <a:t>. Remind students that in the</a:t>
            </a:r>
            <a:r>
              <a:rPr i="1" lang="en">
                <a:solidFill>
                  <a:schemeClr val="dk1"/>
                </a:solidFill>
                <a:latin typeface="Cabin"/>
                <a:ea typeface="Cabin"/>
                <a:cs typeface="Cabin"/>
                <a:sym typeface="Cabin"/>
              </a:rPr>
              <a:t> Homemade Heater Unit</a:t>
            </a:r>
            <a:r>
              <a:rPr lang="en">
                <a:solidFill>
                  <a:schemeClr val="dk1"/>
                </a:solidFill>
                <a:latin typeface="Cabin"/>
                <a:ea typeface="Cabin"/>
                <a:cs typeface="Cabin"/>
                <a:sym typeface="Cabin"/>
              </a:rPr>
              <a:t> they worked with identifying what consequences their choices would have on the design and how that might affect stakeholders. Tell students that we will be working with a modified version of this activity to consider the implications of our trade-offs and prioritizing of considerations.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SzPts val="1400"/>
              <a:buNone/>
            </a:pPr>
            <a:r>
              <a:rPr lang="en">
                <a:solidFill>
                  <a:schemeClr val="dk1"/>
                </a:solidFill>
                <a:latin typeface="Cabin"/>
                <a:ea typeface="Cabin"/>
                <a:cs typeface="Cabin"/>
                <a:sym typeface="Cabin"/>
              </a:rPr>
              <a:t>Instruct students to create the chart on the slide on the next clean page in their notebook. Explain that in the first column students will write their different decisions that they have made regarding their materials and design, according to their most recent matrix exercise. In the second column, students will consider what affects these changes will have on other stakeholder concerns or input, and in the third column students will consider what affects this design decision would have on the overall design of the device. Give students time to complete this trade-off and prioritization reflection on their own.</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SzPts val="1400"/>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SzPts val="1400"/>
              <a:buNone/>
            </a:pPr>
            <a:r>
              <a:rPr lang="en">
                <a:solidFill>
                  <a:schemeClr val="dk1"/>
                </a:solidFill>
                <a:latin typeface="Cabin"/>
                <a:ea typeface="Cabin"/>
                <a:cs typeface="Cabin"/>
                <a:sym typeface="Cabin"/>
              </a:rPr>
              <a:t>Say, </a:t>
            </a:r>
            <a:r>
              <a:rPr i="1" lang="en">
                <a:solidFill>
                  <a:schemeClr val="dk1"/>
                </a:solidFill>
                <a:latin typeface="Cabin"/>
                <a:ea typeface="Cabin"/>
                <a:cs typeface="Cabin"/>
                <a:sym typeface="Cabin"/>
              </a:rPr>
              <a:t>We have done a lot of work to ensure we are making informed choices for our designs. Now that we have some great ideas for how to improve our designs for our stakeholders, let’s take some time at the start of our next lesson to synthesize all the data and trade-offs. We can then craft an argument to support our design for marketing purposes. We will also use our science ideas to evaluate some new protective designs!</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 Horizontal" showMasterSp="0">
  <p:cSld name="TITLE_AND_BODY_1">
    <p:bg>
      <p:bgPr>
        <a:solidFill>
          <a:srgbClr val="F3F3F3"/>
        </a:solidFill>
      </p:bgPr>
    </p:bg>
    <p:spTree>
      <p:nvGrpSpPr>
        <p:cNvPr id="7" name="Shape 7"/>
        <p:cNvGrpSpPr/>
        <p:nvPr/>
      </p:nvGrpSpPr>
      <p:grpSpPr>
        <a:xfrm>
          <a:off x="0" y="0"/>
          <a:ext cx="0" cy="0"/>
          <a:chOff x="0" y="0"/>
          <a:chExt cx="0" cy="0"/>
        </a:xfrm>
      </p:grpSpPr>
      <p:sp>
        <p:nvSpPr>
          <p:cNvPr id="8" name="Google Shape;8;p2"/>
          <p:cNvSpPr txBox="1"/>
          <p:nvPr>
            <p:ph idx="12" type="sldNum"/>
          </p:nvPr>
        </p:nvSpPr>
        <p:spPr>
          <a:xfrm>
            <a:off x="4475913" y="6500813"/>
            <a:ext cx="185400" cy="255600"/>
          </a:xfrm>
          <a:prstGeom prst="rect">
            <a:avLst/>
          </a:prstGeom>
          <a:noFill/>
          <a:ln>
            <a:noFill/>
          </a:ln>
        </p:spPr>
        <p:txBody>
          <a:bodyPr anchorCtr="0" anchor="t" bIns="29750" lIns="29750" spcFirstLastPara="1" rIns="29750" wrap="square" tIns="29750">
            <a:noAutofit/>
          </a:bodyPr>
          <a:lstStyle>
            <a:lvl1pPr indent="0" lvl="0"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400">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9" name="Shape 9"/>
        <p:cNvGrpSpPr/>
        <p:nvPr/>
      </p:nvGrpSpPr>
      <p:grpSpPr>
        <a:xfrm>
          <a:off x="0" y="0"/>
          <a:ext cx="0" cy="0"/>
          <a:chOff x="0" y="0"/>
          <a:chExt cx="0" cy="0"/>
        </a:xfrm>
      </p:grpSpPr>
      <p:sp>
        <p:nvSpPr>
          <p:cNvPr id="10" name="Google Shape;10;p3"/>
          <p:cNvSpPr txBox="1"/>
          <p:nvPr>
            <p:ph idx="1" type="subTitle"/>
          </p:nvPr>
        </p:nvSpPr>
        <p:spPr>
          <a:xfrm>
            <a:off x="457200" y="74350"/>
            <a:ext cx="3148800" cy="4743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11" name="Google Shape;11;p3"/>
          <p:cNvSpPr txBox="1"/>
          <p:nvPr>
            <p:ph idx="2" type="body"/>
          </p:nvPr>
        </p:nvSpPr>
        <p:spPr>
          <a:xfrm>
            <a:off x="457200" y="1536625"/>
            <a:ext cx="8229600" cy="4555200"/>
          </a:xfrm>
          <a:prstGeom prst="rect">
            <a:avLst/>
          </a:prstGeom>
          <a:noFill/>
          <a:ln>
            <a:noFill/>
          </a:ln>
        </p:spPr>
        <p:txBody>
          <a:bodyPr anchorCtr="0" anchor="t" bIns="91425" lIns="91425" spcFirstLastPara="1" rIns="91425" wrap="square" tIns="91425">
            <a:noAutofit/>
          </a:bodyPr>
          <a:lstStyle>
            <a:lvl1pPr indent="-457200" lvl="0" marL="457200" algn="l">
              <a:lnSpc>
                <a:spcPct val="115000"/>
              </a:lnSpc>
              <a:spcBef>
                <a:spcPts val="0"/>
              </a:spcBef>
              <a:spcAft>
                <a:spcPts val="0"/>
              </a:spcAft>
              <a:buSzPts val="3600"/>
              <a:buChar char="●"/>
              <a:defRPr/>
            </a:lvl1pPr>
            <a:lvl2pPr indent="-431800" lvl="1" marL="914400" algn="l">
              <a:lnSpc>
                <a:spcPct val="115000"/>
              </a:lnSpc>
              <a:spcBef>
                <a:spcPts val="1600"/>
              </a:spcBef>
              <a:spcAft>
                <a:spcPts val="0"/>
              </a:spcAft>
              <a:buSzPts val="3200"/>
              <a:buChar char="○"/>
              <a:defRPr/>
            </a:lvl2pPr>
            <a:lvl3pPr indent="-381000" lvl="2" marL="1371600" algn="l">
              <a:lnSpc>
                <a:spcPct val="115000"/>
              </a:lnSpc>
              <a:spcBef>
                <a:spcPts val="1600"/>
              </a:spcBef>
              <a:spcAft>
                <a:spcPts val="0"/>
              </a:spcAft>
              <a:buSzPts val="2400"/>
              <a:buChar char="■"/>
              <a:defRPr/>
            </a:lvl3pPr>
            <a:lvl4pPr indent="-381000" lvl="3" marL="1828800" algn="l">
              <a:lnSpc>
                <a:spcPct val="115000"/>
              </a:lnSpc>
              <a:spcBef>
                <a:spcPts val="1600"/>
              </a:spcBef>
              <a:spcAft>
                <a:spcPts val="0"/>
              </a:spcAft>
              <a:buSzPts val="2400"/>
              <a:buChar char="●"/>
              <a:defRPr/>
            </a:lvl4pPr>
            <a:lvl5pPr indent="-342900" lvl="4" marL="2286000" algn="l">
              <a:lnSpc>
                <a:spcPct val="115000"/>
              </a:lnSpc>
              <a:spcBef>
                <a:spcPts val="1600"/>
              </a:spcBef>
              <a:spcAft>
                <a:spcPts val="0"/>
              </a:spcAft>
              <a:buSzPts val="18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2" name="Google Shape;12;p3"/>
          <p:cNvSpPr txBox="1"/>
          <p:nvPr>
            <p:ph type="title"/>
          </p:nvPr>
        </p:nvSpPr>
        <p:spPr>
          <a:xfrm>
            <a:off x="457200" y="548650"/>
            <a:ext cx="8229600" cy="685800"/>
          </a:xfrm>
          <a:prstGeom prst="rect">
            <a:avLst/>
          </a:prstGeom>
          <a:solidFill>
            <a:srgbClr val="9A2F3E"/>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3200"/>
              <a:buFont typeface="Arial"/>
              <a:buNone/>
              <a:defRPr b="0" i="0" sz="3200" u="none" cap="none" strike="noStrike">
                <a:solidFill>
                  <a:srgbClr val="FFFFFF"/>
                </a:solidFill>
                <a:latin typeface="Boogaloo"/>
                <a:ea typeface="Boogaloo"/>
                <a:cs typeface="Boogaloo"/>
                <a:sym typeface="Boogaloo"/>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13" name="Google Shape;13;p3"/>
          <p:cNvSpPr txBox="1"/>
          <p:nvPr>
            <p:ph idx="3" type="subTitle"/>
          </p:nvPr>
        </p:nvSpPr>
        <p:spPr>
          <a:xfrm>
            <a:off x="5538000" y="74350"/>
            <a:ext cx="3148800" cy="4743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F3F3F3"/>
        </a:solidFill>
      </p:bgPr>
    </p:bg>
    <p:spTree>
      <p:nvGrpSpPr>
        <p:cNvPr id="14" name="Shape 14"/>
        <p:cNvGrpSpPr/>
        <p:nvPr/>
      </p:nvGrpSpPr>
      <p:grpSpPr>
        <a:xfrm>
          <a:off x="0" y="0"/>
          <a:ext cx="0" cy="0"/>
          <a:chOff x="0" y="0"/>
          <a:chExt cx="0" cy="0"/>
        </a:xfrm>
      </p:grpSpPr>
      <p:sp>
        <p:nvSpPr>
          <p:cNvPr id="15" name="Google Shape;15;p4"/>
          <p:cNvSpPr txBox="1"/>
          <p:nvPr>
            <p:ph type="ctrTitle"/>
          </p:nvPr>
        </p:nvSpPr>
        <p:spPr>
          <a:xfrm>
            <a:off x="457200" y="992775"/>
            <a:ext cx="8229600" cy="2736900"/>
          </a:xfrm>
          <a:prstGeom prst="rect">
            <a:avLst/>
          </a:prstGeom>
          <a:noFill/>
          <a:ln>
            <a:noFill/>
          </a:ln>
        </p:spPr>
        <p:txBody>
          <a:bodyPr anchorCtr="0" anchor="b" bIns="91425" lIns="91425" spcFirstLastPara="1" rIns="91425" wrap="square" tIns="91425">
            <a:noAutofit/>
          </a:bodyPr>
          <a:lstStyle>
            <a:lvl1pPr lvl="0" marR="0" rtl="0" algn="ctr">
              <a:lnSpc>
                <a:spcPct val="100000"/>
              </a:lnSpc>
              <a:spcBef>
                <a:spcPts val="0"/>
              </a:spcBef>
              <a:spcAft>
                <a:spcPts val="0"/>
              </a:spcAft>
              <a:buClr>
                <a:srgbClr val="9A2F3E"/>
              </a:buClr>
              <a:buSzPts val="3600"/>
              <a:buFont typeface="Boogaloo"/>
              <a:buChar char="●"/>
              <a:defRPr b="0" i="0" sz="3600" u="none" cap="none" strike="noStrike">
                <a:solidFill>
                  <a:srgbClr val="9A2F3E"/>
                </a:solidFill>
                <a:latin typeface="Boogaloo"/>
                <a:ea typeface="Boogaloo"/>
                <a:cs typeface="Boogaloo"/>
                <a:sym typeface="Boogaloo"/>
              </a:defRPr>
            </a:lvl1pPr>
            <a:lvl2pPr lvl="1"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9pPr>
          </a:lstStyle>
          <a:p/>
        </p:txBody>
      </p:sp>
      <p:sp>
        <p:nvSpPr>
          <p:cNvPr id="16" name="Google Shape;16;p4"/>
          <p:cNvSpPr txBox="1"/>
          <p:nvPr>
            <p:ph idx="1" type="subTitle"/>
          </p:nvPr>
        </p:nvSpPr>
        <p:spPr>
          <a:xfrm>
            <a:off x="457200" y="3778825"/>
            <a:ext cx="8229600" cy="10569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2400"/>
              <a:buFont typeface="Cabin Condensed"/>
              <a:buNone/>
              <a:defRPr sz="2400">
                <a:solidFill>
                  <a:schemeClr val="dk1"/>
                </a:solidFill>
                <a:latin typeface="Cabin Condensed"/>
                <a:ea typeface="Cabin Condensed"/>
                <a:cs typeface="Cabin Condensed"/>
                <a:sym typeface="Cabin Condensed"/>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7" name="Google Shape;17;p4"/>
          <p:cNvSpPr txBox="1"/>
          <p:nvPr>
            <p:ph idx="2" type="subTitle"/>
          </p:nvPr>
        </p:nvSpPr>
        <p:spPr>
          <a:xfrm>
            <a:off x="457200" y="74350"/>
            <a:ext cx="3148800" cy="4743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18" name="Google Shape;18;p4"/>
          <p:cNvSpPr txBox="1"/>
          <p:nvPr>
            <p:ph idx="3" type="title"/>
          </p:nvPr>
        </p:nvSpPr>
        <p:spPr>
          <a:xfrm>
            <a:off x="457200" y="548650"/>
            <a:ext cx="8229600" cy="685800"/>
          </a:xfrm>
          <a:prstGeom prst="rect">
            <a:avLst/>
          </a:prstGeom>
          <a:solidFill>
            <a:srgbClr val="9A2F3E"/>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3200"/>
              <a:buFont typeface="Arial"/>
              <a:buNone/>
              <a:defRPr b="0" i="0" sz="3200" u="none" cap="none" strike="noStrike">
                <a:solidFill>
                  <a:srgbClr val="FFFFFF"/>
                </a:solidFill>
                <a:latin typeface="Boogaloo"/>
                <a:ea typeface="Boogaloo"/>
                <a:cs typeface="Boogaloo"/>
                <a:sym typeface="Boogaloo"/>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19" name="Google Shape;19;p4"/>
          <p:cNvSpPr txBox="1"/>
          <p:nvPr>
            <p:ph idx="4" type="subTitle"/>
          </p:nvPr>
        </p:nvSpPr>
        <p:spPr>
          <a:xfrm>
            <a:off x="5538000" y="74350"/>
            <a:ext cx="3148800" cy="4743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0" name="Shape 20"/>
        <p:cNvGrpSpPr/>
        <p:nvPr/>
      </p:nvGrpSpPr>
      <p:grpSpPr>
        <a:xfrm>
          <a:off x="0" y="0"/>
          <a:ext cx="0" cy="0"/>
          <a:chOff x="0" y="0"/>
          <a:chExt cx="0" cy="0"/>
        </a:xfrm>
      </p:grpSpPr>
      <p:sp>
        <p:nvSpPr>
          <p:cNvPr id="21" name="Google Shape;21;p5"/>
          <p:cNvSpPr txBox="1"/>
          <p:nvPr>
            <p:ph type="title"/>
          </p:nvPr>
        </p:nvSpPr>
        <p:spPr>
          <a:xfrm>
            <a:off x="457200" y="2867800"/>
            <a:ext cx="8229600" cy="1122300"/>
          </a:xfrm>
          <a:prstGeom prst="rect">
            <a:avLst/>
          </a:prstGeom>
          <a:noFill/>
          <a:ln>
            <a:noFill/>
          </a:ln>
        </p:spPr>
        <p:txBody>
          <a:bodyPr anchorCtr="0" anchor="ctr" bIns="91425" lIns="91425" spcFirstLastPara="1" rIns="91425" wrap="square" tIns="91425">
            <a:noAutofit/>
          </a:bodyPr>
          <a:lstStyle>
            <a:lvl1pPr lvl="0" marR="0" rtl="0" algn="ctr">
              <a:lnSpc>
                <a:spcPct val="100000"/>
              </a:lnSpc>
              <a:spcBef>
                <a:spcPts val="0"/>
              </a:spcBef>
              <a:spcAft>
                <a:spcPts val="0"/>
              </a:spcAft>
              <a:buClr>
                <a:srgbClr val="9A2F3E"/>
              </a:buClr>
              <a:buSzPts val="3600"/>
              <a:buFont typeface="Boogaloo"/>
              <a:buChar char="●"/>
              <a:defRPr b="0" i="0" sz="3600" u="none" cap="none" strike="noStrike">
                <a:solidFill>
                  <a:srgbClr val="9A2F3E"/>
                </a:solidFill>
                <a:latin typeface="Boogaloo"/>
                <a:ea typeface="Boogaloo"/>
                <a:cs typeface="Boogaloo"/>
                <a:sym typeface="Boogaloo"/>
              </a:defRPr>
            </a:lvl1pPr>
            <a:lvl2pPr lvl="1"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9pPr>
          </a:lstStyle>
          <a:p/>
        </p:txBody>
      </p:sp>
      <p:sp>
        <p:nvSpPr>
          <p:cNvPr id="22" name="Google Shape;22;p5"/>
          <p:cNvSpPr txBox="1"/>
          <p:nvPr>
            <p:ph idx="1" type="subTitle"/>
          </p:nvPr>
        </p:nvSpPr>
        <p:spPr>
          <a:xfrm>
            <a:off x="457200" y="74350"/>
            <a:ext cx="3148800" cy="4743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23" name="Google Shape;23;p5"/>
          <p:cNvSpPr txBox="1"/>
          <p:nvPr>
            <p:ph idx="2" type="title"/>
          </p:nvPr>
        </p:nvSpPr>
        <p:spPr>
          <a:xfrm>
            <a:off x="457200" y="548650"/>
            <a:ext cx="8229600" cy="685800"/>
          </a:xfrm>
          <a:prstGeom prst="rect">
            <a:avLst/>
          </a:prstGeom>
          <a:solidFill>
            <a:srgbClr val="9A2F3E"/>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3200"/>
              <a:buFont typeface="Arial"/>
              <a:buNone/>
              <a:defRPr b="0" i="0" sz="3200" u="none" cap="none" strike="noStrike">
                <a:solidFill>
                  <a:srgbClr val="FFFFFF"/>
                </a:solidFill>
                <a:latin typeface="Boogaloo"/>
                <a:ea typeface="Boogaloo"/>
                <a:cs typeface="Boogaloo"/>
                <a:sym typeface="Boogaloo"/>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24" name="Google Shape;24;p5"/>
          <p:cNvSpPr txBox="1"/>
          <p:nvPr>
            <p:ph idx="3" type="subTitle"/>
          </p:nvPr>
        </p:nvSpPr>
        <p:spPr>
          <a:xfrm>
            <a:off x="5538000" y="74350"/>
            <a:ext cx="3148800" cy="4743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p:nvPr/>
        </p:nvSpPr>
        <p:spPr>
          <a:xfrm>
            <a:off x="457200" y="548640"/>
            <a:ext cx="8229600" cy="685800"/>
          </a:xfrm>
          <a:prstGeom prst="rect">
            <a:avLst/>
          </a:prstGeom>
          <a:solidFill>
            <a:srgbClr val="9A2F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rgbClr val="FFFFFF"/>
                </a:solidFill>
                <a:latin typeface="Boogaloo"/>
                <a:ea typeface="Boogaloo"/>
                <a:cs typeface="Boogaloo"/>
                <a:sym typeface="Boogaloo"/>
              </a:rPr>
              <a:t>Slide Title</a:t>
            </a:r>
            <a:endParaRPr b="0" i="0" sz="3200" u="none" cap="none" strike="noStrike">
              <a:solidFill>
                <a:srgbClr val="FFFFFF"/>
              </a:solidFill>
              <a:latin typeface="Boogaloo"/>
              <a:ea typeface="Boogaloo"/>
              <a:cs typeface="Boogaloo"/>
              <a:sym typeface="Boogaloo"/>
            </a:endParaRPr>
          </a:p>
        </p:txBody>
      </p:sp>
      <p:sp>
        <p:nvSpPr>
          <p:cNvPr id="27" name="Google Shape;27;p6"/>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1" i="0" lang="en" sz="1800" u="none" cap="none" strike="noStrike">
                <a:solidFill>
                  <a:srgbClr val="9A2F3E"/>
                </a:solidFill>
                <a:latin typeface="Boogaloo"/>
                <a:ea typeface="Boogaloo"/>
                <a:cs typeface="Boogaloo"/>
                <a:sym typeface="Boogaloo"/>
              </a:rPr>
              <a:t>Slide ID</a:t>
            </a:r>
            <a:endParaRPr b="0" i="0" sz="1800" u="none" cap="none" strike="noStrike">
              <a:solidFill>
                <a:srgbClr val="9A2F3E"/>
              </a:solidFill>
              <a:latin typeface="Boogaloo"/>
              <a:ea typeface="Boogaloo"/>
              <a:cs typeface="Boogaloo"/>
              <a:sym typeface="Boogaloo"/>
            </a:endParaRPr>
          </a:p>
        </p:txBody>
      </p:sp>
      <p:sp>
        <p:nvSpPr>
          <p:cNvPr id="28" name="Google Shape;28;p6"/>
          <p:cNvSpPr/>
          <p:nvPr/>
        </p:nvSpPr>
        <p:spPr>
          <a:xfrm>
            <a:off x="4967825"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r">
              <a:lnSpc>
                <a:spcPct val="100000"/>
              </a:lnSpc>
              <a:spcBef>
                <a:spcPts val="0"/>
              </a:spcBef>
              <a:spcAft>
                <a:spcPts val="0"/>
              </a:spcAft>
              <a:buClr>
                <a:srgbClr val="EA7D73"/>
              </a:buClr>
              <a:buSzPts val="2000"/>
              <a:buFont typeface="Arial"/>
              <a:buNone/>
            </a:pPr>
            <a:r>
              <a:rPr b="1" i="0" lang="en" sz="1800" u="none" cap="none" strike="noStrike">
                <a:solidFill>
                  <a:srgbClr val="9A2F3E"/>
                </a:solidFill>
                <a:latin typeface="Boogaloo"/>
                <a:ea typeface="Boogaloo"/>
                <a:cs typeface="Boogaloo"/>
                <a:sym typeface="Boogaloo"/>
              </a:rPr>
              <a:t>Unit ID • Lesson ID</a:t>
            </a:r>
            <a:endParaRPr b="0" i="0" sz="1800" u="none" cap="none" strike="noStrike">
              <a:solidFill>
                <a:srgbClr val="9A2F3E"/>
              </a:solidFill>
              <a:latin typeface="Boogaloo"/>
              <a:ea typeface="Boogaloo"/>
              <a:cs typeface="Boogaloo"/>
              <a:sym typeface="Boogaloo"/>
            </a:endParaRPr>
          </a:p>
        </p:txBody>
      </p:sp>
      <p:sp>
        <p:nvSpPr>
          <p:cNvPr id="29" name="Google Shape;29;p6"/>
          <p:cNvSpPr txBox="1"/>
          <p:nvPr>
            <p:ph idx="1" type="subTitle"/>
          </p:nvPr>
        </p:nvSpPr>
        <p:spPr>
          <a:xfrm>
            <a:off x="457200" y="74350"/>
            <a:ext cx="3148800" cy="4743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30" name="Google Shape;30;p6"/>
          <p:cNvSpPr txBox="1"/>
          <p:nvPr>
            <p:ph type="title"/>
          </p:nvPr>
        </p:nvSpPr>
        <p:spPr>
          <a:xfrm>
            <a:off x="457200" y="548650"/>
            <a:ext cx="8229600" cy="685800"/>
          </a:xfrm>
          <a:prstGeom prst="rect">
            <a:avLst/>
          </a:prstGeom>
          <a:solidFill>
            <a:srgbClr val="9A2F3E"/>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3200"/>
              <a:buFont typeface="Arial"/>
              <a:buNone/>
              <a:defRPr b="0" i="0" sz="3200" u="none" cap="none" strike="noStrike">
                <a:solidFill>
                  <a:srgbClr val="FFFFFF"/>
                </a:solidFill>
                <a:latin typeface="Boogaloo"/>
                <a:ea typeface="Boogaloo"/>
                <a:cs typeface="Boogaloo"/>
                <a:sym typeface="Boogaloo"/>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31" name="Google Shape;31;p6"/>
          <p:cNvSpPr txBox="1"/>
          <p:nvPr>
            <p:ph idx="2" type="subTitle"/>
          </p:nvPr>
        </p:nvSpPr>
        <p:spPr>
          <a:xfrm>
            <a:off x="5538000" y="74350"/>
            <a:ext cx="3148800" cy="4743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2" name="Shape 32"/>
        <p:cNvGrpSpPr/>
        <p:nvPr/>
      </p:nvGrpSpPr>
      <p:grpSpPr>
        <a:xfrm>
          <a:off x="0" y="0"/>
          <a:ext cx="0" cy="0"/>
          <a:chOff x="0" y="0"/>
          <a:chExt cx="0" cy="0"/>
        </a:xfrm>
      </p:grpSpPr>
      <p:sp>
        <p:nvSpPr>
          <p:cNvPr id="33" name="Google Shape;33;p7"/>
          <p:cNvSpPr txBox="1"/>
          <p:nvPr>
            <p:ph type="title"/>
          </p:nvPr>
        </p:nvSpPr>
        <p:spPr>
          <a:xfrm>
            <a:off x="457200" y="1644225"/>
            <a:ext cx="3853500" cy="1976400"/>
          </a:xfrm>
          <a:prstGeom prst="rect">
            <a:avLst/>
          </a:prstGeom>
          <a:noFill/>
          <a:ln>
            <a:noFill/>
          </a:ln>
        </p:spPr>
        <p:txBody>
          <a:bodyPr anchorCtr="0" anchor="b" bIns="91425" lIns="91425" spcFirstLastPara="1" rIns="91425" wrap="square" tIns="91425">
            <a:noAutofit/>
          </a:bodyPr>
          <a:lstStyle>
            <a:lvl1pPr lvl="0" marR="0" rtl="0" algn="ctr">
              <a:lnSpc>
                <a:spcPct val="100000"/>
              </a:lnSpc>
              <a:spcBef>
                <a:spcPts val="0"/>
              </a:spcBef>
              <a:spcAft>
                <a:spcPts val="0"/>
              </a:spcAft>
              <a:buClr>
                <a:srgbClr val="9A2F3E"/>
              </a:buClr>
              <a:buSzPts val="2400"/>
              <a:buFont typeface="Cabin Condensed"/>
              <a:buChar char="●"/>
              <a:defRPr b="0" i="0" sz="2400" u="none" cap="none" strike="noStrike">
                <a:solidFill>
                  <a:srgbClr val="9A2F3E"/>
                </a:solidFill>
                <a:latin typeface="Cabin Condensed"/>
                <a:ea typeface="Cabin Condensed"/>
                <a:cs typeface="Cabin Condensed"/>
                <a:sym typeface="Cabin Condensed"/>
              </a:defRPr>
            </a:lvl1pPr>
            <a:lvl2pPr lvl="1"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9pPr>
          </a:lstStyle>
          <a:p/>
        </p:txBody>
      </p:sp>
      <p:sp>
        <p:nvSpPr>
          <p:cNvPr id="34" name="Google Shape;34;p7"/>
          <p:cNvSpPr txBox="1"/>
          <p:nvPr>
            <p:ph idx="1" type="subTitle"/>
          </p:nvPr>
        </p:nvSpPr>
        <p:spPr>
          <a:xfrm>
            <a:off x="457225" y="3737425"/>
            <a:ext cx="3853500" cy="1646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B0B0B"/>
              </a:buClr>
              <a:buSzPts val="1800"/>
              <a:buFont typeface="Cabin"/>
              <a:buNone/>
              <a:defRPr sz="1800">
                <a:solidFill>
                  <a:srgbClr val="0B0B0B"/>
                </a:solidFill>
                <a:latin typeface="Cabin"/>
                <a:ea typeface="Cabin"/>
                <a:cs typeface="Cabin"/>
                <a:sym typeface="Cabin"/>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5" name="Google Shape;35;p7"/>
          <p:cNvSpPr txBox="1"/>
          <p:nvPr>
            <p:ph idx="2" type="subTitle"/>
          </p:nvPr>
        </p:nvSpPr>
        <p:spPr>
          <a:xfrm>
            <a:off x="457200" y="74350"/>
            <a:ext cx="3148800" cy="4743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36" name="Google Shape;36;p7"/>
          <p:cNvSpPr txBox="1"/>
          <p:nvPr>
            <p:ph idx="3" type="title"/>
          </p:nvPr>
        </p:nvSpPr>
        <p:spPr>
          <a:xfrm>
            <a:off x="457200" y="548650"/>
            <a:ext cx="8229600" cy="685800"/>
          </a:xfrm>
          <a:prstGeom prst="rect">
            <a:avLst/>
          </a:prstGeom>
          <a:solidFill>
            <a:srgbClr val="9A2F3E"/>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3200"/>
              <a:buFont typeface="Arial"/>
              <a:buNone/>
              <a:defRPr b="0" i="0" sz="3200" u="none" cap="none" strike="noStrike">
                <a:solidFill>
                  <a:srgbClr val="FFFFFF"/>
                </a:solidFill>
                <a:latin typeface="Boogaloo"/>
                <a:ea typeface="Boogaloo"/>
                <a:cs typeface="Boogaloo"/>
                <a:sym typeface="Boogaloo"/>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37" name="Google Shape;37;p7"/>
          <p:cNvSpPr txBox="1"/>
          <p:nvPr>
            <p:ph idx="4" type="subTitle"/>
          </p:nvPr>
        </p:nvSpPr>
        <p:spPr>
          <a:xfrm>
            <a:off x="5538000" y="74350"/>
            <a:ext cx="3148800" cy="4743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38" name="Google Shape;38;p7"/>
          <p:cNvSpPr txBox="1"/>
          <p:nvPr>
            <p:ph idx="5" type="body"/>
          </p:nvPr>
        </p:nvSpPr>
        <p:spPr>
          <a:xfrm>
            <a:off x="4568850" y="1676825"/>
            <a:ext cx="4117800" cy="4418100"/>
          </a:xfrm>
          <a:prstGeom prst="rect">
            <a:avLst/>
          </a:prstGeom>
          <a:solidFill>
            <a:srgbClr val="F5EDEF"/>
          </a:solidFill>
          <a:ln cap="flat" cmpd="sng" w="9525">
            <a:solidFill>
              <a:srgbClr val="9A2F3E"/>
            </a:solidFill>
            <a:prstDash val="solid"/>
            <a:round/>
            <a:headEnd len="sm" w="sm" type="none"/>
            <a:tailEnd len="sm" w="sm" type="none"/>
          </a:ln>
        </p:spPr>
        <p:txBody>
          <a:bodyPr anchorCtr="0" anchor="t" bIns="91425" lIns="91425" spcFirstLastPara="1" rIns="91425" wrap="square" tIns="91425">
            <a:noAutofit/>
          </a:bodyPr>
          <a:lstStyle>
            <a:lvl1pPr indent="-457200" lvl="0" marL="457200" algn="l">
              <a:lnSpc>
                <a:spcPct val="115000"/>
              </a:lnSpc>
              <a:spcBef>
                <a:spcPts val="0"/>
              </a:spcBef>
              <a:spcAft>
                <a:spcPts val="0"/>
              </a:spcAft>
              <a:buSzPts val="3600"/>
              <a:buChar char="●"/>
              <a:defRPr/>
            </a:lvl1pPr>
            <a:lvl2pPr indent="-431800" lvl="1" marL="914400" algn="l">
              <a:lnSpc>
                <a:spcPct val="115000"/>
              </a:lnSpc>
              <a:spcBef>
                <a:spcPts val="1600"/>
              </a:spcBef>
              <a:spcAft>
                <a:spcPts val="0"/>
              </a:spcAft>
              <a:buSzPts val="3200"/>
              <a:buChar char="○"/>
              <a:defRPr/>
            </a:lvl2pPr>
            <a:lvl3pPr indent="-381000" lvl="2" marL="1371600" algn="l">
              <a:lnSpc>
                <a:spcPct val="115000"/>
              </a:lnSpc>
              <a:spcBef>
                <a:spcPts val="1600"/>
              </a:spcBef>
              <a:spcAft>
                <a:spcPts val="0"/>
              </a:spcAft>
              <a:buSzPts val="2400"/>
              <a:buChar char="■"/>
              <a:defRPr/>
            </a:lvl3pPr>
            <a:lvl4pPr indent="-381000" lvl="3" marL="1828800" algn="l">
              <a:lnSpc>
                <a:spcPct val="115000"/>
              </a:lnSpc>
              <a:spcBef>
                <a:spcPts val="1600"/>
              </a:spcBef>
              <a:spcAft>
                <a:spcPts val="0"/>
              </a:spcAft>
              <a:buSzPts val="2400"/>
              <a:buChar char="●"/>
              <a:defRPr/>
            </a:lvl4pPr>
            <a:lvl5pPr indent="-342900" lvl="4" marL="2286000" algn="l">
              <a:lnSpc>
                <a:spcPct val="115000"/>
              </a:lnSpc>
              <a:spcBef>
                <a:spcPts val="1600"/>
              </a:spcBef>
              <a:spcAft>
                <a:spcPts val="0"/>
              </a:spcAft>
              <a:buSzPts val="18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l Content">
  <p:cSld name="SECTION_TITLE_AND_DESCRIPTION_1">
    <p:spTree>
      <p:nvGrpSpPr>
        <p:cNvPr id="39" name="Shape 39"/>
        <p:cNvGrpSpPr/>
        <p:nvPr/>
      </p:nvGrpSpPr>
      <p:grpSpPr>
        <a:xfrm>
          <a:off x="0" y="0"/>
          <a:ext cx="0" cy="0"/>
          <a:chOff x="0" y="0"/>
          <a:chExt cx="0" cy="0"/>
        </a:xfrm>
      </p:grpSpPr>
      <p:sp>
        <p:nvSpPr>
          <p:cNvPr id="40" name="Google Shape;40;p8"/>
          <p:cNvSpPr txBox="1"/>
          <p:nvPr>
            <p:ph type="title"/>
          </p:nvPr>
        </p:nvSpPr>
        <p:spPr>
          <a:xfrm>
            <a:off x="457200" y="1650950"/>
            <a:ext cx="8229600" cy="1972800"/>
          </a:xfrm>
          <a:prstGeom prst="rect">
            <a:avLst/>
          </a:prstGeom>
          <a:noFill/>
          <a:ln>
            <a:noFill/>
          </a:ln>
        </p:spPr>
        <p:txBody>
          <a:bodyPr anchorCtr="0" anchor="b" bIns="91425" lIns="91425" spcFirstLastPara="1" rIns="91425" wrap="square" tIns="91425">
            <a:noAutofit/>
          </a:bodyPr>
          <a:lstStyle>
            <a:lvl1pPr lvl="0" marR="0" rtl="0" algn="ctr">
              <a:lnSpc>
                <a:spcPct val="100000"/>
              </a:lnSpc>
              <a:spcBef>
                <a:spcPts val="0"/>
              </a:spcBef>
              <a:spcAft>
                <a:spcPts val="0"/>
              </a:spcAft>
              <a:buClr>
                <a:srgbClr val="9A2F3E"/>
              </a:buClr>
              <a:buSzPts val="2400"/>
              <a:buFont typeface="Cabin Condensed"/>
              <a:buChar char="●"/>
              <a:defRPr b="0" i="0" sz="2400" u="none" cap="none" strike="noStrike">
                <a:solidFill>
                  <a:srgbClr val="9A2F3E"/>
                </a:solidFill>
                <a:latin typeface="Cabin Condensed"/>
                <a:ea typeface="Cabin Condensed"/>
                <a:cs typeface="Cabin Condensed"/>
                <a:sym typeface="Cabin Condensed"/>
              </a:defRPr>
            </a:lvl1pPr>
            <a:lvl2pPr lvl="1"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9pPr>
          </a:lstStyle>
          <a:p/>
        </p:txBody>
      </p:sp>
      <p:sp>
        <p:nvSpPr>
          <p:cNvPr id="41" name="Google Shape;41;p8"/>
          <p:cNvSpPr txBox="1"/>
          <p:nvPr>
            <p:ph idx="1" type="subTitle"/>
          </p:nvPr>
        </p:nvSpPr>
        <p:spPr>
          <a:xfrm>
            <a:off x="457200" y="3740375"/>
            <a:ext cx="8229600" cy="1643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B0B0B"/>
              </a:buClr>
              <a:buSzPts val="1800"/>
              <a:buFont typeface="Cabin"/>
              <a:buNone/>
              <a:defRPr sz="1800">
                <a:solidFill>
                  <a:srgbClr val="0B0B0B"/>
                </a:solidFill>
                <a:latin typeface="Cabin"/>
                <a:ea typeface="Cabin"/>
                <a:cs typeface="Cabin"/>
                <a:sym typeface="Cabin"/>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2" name="Google Shape;42;p8"/>
          <p:cNvSpPr txBox="1"/>
          <p:nvPr>
            <p:ph idx="2" type="subTitle"/>
          </p:nvPr>
        </p:nvSpPr>
        <p:spPr>
          <a:xfrm>
            <a:off x="457200" y="74350"/>
            <a:ext cx="3148800" cy="4743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43" name="Google Shape;43;p8"/>
          <p:cNvSpPr txBox="1"/>
          <p:nvPr>
            <p:ph idx="3" type="title"/>
          </p:nvPr>
        </p:nvSpPr>
        <p:spPr>
          <a:xfrm>
            <a:off x="457200" y="548650"/>
            <a:ext cx="8229600" cy="685800"/>
          </a:xfrm>
          <a:prstGeom prst="rect">
            <a:avLst/>
          </a:prstGeom>
          <a:solidFill>
            <a:srgbClr val="9A2F3E"/>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3200"/>
              <a:buFont typeface="Arial"/>
              <a:buNone/>
              <a:defRPr b="0" i="0" sz="3200" u="none" cap="none" strike="noStrike">
                <a:solidFill>
                  <a:srgbClr val="FFFFFF"/>
                </a:solidFill>
                <a:latin typeface="Boogaloo"/>
                <a:ea typeface="Boogaloo"/>
                <a:cs typeface="Boogaloo"/>
                <a:sym typeface="Boogaloo"/>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44" name="Google Shape;44;p8"/>
          <p:cNvSpPr txBox="1"/>
          <p:nvPr>
            <p:ph idx="4" type="subTitle"/>
          </p:nvPr>
        </p:nvSpPr>
        <p:spPr>
          <a:xfrm>
            <a:off x="5538000" y="74350"/>
            <a:ext cx="3148800" cy="4743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9"/>
          <p:cNvSpPr txBox="1"/>
          <p:nvPr>
            <p:ph idx="1" type="body"/>
          </p:nvPr>
        </p:nvSpPr>
        <p:spPr>
          <a:xfrm>
            <a:off x="457200" y="5640775"/>
            <a:ext cx="5853300" cy="8067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Clr>
                <a:srgbClr val="0B0B0B"/>
              </a:buClr>
              <a:buSzPts val="1800"/>
              <a:buFont typeface="Cabin"/>
              <a:buNone/>
              <a:defRPr sz="1800">
                <a:solidFill>
                  <a:srgbClr val="0B0B0B"/>
                </a:solidFill>
                <a:latin typeface="Cabin"/>
                <a:ea typeface="Cabin"/>
                <a:cs typeface="Cabin"/>
                <a:sym typeface="Cabin"/>
              </a:defRPr>
            </a:lvl1pPr>
          </a:lstStyle>
          <a:p/>
        </p:txBody>
      </p:sp>
      <p:sp>
        <p:nvSpPr>
          <p:cNvPr id="47" name="Google Shape;47;p9"/>
          <p:cNvSpPr txBox="1"/>
          <p:nvPr>
            <p:ph idx="2" type="subTitle"/>
          </p:nvPr>
        </p:nvSpPr>
        <p:spPr>
          <a:xfrm>
            <a:off x="457200" y="74350"/>
            <a:ext cx="3148800" cy="4743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48" name="Google Shape;48;p9"/>
          <p:cNvSpPr txBox="1"/>
          <p:nvPr>
            <p:ph type="title"/>
          </p:nvPr>
        </p:nvSpPr>
        <p:spPr>
          <a:xfrm>
            <a:off x="457200" y="548650"/>
            <a:ext cx="8229600" cy="685800"/>
          </a:xfrm>
          <a:prstGeom prst="rect">
            <a:avLst/>
          </a:prstGeom>
          <a:solidFill>
            <a:srgbClr val="9A2F3E"/>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3200"/>
              <a:buFont typeface="Arial"/>
              <a:buNone/>
              <a:defRPr b="0" i="0" sz="3200" u="none" cap="none" strike="noStrike">
                <a:solidFill>
                  <a:srgbClr val="FFFFFF"/>
                </a:solidFill>
                <a:latin typeface="Boogaloo"/>
                <a:ea typeface="Boogaloo"/>
                <a:cs typeface="Boogaloo"/>
                <a:sym typeface="Boogaloo"/>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49" name="Google Shape;49;p9"/>
          <p:cNvSpPr txBox="1"/>
          <p:nvPr>
            <p:ph idx="3" type="subTitle"/>
          </p:nvPr>
        </p:nvSpPr>
        <p:spPr>
          <a:xfrm>
            <a:off x="5538000" y="74350"/>
            <a:ext cx="3148800" cy="4743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_1">
    <p:bg>
      <p:bgPr>
        <a:solidFill>
          <a:srgbClr val="FFFFFF"/>
        </a:solidFill>
      </p:bgPr>
    </p:bg>
    <p:spTree>
      <p:nvGrpSpPr>
        <p:cNvPr id="51" name="Shape 51"/>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6" name="Shape 56"/>
        <p:cNvGrpSpPr/>
        <p:nvPr/>
      </p:nvGrpSpPr>
      <p:grpSpPr>
        <a:xfrm>
          <a:off x="0" y="0"/>
          <a:ext cx="0" cy="0"/>
          <a:chOff x="0" y="0"/>
          <a:chExt cx="0" cy="0"/>
        </a:xfrm>
      </p:grpSpPr>
      <p:sp>
        <p:nvSpPr>
          <p:cNvPr id="57" name="Google Shape;57;p13"/>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38761D"/>
              </a:buClr>
              <a:buSzPts val="3600"/>
              <a:buFont typeface="Dosis"/>
              <a:buNone/>
              <a:defRPr b="1" sz="3600">
                <a:solidFill>
                  <a:srgbClr val="38761D"/>
                </a:solidFill>
                <a:latin typeface="Dosis"/>
                <a:ea typeface="Dosis"/>
                <a:cs typeface="Dosis"/>
                <a:sym typeface="Dosis"/>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8" name="Google Shape;58;p13"/>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Autofit/>
          </a:bodyPr>
          <a:lstStyle>
            <a:lvl1pPr indent="-381000" lvl="0" marL="457200" algn="l">
              <a:lnSpc>
                <a:spcPct val="115000"/>
              </a:lnSpc>
              <a:spcBef>
                <a:spcPts val="0"/>
              </a:spcBef>
              <a:spcAft>
                <a:spcPts val="0"/>
              </a:spcAft>
              <a:buClr>
                <a:srgbClr val="000000"/>
              </a:buClr>
              <a:buSzPts val="2400"/>
              <a:buFont typeface="Petrona"/>
              <a:buChar char="●"/>
              <a:defRPr sz="2400">
                <a:solidFill>
                  <a:srgbClr val="000000"/>
                </a:solidFill>
                <a:latin typeface="Petrona"/>
                <a:ea typeface="Petrona"/>
                <a:cs typeface="Petrona"/>
                <a:sym typeface="Petrona"/>
              </a:defRPr>
            </a:lvl1pPr>
            <a:lvl2pPr indent="-342900" lvl="1" marL="914400" algn="l">
              <a:lnSpc>
                <a:spcPct val="115000"/>
              </a:lnSpc>
              <a:spcBef>
                <a:spcPts val="1600"/>
              </a:spcBef>
              <a:spcAft>
                <a:spcPts val="0"/>
              </a:spcAft>
              <a:buClr>
                <a:srgbClr val="38761D"/>
              </a:buClr>
              <a:buSzPts val="1800"/>
              <a:buFont typeface="Dosis"/>
              <a:buChar char="○"/>
              <a:defRPr sz="1800">
                <a:solidFill>
                  <a:srgbClr val="38761D"/>
                </a:solidFill>
                <a:latin typeface="Dosis"/>
                <a:ea typeface="Dosis"/>
                <a:cs typeface="Dosis"/>
                <a:sym typeface="Dosis"/>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59" name="Google Shape;59;p13"/>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blipFill>
          <a:blip r:embed="rId2">
            <a:alphaModFix/>
          </a:blip>
          <a:stretch>
            <a:fillRect/>
          </a:stretch>
        </a:blipFill>
      </p:bgPr>
    </p:bg>
    <p:spTree>
      <p:nvGrpSpPr>
        <p:cNvPr id="60" name="Shape 60"/>
        <p:cNvGrpSpPr/>
        <p:nvPr/>
      </p:nvGrpSpPr>
      <p:grpSpPr>
        <a:xfrm>
          <a:off x="0" y="0"/>
          <a:ext cx="0" cy="0"/>
          <a:chOff x="0" y="0"/>
          <a:chExt cx="0" cy="0"/>
        </a:xfrm>
      </p:grpSpPr>
      <p:sp>
        <p:nvSpPr>
          <p:cNvPr id="61" name="Google Shape;61;p14"/>
          <p:cNvSpPr txBox="1"/>
          <p:nvPr>
            <p:ph type="ctrTitle"/>
          </p:nvPr>
        </p:nvSpPr>
        <p:spPr>
          <a:xfrm>
            <a:off x="311708" y="992767"/>
            <a:ext cx="8520600" cy="27369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38761D"/>
              </a:buClr>
              <a:buSzPts val="5200"/>
              <a:buFont typeface="Dosis"/>
              <a:buNone/>
              <a:defRPr b="1" sz="5200">
                <a:solidFill>
                  <a:srgbClr val="38761D"/>
                </a:solidFill>
                <a:latin typeface="Dosis"/>
                <a:ea typeface="Dosis"/>
                <a:cs typeface="Dosis"/>
                <a:sym typeface="Dosis"/>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62" name="Google Shape;62;p14"/>
          <p:cNvSpPr txBox="1"/>
          <p:nvPr>
            <p:ph idx="1" type="subTitle"/>
          </p:nvPr>
        </p:nvSpPr>
        <p:spPr>
          <a:xfrm>
            <a:off x="311700" y="3778833"/>
            <a:ext cx="8520600" cy="10569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2800"/>
              <a:buFont typeface="Dosis"/>
              <a:buNone/>
              <a:defRPr sz="2800">
                <a:solidFill>
                  <a:srgbClr val="000000"/>
                </a:solidFill>
                <a:latin typeface="Dosis"/>
                <a:ea typeface="Dosis"/>
                <a:cs typeface="Dosis"/>
                <a:sym typeface="Dosis"/>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63" name="Google Shape;63;p14"/>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4" name="Shape 64"/>
        <p:cNvGrpSpPr/>
        <p:nvPr/>
      </p:nvGrpSpPr>
      <p:grpSpPr>
        <a:xfrm>
          <a:off x="0" y="0"/>
          <a:ext cx="0" cy="0"/>
          <a:chOff x="0" y="0"/>
          <a:chExt cx="0" cy="0"/>
        </a:xfrm>
      </p:grpSpPr>
      <p:sp>
        <p:nvSpPr>
          <p:cNvPr id="65" name="Google Shape;65;p15"/>
          <p:cNvSpPr txBox="1"/>
          <p:nvPr>
            <p:ph type="title"/>
          </p:nvPr>
        </p:nvSpPr>
        <p:spPr>
          <a:xfrm>
            <a:off x="311700" y="2867800"/>
            <a:ext cx="8520600" cy="11223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66" name="Google Shape;66;p15"/>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7" name="Shape 67"/>
        <p:cNvGrpSpPr/>
        <p:nvPr/>
      </p:nvGrpSpPr>
      <p:grpSpPr>
        <a:xfrm>
          <a:off x="0" y="0"/>
          <a:ext cx="0" cy="0"/>
          <a:chOff x="0" y="0"/>
          <a:chExt cx="0" cy="0"/>
        </a:xfrm>
      </p:grpSpPr>
      <p:sp>
        <p:nvSpPr>
          <p:cNvPr id="68" name="Google Shape;68;p16"/>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9" name="Google Shape;69;p16"/>
          <p:cNvSpPr txBox="1"/>
          <p:nvPr>
            <p:ph idx="1" type="body"/>
          </p:nvPr>
        </p:nvSpPr>
        <p:spPr>
          <a:xfrm>
            <a:off x="311700" y="1536633"/>
            <a:ext cx="3999900" cy="45552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70" name="Google Shape;70;p16"/>
          <p:cNvSpPr txBox="1"/>
          <p:nvPr>
            <p:ph idx="2" type="body"/>
          </p:nvPr>
        </p:nvSpPr>
        <p:spPr>
          <a:xfrm>
            <a:off x="4832400" y="1536633"/>
            <a:ext cx="3999900" cy="45552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71" name="Google Shape;71;p16"/>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2" name="Shape 72"/>
        <p:cNvGrpSpPr/>
        <p:nvPr/>
      </p:nvGrpSpPr>
      <p:grpSpPr>
        <a:xfrm>
          <a:off x="0" y="0"/>
          <a:ext cx="0" cy="0"/>
          <a:chOff x="0" y="0"/>
          <a:chExt cx="0" cy="0"/>
        </a:xfrm>
      </p:grpSpPr>
      <p:sp>
        <p:nvSpPr>
          <p:cNvPr id="73" name="Google Shape;73;p17"/>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4" name="Google Shape;74;p17"/>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5" name="Shape 75"/>
        <p:cNvGrpSpPr/>
        <p:nvPr/>
      </p:nvGrpSpPr>
      <p:grpSpPr>
        <a:xfrm>
          <a:off x="0" y="0"/>
          <a:ext cx="0" cy="0"/>
          <a:chOff x="0" y="0"/>
          <a:chExt cx="0" cy="0"/>
        </a:xfrm>
      </p:grpSpPr>
      <p:sp>
        <p:nvSpPr>
          <p:cNvPr id="76" name="Google Shape;76;p18"/>
          <p:cNvSpPr txBox="1"/>
          <p:nvPr>
            <p:ph type="title"/>
          </p:nvPr>
        </p:nvSpPr>
        <p:spPr>
          <a:xfrm>
            <a:off x="311700" y="740800"/>
            <a:ext cx="2808000" cy="1007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77" name="Google Shape;77;p18"/>
          <p:cNvSpPr txBox="1"/>
          <p:nvPr>
            <p:ph idx="1" type="body"/>
          </p:nvPr>
        </p:nvSpPr>
        <p:spPr>
          <a:xfrm>
            <a:off x="311700" y="1852800"/>
            <a:ext cx="2808000" cy="42393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78" name="Google Shape;78;p18"/>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9" name="Shape 79"/>
        <p:cNvGrpSpPr/>
        <p:nvPr/>
      </p:nvGrpSpPr>
      <p:grpSpPr>
        <a:xfrm>
          <a:off x="0" y="0"/>
          <a:ext cx="0" cy="0"/>
          <a:chOff x="0" y="0"/>
          <a:chExt cx="0" cy="0"/>
        </a:xfrm>
      </p:grpSpPr>
      <p:sp>
        <p:nvSpPr>
          <p:cNvPr id="80" name="Google Shape;80;p19"/>
          <p:cNvSpPr txBox="1"/>
          <p:nvPr>
            <p:ph type="title"/>
          </p:nvPr>
        </p:nvSpPr>
        <p:spPr>
          <a:xfrm>
            <a:off x="490250" y="600200"/>
            <a:ext cx="6367800" cy="54543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81" name="Google Shape;81;p19"/>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2" name="Shape 82"/>
        <p:cNvGrpSpPr/>
        <p:nvPr/>
      </p:nvGrpSpPr>
      <p:grpSpPr>
        <a:xfrm>
          <a:off x="0" y="0"/>
          <a:ext cx="0" cy="0"/>
          <a:chOff x="0" y="0"/>
          <a:chExt cx="0" cy="0"/>
        </a:xfrm>
      </p:grpSpPr>
      <p:sp>
        <p:nvSpPr>
          <p:cNvPr id="83" name="Google Shape;83;p20"/>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20"/>
          <p:cNvSpPr txBox="1"/>
          <p:nvPr>
            <p:ph type="title"/>
          </p:nvPr>
        </p:nvSpPr>
        <p:spPr>
          <a:xfrm>
            <a:off x="265500" y="1644233"/>
            <a:ext cx="4045200" cy="19764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85" name="Google Shape;85;p20"/>
          <p:cNvSpPr txBox="1"/>
          <p:nvPr>
            <p:ph idx="1" type="subTitle"/>
          </p:nvPr>
        </p:nvSpPr>
        <p:spPr>
          <a:xfrm>
            <a:off x="265500" y="3737433"/>
            <a:ext cx="4045200" cy="1646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6" name="Google Shape;86;p20"/>
          <p:cNvSpPr txBox="1"/>
          <p:nvPr>
            <p:ph idx="2" type="body"/>
          </p:nvPr>
        </p:nvSpPr>
        <p:spPr>
          <a:xfrm>
            <a:off x="4939500" y="965433"/>
            <a:ext cx="3837000" cy="49269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87" name="Google Shape;87;p20"/>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8" name="Shape 88"/>
        <p:cNvGrpSpPr/>
        <p:nvPr/>
      </p:nvGrpSpPr>
      <p:grpSpPr>
        <a:xfrm>
          <a:off x="0" y="0"/>
          <a:ext cx="0" cy="0"/>
          <a:chOff x="0" y="0"/>
          <a:chExt cx="0" cy="0"/>
        </a:xfrm>
      </p:grpSpPr>
      <p:sp>
        <p:nvSpPr>
          <p:cNvPr id="89" name="Google Shape;89;p21"/>
          <p:cNvSpPr txBox="1"/>
          <p:nvPr>
            <p:ph idx="1" type="body"/>
          </p:nvPr>
        </p:nvSpPr>
        <p:spPr>
          <a:xfrm>
            <a:off x="311700" y="5640767"/>
            <a:ext cx="5998800" cy="8067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vl1pPr>
          </a:lstStyle>
          <a:p/>
        </p:txBody>
      </p:sp>
      <p:sp>
        <p:nvSpPr>
          <p:cNvPr id="90" name="Google Shape;90;p2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1" name="Shape 91"/>
        <p:cNvGrpSpPr/>
        <p:nvPr/>
      </p:nvGrpSpPr>
      <p:grpSpPr>
        <a:xfrm>
          <a:off x="0" y="0"/>
          <a:ext cx="0" cy="0"/>
          <a:chOff x="0" y="0"/>
          <a:chExt cx="0" cy="0"/>
        </a:xfrm>
      </p:grpSpPr>
      <p:sp>
        <p:nvSpPr>
          <p:cNvPr id="92" name="Google Shape;92;p22"/>
          <p:cNvSpPr txBox="1"/>
          <p:nvPr>
            <p:ph hasCustomPrompt="1" type="title"/>
          </p:nvPr>
        </p:nvSpPr>
        <p:spPr>
          <a:xfrm>
            <a:off x="311700" y="1474833"/>
            <a:ext cx="8520600" cy="26181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93" name="Google Shape;93;p22"/>
          <p:cNvSpPr txBox="1"/>
          <p:nvPr>
            <p:ph idx="1" type="body"/>
          </p:nvPr>
        </p:nvSpPr>
        <p:spPr>
          <a:xfrm>
            <a:off x="311700" y="4202967"/>
            <a:ext cx="8520600" cy="17343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94" name="Google Shape;94;p22"/>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5" name="Shape 95"/>
        <p:cNvGrpSpPr/>
        <p:nvPr/>
      </p:nvGrpSpPr>
      <p:grpSpPr>
        <a:xfrm>
          <a:off x="0" y="0"/>
          <a:ext cx="0" cy="0"/>
          <a:chOff x="0" y="0"/>
          <a:chExt cx="0" cy="0"/>
        </a:xfrm>
      </p:grpSpPr>
      <p:sp>
        <p:nvSpPr>
          <p:cNvPr id="96" name="Google Shape;96;p23"/>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1.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11" Type="http://schemas.openxmlformats.org/officeDocument/2006/relationships/slideLayout" Target="../slideLayouts/slideLayout21.xml"/><Relationship Id="rId10" Type="http://schemas.openxmlformats.org/officeDocument/2006/relationships/slideLayout" Target="../slideLayouts/slideLayout20.xml"/><Relationship Id="rId12" Type="http://schemas.openxmlformats.org/officeDocument/2006/relationships/theme" Target="../theme/theme3.xml"/><Relationship Id="rId9" Type="http://schemas.openxmlformats.org/officeDocument/2006/relationships/slideLayout" Target="../slideLayouts/slideLayout19.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F3F3F3"/>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489850" y="1536625"/>
            <a:ext cx="8342400" cy="4555200"/>
          </a:xfrm>
          <a:prstGeom prst="rect">
            <a:avLst/>
          </a:prstGeom>
          <a:noFill/>
          <a:ln>
            <a:noFill/>
          </a:ln>
        </p:spPr>
        <p:txBody>
          <a:bodyPr anchorCtr="0" anchor="t" bIns="91425" lIns="91425" spcFirstLastPara="1" rIns="91425" wrap="square" tIns="91425">
            <a:noAutofit/>
          </a:bodyPr>
          <a:lstStyle>
            <a:lvl1pPr indent="-457200" lvl="0" marL="457200" marR="0" rtl="0" algn="l">
              <a:lnSpc>
                <a:spcPct val="115000"/>
              </a:lnSpc>
              <a:spcBef>
                <a:spcPts val="0"/>
              </a:spcBef>
              <a:spcAft>
                <a:spcPts val="0"/>
              </a:spcAft>
              <a:buClr>
                <a:srgbClr val="9A2F3E"/>
              </a:buClr>
              <a:buSzPts val="3600"/>
              <a:buFont typeface="Boogaloo"/>
              <a:buChar char="●"/>
              <a:defRPr b="0" i="0" sz="3600" u="none" cap="none" strike="noStrike">
                <a:solidFill>
                  <a:srgbClr val="9A2F3E"/>
                </a:solidFill>
                <a:latin typeface="Boogaloo"/>
                <a:ea typeface="Boogaloo"/>
                <a:cs typeface="Boogaloo"/>
                <a:sym typeface="Boogaloo"/>
              </a:defRPr>
            </a:lvl1pPr>
            <a:lvl2pPr indent="-431800" lvl="1" marL="914400" marR="0" rtl="0" algn="l">
              <a:lnSpc>
                <a:spcPct val="115000"/>
              </a:lnSpc>
              <a:spcBef>
                <a:spcPts val="1600"/>
              </a:spcBef>
              <a:spcAft>
                <a:spcPts val="0"/>
              </a:spcAft>
              <a:buClr>
                <a:srgbClr val="9A2F3E"/>
              </a:buClr>
              <a:buSzPts val="3200"/>
              <a:buFont typeface="Boogaloo"/>
              <a:buChar char="○"/>
              <a:defRPr b="0" i="0" sz="3200" u="none" cap="none" strike="noStrike">
                <a:solidFill>
                  <a:srgbClr val="9A2F3E"/>
                </a:solidFill>
                <a:latin typeface="Boogaloo"/>
                <a:ea typeface="Boogaloo"/>
                <a:cs typeface="Boogaloo"/>
                <a:sym typeface="Boogaloo"/>
              </a:defRPr>
            </a:lvl2pPr>
            <a:lvl3pPr indent="-381000" lvl="2" marL="1371600" marR="0" rtl="0" algn="l">
              <a:lnSpc>
                <a:spcPct val="115000"/>
              </a:lnSpc>
              <a:spcBef>
                <a:spcPts val="1600"/>
              </a:spcBef>
              <a:spcAft>
                <a:spcPts val="0"/>
              </a:spcAft>
              <a:buClr>
                <a:srgbClr val="9A2F3E"/>
              </a:buClr>
              <a:buSzPts val="2400"/>
              <a:buFont typeface="Boogaloo"/>
              <a:buChar char="■"/>
              <a:defRPr b="0" i="0" sz="2400" u="none" cap="none" strike="noStrike">
                <a:solidFill>
                  <a:srgbClr val="9A2F3E"/>
                </a:solidFill>
                <a:latin typeface="Boogaloo"/>
                <a:ea typeface="Boogaloo"/>
                <a:cs typeface="Boogaloo"/>
                <a:sym typeface="Boogaloo"/>
              </a:defRPr>
            </a:lvl3pPr>
            <a:lvl4pPr indent="-381000" lvl="3" marL="1828800" marR="0" rtl="0" algn="l">
              <a:lnSpc>
                <a:spcPct val="115000"/>
              </a:lnSpc>
              <a:spcBef>
                <a:spcPts val="1600"/>
              </a:spcBef>
              <a:spcAft>
                <a:spcPts val="0"/>
              </a:spcAft>
              <a:buClr>
                <a:srgbClr val="9A2F3E"/>
              </a:buClr>
              <a:buSzPts val="2400"/>
              <a:buFont typeface="Cabin Condensed"/>
              <a:buChar char="●"/>
              <a:defRPr b="0" i="0" sz="2400" u="none" cap="none" strike="noStrike">
                <a:solidFill>
                  <a:srgbClr val="9A2F3E"/>
                </a:solidFill>
                <a:latin typeface="Cabin Condensed"/>
                <a:ea typeface="Cabin Condensed"/>
                <a:cs typeface="Cabin Condensed"/>
                <a:sym typeface="Cabin Condensed"/>
              </a:defRPr>
            </a:lvl4pPr>
            <a:lvl5pPr indent="-342900" lvl="4" marL="2286000" marR="0" rtl="0" algn="l">
              <a:lnSpc>
                <a:spcPct val="115000"/>
              </a:lnSpc>
              <a:spcBef>
                <a:spcPts val="1600"/>
              </a:spcBef>
              <a:spcAft>
                <a:spcPts val="0"/>
              </a:spcAft>
              <a:buClr>
                <a:srgbClr val="9A2F3E"/>
              </a:buClr>
              <a:buSzPts val="1800"/>
              <a:buFont typeface="Cabin Condensed"/>
              <a:buChar char="○"/>
              <a:defRPr b="0" i="0" sz="1800" u="none" cap="none" strike="noStrike">
                <a:solidFill>
                  <a:srgbClr val="9A2F3E"/>
                </a:solidFill>
                <a:latin typeface="Cabin Condensed"/>
                <a:ea typeface="Cabin Condensed"/>
                <a:cs typeface="Cabin Condensed"/>
                <a:sym typeface="Cabin Condensed"/>
              </a:defRPr>
            </a:lvl5pPr>
            <a:lvl6pPr indent="-317500" lvl="5" marL="2743200" marR="0" rtl="0" algn="l">
              <a:lnSpc>
                <a:spcPct val="115000"/>
              </a:lnSpc>
              <a:spcBef>
                <a:spcPts val="1600"/>
              </a:spcBef>
              <a:spcAft>
                <a:spcPts val="0"/>
              </a:spcAft>
              <a:buClr>
                <a:srgbClr val="0B0B0B"/>
              </a:buClr>
              <a:buSzPts val="1400"/>
              <a:buFont typeface="Cabin"/>
              <a:buChar char="■"/>
              <a:defRPr b="0" i="0" sz="1400" u="none" cap="none" strike="noStrike">
                <a:solidFill>
                  <a:srgbClr val="0B0B0B"/>
                </a:solidFill>
                <a:latin typeface="Cabin"/>
                <a:ea typeface="Cabin"/>
                <a:cs typeface="Cabin"/>
                <a:sym typeface="Cabin"/>
              </a:defRPr>
            </a:lvl6pPr>
            <a:lvl7pPr indent="-317500" lvl="6" marL="3200400" marR="0" rtl="0" algn="l">
              <a:lnSpc>
                <a:spcPct val="115000"/>
              </a:lnSpc>
              <a:spcBef>
                <a:spcPts val="1600"/>
              </a:spcBef>
              <a:spcAft>
                <a:spcPts val="0"/>
              </a:spcAft>
              <a:buClr>
                <a:srgbClr val="0B0B0B"/>
              </a:buClr>
              <a:buSzPts val="1400"/>
              <a:buFont typeface="Cabin Condensed"/>
              <a:buChar char="●"/>
              <a:defRPr b="0" i="0" sz="1400" u="none" cap="none" strike="noStrike">
                <a:solidFill>
                  <a:srgbClr val="0B0B0B"/>
                </a:solidFill>
                <a:latin typeface="Cabin Condensed"/>
                <a:ea typeface="Cabin Condensed"/>
                <a:cs typeface="Cabin Condensed"/>
                <a:sym typeface="Cabin Condensed"/>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2" name="Shape 52"/>
        <p:cNvGrpSpPr/>
        <p:nvPr/>
      </p:nvGrpSpPr>
      <p:grpSpPr>
        <a:xfrm>
          <a:off x="0" y="0"/>
          <a:ext cx="0" cy="0"/>
          <a:chOff x="0" y="0"/>
          <a:chExt cx="0" cy="0"/>
        </a:xfrm>
      </p:grpSpPr>
      <p:sp>
        <p:nvSpPr>
          <p:cNvPr id="53" name="Google Shape;53;p12"/>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54" name="Google Shape;54;p12"/>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55" name="Google Shape;55;p12"/>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8.png"/><Relationship Id="rId4" Type="http://schemas.openxmlformats.org/officeDocument/2006/relationships/image" Target="../media/image1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10.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1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9.jp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00" name="Shape 100"/>
        <p:cNvGrpSpPr/>
        <p:nvPr/>
      </p:nvGrpSpPr>
      <p:grpSpPr>
        <a:xfrm>
          <a:off x="0" y="0"/>
          <a:ext cx="0" cy="0"/>
          <a:chOff x="0" y="0"/>
          <a:chExt cx="0" cy="0"/>
        </a:xfrm>
      </p:grpSpPr>
      <p:sp>
        <p:nvSpPr>
          <p:cNvPr id="101" name="Google Shape;101;p24"/>
          <p:cNvSpPr/>
          <p:nvPr/>
        </p:nvSpPr>
        <p:spPr>
          <a:xfrm>
            <a:off x="457200" y="548640"/>
            <a:ext cx="8229600" cy="685800"/>
          </a:xfrm>
          <a:prstGeom prst="rect">
            <a:avLst/>
          </a:prstGeom>
          <a:solidFill>
            <a:srgbClr val="9A2F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rgbClr val="FFFFFF"/>
                </a:solidFill>
                <a:latin typeface="Boogaloo"/>
                <a:ea typeface="Boogaloo"/>
                <a:cs typeface="Boogaloo"/>
                <a:sym typeface="Boogaloo"/>
              </a:rPr>
              <a:t>Material Structures and Properties</a:t>
            </a:r>
            <a:endParaRPr b="0" i="0" sz="3200" u="none" cap="none" strike="noStrike">
              <a:solidFill>
                <a:srgbClr val="FFFFFF"/>
              </a:solidFill>
              <a:latin typeface="Boogaloo"/>
              <a:ea typeface="Boogaloo"/>
              <a:cs typeface="Boogaloo"/>
              <a:sym typeface="Boogaloo"/>
            </a:endParaRPr>
          </a:p>
        </p:txBody>
      </p:sp>
      <p:sp>
        <p:nvSpPr>
          <p:cNvPr id="102" name="Google Shape;102;p24"/>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800" u="none" cap="none" strike="noStrike">
                <a:solidFill>
                  <a:srgbClr val="9A2F3E"/>
                </a:solidFill>
                <a:latin typeface="Boogaloo"/>
                <a:ea typeface="Boogaloo"/>
                <a:cs typeface="Boogaloo"/>
                <a:sym typeface="Boogaloo"/>
              </a:rPr>
              <a:t>Slide A</a:t>
            </a:r>
            <a:endParaRPr b="0" i="0" sz="1800" u="none" cap="none" strike="noStrike">
              <a:solidFill>
                <a:srgbClr val="9A2F3E"/>
              </a:solidFill>
              <a:latin typeface="Boogaloo"/>
              <a:ea typeface="Boogaloo"/>
              <a:cs typeface="Boogaloo"/>
              <a:sym typeface="Boogaloo"/>
            </a:endParaRPr>
          </a:p>
        </p:txBody>
      </p:sp>
      <p:sp>
        <p:nvSpPr>
          <p:cNvPr id="103" name="Google Shape;103;p24"/>
          <p:cNvSpPr/>
          <p:nvPr/>
        </p:nvSpPr>
        <p:spPr>
          <a:xfrm>
            <a:off x="457150" y="1585925"/>
            <a:ext cx="8229600" cy="4657800"/>
          </a:xfrm>
          <a:prstGeom prst="rect">
            <a:avLst/>
          </a:prstGeom>
          <a:solidFill>
            <a:srgbClr val="F5EDEF"/>
          </a:solidFill>
          <a:ln cap="flat" cmpd="sng" w="19050">
            <a:solidFill>
              <a:srgbClr val="9A2F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p24"/>
          <p:cNvSpPr txBox="1"/>
          <p:nvPr/>
        </p:nvSpPr>
        <p:spPr>
          <a:xfrm>
            <a:off x="2221800" y="3065450"/>
            <a:ext cx="5814900" cy="2097000"/>
          </a:xfrm>
          <a:prstGeom prst="rect">
            <a:avLst/>
          </a:prstGeom>
          <a:noFill/>
          <a:ln>
            <a:noFill/>
          </a:ln>
        </p:spPr>
        <p:txBody>
          <a:bodyPr anchorCtr="0" anchor="t" bIns="91425" lIns="91425" spcFirstLastPara="1" rIns="91425" wrap="square" tIns="91425">
            <a:noAutofit/>
          </a:bodyPr>
          <a:lstStyle/>
          <a:p>
            <a:pPr indent="-381000" lvl="0" marL="457200" marR="0" rtl="0" algn="l">
              <a:lnSpc>
                <a:spcPct val="100000"/>
              </a:lnSpc>
              <a:spcBef>
                <a:spcPts val="0"/>
              </a:spcBef>
              <a:spcAft>
                <a:spcPts val="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What did we learn about the shape, thickness, or properties of protective materials we should be using in our designs?</a:t>
            </a:r>
            <a:endParaRPr b="0" i="0" sz="2400" u="none" cap="none" strike="noStrike">
              <a:solidFill>
                <a:srgbClr val="9A2F3E"/>
              </a:solidFill>
              <a:latin typeface="Cabin Condensed"/>
              <a:ea typeface="Cabin Condensed"/>
              <a:cs typeface="Cabin Condensed"/>
              <a:sym typeface="Cabin Condensed"/>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24"/>
          <p:cNvSpPr txBox="1"/>
          <p:nvPr/>
        </p:nvSpPr>
        <p:spPr>
          <a:xfrm>
            <a:off x="2305050" y="2221375"/>
            <a:ext cx="4411500" cy="762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1000"/>
              </a:spcAft>
              <a:buClr>
                <a:srgbClr val="000000"/>
              </a:buClr>
              <a:buSzPts val="3000"/>
              <a:buFont typeface="Arial"/>
              <a:buNone/>
            </a:pPr>
            <a:r>
              <a:rPr b="0" i="0" lang="en" sz="3000" u="none" cap="none" strike="noStrike">
                <a:solidFill>
                  <a:srgbClr val="9A2F3E"/>
                </a:solidFill>
                <a:latin typeface="Boogaloo"/>
                <a:ea typeface="Boogaloo"/>
                <a:cs typeface="Boogaloo"/>
                <a:sym typeface="Boogaloo"/>
              </a:rPr>
              <a:t>Turn and Talk</a:t>
            </a:r>
            <a:endParaRPr b="0" i="0" sz="800" u="none" cap="none" strike="noStrike">
              <a:solidFill>
                <a:srgbClr val="000000"/>
              </a:solidFill>
              <a:latin typeface="Arial"/>
              <a:ea typeface="Arial"/>
              <a:cs typeface="Arial"/>
              <a:sym typeface="Arial"/>
            </a:endParaRPr>
          </a:p>
        </p:txBody>
      </p:sp>
      <p:pic>
        <p:nvPicPr>
          <p:cNvPr descr="Turn and talk icon" id="106" name="Google Shape;106;p24"/>
          <p:cNvPicPr preferRelativeResize="0"/>
          <p:nvPr/>
        </p:nvPicPr>
        <p:blipFill rotWithShape="1">
          <a:blip r:embed="rId3">
            <a:alphaModFix/>
          </a:blip>
          <a:srcRect b="0" l="0" r="0" t="0"/>
          <a:stretch/>
        </p:blipFill>
        <p:spPr>
          <a:xfrm>
            <a:off x="1037550" y="2147300"/>
            <a:ext cx="1090237" cy="901262"/>
          </a:xfrm>
          <a:prstGeom prst="rect">
            <a:avLst/>
          </a:prstGeom>
          <a:noFill/>
          <a:ln>
            <a:noFill/>
          </a:ln>
        </p:spPr>
      </p:pic>
      <p:sp>
        <p:nvSpPr>
          <p:cNvPr id="107" name="Google Shape;107;p24"/>
          <p:cNvSpPr txBox="1"/>
          <p:nvPr/>
        </p:nvSpPr>
        <p:spPr>
          <a:xfrm flipH="1" rot="-204177">
            <a:off x="6455284" y="5323334"/>
            <a:ext cx="2102507" cy="1402881"/>
          </a:xfrm>
          <a:prstGeom prst="rect">
            <a:avLst/>
          </a:prstGeom>
          <a:solidFill>
            <a:srgbClr val="FFFFFF"/>
          </a:solidFill>
          <a:ln cap="flat" cmpd="sng" w="9525">
            <a:solidFill>
              <a:srgbClr val="9A2F3E"/>
            </a:solidFill>
            <a:prstDash val="solid"/>
            <a:round/>
            <a:headEnd len="sm" w="sm" type="none"/>
            <a:tailEnd len="sm" w="sm" type="none"/>
          </a:ln>
          <a:effectLst>
            <a:outerShdw blurRad="57150" rotWithShape="0" algn="bl" dir="5400000" dist="19050">
              <a:srgbClr val="000000">
                <a:alpha val="49019"/>
              </a:srgbClr>
            </a:outerShdw>
          </a:effectLst>
        </p:spPr>
        <p:txBody>
          <a:bodyPr anchorCtr="0" anchor="t" bIns="91425" lIns="91425" spcFirstLastPara="1" rIns="91425" wrap="square" tIns="91425">
            <a:noAutofit/>
          </a:bodyPr>
          <a:lstStyle/>
          <a:p>
            <a:pPr indent="-355600" lvl="0" marL="457200" marR="0" rtl="0" algn="l">
              <a:lnSpc>
                <a:spcPct val="100000"/>
              </a:lnSpc>
              <a:spcBef>
                <a:spcPts val="0"/>
              </a:spcBef>
              <a:spcAft>
                <a:spcPts val="0"/>
              </a:spcAft>
              <a:buClr>
                <a:srgbClr val="9A2F3E"/>
              </a:buClr>
              <a:buSzPts val="2000"/>
              <a:buFont typeface="Cabin Condensed"/>
              <a:buChar char="➔"/>
            </a:pPr>
            <a:r>
              <a:rPr b="1" i="0" lang="en" sz="2000" u="none" cap="none" strike="noStrike">
                <a:solidFill>
                  <a:srgbClr val="980000"/>
                </a:solidFill>
                <a:latin typeface="Cabin Condensed"/>
                <a:ea typeface="Cabin Condensed"/>
                <a:cs typeface="Cabin Condensed"/>
                <a:sym typeface="Cabin Condensed"/>
              </a:rPr>
              <a:t>Be prepared to share your ideas with the whole class</a:t>
            </a:r>
            <a:r>
              <a:rPr b="0" i="0" lang="en" sz="2000" u="none" cap="none" strike="noStrike">
                <a:solidFill>
                  <a:srgbClr val="980000"/>
                </a:solidFill>
                <a:latin typeface="Cabin Condensed"/>
                <a:ea typeface="Cabin Condensed"/>
                <a:cs typeface="Cabin Condensed"/>
                <a:sym typeface="Cabin Condensed"/>
              </a:rPr>
              <a:t>.</a:t>
            </a:r>
            <a:endParaRPr b="0" i="0" sz="2000" u="none" cap="none" strike="noStrike">
              <a:solidFill>
                <a:srgbClr val="9A2F3E"/>
              </a:solidFill>
              <a:latin typeface="Cabin Condensed"/>
              <a:ea typeface="Cabin Condensed"/>
              <a:cs typeface="Cabin Condensed"/>
              <a:sym typeface="Cabin Condense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11" name="Shape 111"/>
        <p:cNvGrpSpPr/>
        <p:nvPr/>
      </p:nvGrpSpPr>
      <p:grpSpPr>
        <a:xfrm>
          <a:off x="0" y="0"/>
          <a:ext cx="0" cy="0"/>
          <a:chOff x="0" y="0"/>
          <a:chExt cx="0" cy="0"/>
        </a:xfrm>
      </p:grpSpPr>
      <p:sp>
        <p:nvSpPr>
          <p:cNvPr id="112" name="Google Shape;112;p25"/>
          <p:cNvSpPr/>
          <p:nvPr/>
        </p:nvSpPr>
        <p:spPr>
          <a:xfrm>
            <a:off x="457200" y="548640"/>
            <a:ext cx="8229600" cy="685800"/>
          </a:xfrm>
          <a:prstGeom prst="rect">
            <a:avLst/>
          </a:prstGeom>
          <a:solidFill>
            <a:srgbClr val="9A2F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rgbClr val="FFFFFF"/>
                </a:solidFill>
                <a:latin typeface="Boogaloo"/>
                <a:ea typeface="Boogaloo"/>
                <a:cs typeface="Boogaloo"/>
                <a:sym typeface="Boogaloo"/>
              </a:rPr>
              <a:t>Revising Designs</a:t>
            </a:r>
            <a:endParaRPr b="0" i="0" sz="3200" u="none" cap="none" strike="noStrike">
              <a:solidFill>
                <a:srgbClr val="FFFFFF"/>
              </a:solidFill>
              <a:latin typeface="Boogaloo"/>
              <a:ea typeface="Boogaloo"/>
              <a:cs typeface="Boogaloo"/>
              <a:sym typeface="Boogaloo"/>
            </a:endParaRPr>
          </a:p>
        </p:txBody>
      </p:sp>
      <p:sp>
        <p:nvSpPr>
          <p:cNvPr id="113" name="Google Shape;113;p25"/>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800" u="none" cap="none" strike="noStrike">
                <a:solidFill>
                  <a:srgbClr val="9A2F3E"/>
                </a:solidFill>
                <a:latin typeface="Boogaloo"/>
                <a:ea typeface="Boogaloo"/>
                <a:cs typeface="Boogaloo"/>
                <a:sym typeface="Boogaloo"/>
              </a:rPr>
              <a:t>Slide B</a:t>
            </a:r>
            <a:endParaRPr b="0" i="0" sz="1800" u="none" cap="none" strike="noStrike">
              <a:solidFill>
                <a:srgbClr val="9A2F3E"/>
              </a:solidFill>
              <a:latin typeface="Boogaloo"/>
              <a:ea typeface="Boogaloo"/>
              <a:cs typeface="Boogaloo"/>
              <a:sym typeface="Boogaloo"/>
            </a:endParaRPr>
          </a:p>
        </p:txBody>
      </p:sp>
      <p:sp>
        <p:nvSpPr>
          <p:cNvPr id="114" name="Google Shape;114;p25"/>
          <p:cNvSpPr/>
          <p:nvPr/>
        </p:nvSpPr>
        <p:spPr>
          <a:xfrm>
            <a:off x="457150" y="1571625"/>
            <a:ext cx="8229600" cy="4945800"/>
          </a:xfrm>
          <a:prstGeom prst="rect">
            <a:avLst/>
          </a:prstGeom>
          <a:solidFill>
            <a:srgbClr val="F5EDEF"/>
          </a:solidFill>
          <a:ln cap="flat" cmpd="sng" w="19050">
            <a:solidFill>
              <a:srgbClr val="9A2F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25"/>
          <p:cNvSpPr txBox="1"/>
          <p:nvPr/>
        </p:nvSpPr>
        <p:spPr>
          <a:xfrm>
            <a:off x="1455050" y="3233750"/>
            <a:ext cx="6886500" cy="3015900"/>
          </a:xfrm>
          <a:prstGeom prst="rect">
            <a:avLst/>
          </a:prstGeom>
          <a:noFill/>
          <a:ln>
            <a:noFill/>
          </a:ln>
        </p:spPr>
        <p:txBody>
          <a:bodyPr anchorCtr="0" anchor="t" bIns="91425" lIns="91425" spcFirstLastPara="1" rIns="91425" wrap="square" tIns="91425">
            <a:noAutofit/>
          </a:bodyPr>
          <a:lstStyle/>
          <a:p>
            <a:pPr indent="-381000" lvl="0" marL="457200" marR="0" rtl="0" algn="l">
              <a:lnSpc>
                <a:spcPct val="100000"/>
              </a:lnSpc>
              <a:spcBef>
                <a:spcPts val="0"/>
              </a:spcBef>
              <a:spcAft>
                <a:spcPts val="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Let’s spend some time revising our designs using our protective material science ideas. </a:t>
            </a:r>
            <a:endParaRPr b="0" i="0" sz="2400" u="none" cap="none" strike="noStrike">
              <a:solidFill>
                <a:srgbClr val="9A2F3E"/>
              </a:solidFill>
              <a:latin typeface="Cabin Condensed"/>
              <a:ea typeface="Cabin Condensed"/>
              <a:cs typeface="Cabin Condensed"/>
              <a:sym typeface="Cabin Condensed"/>
            </a:endParaRPr>
          </a:p>
          <a:p>
            <a:pPr indent="-381000" lvl="0" marL="457200" marR="0" rtl="0" algn="l">
              <a:lnSpc>
                <a:spcPct val="100000"/>
              </a:lnSpc>
              <a:spcBef>
                <a:spcPts val="1000"/>
              </a:spcBef>
              <a:spcAft>
                <a:spcPts val="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We will redraft our designs on a new handout.</a:t>
            </a:r>
            <a:endParaRPr b="0" i="0" sz="2400" u="none" cap="none" strike="noStrike">
              <a:solidFill>
                <a:srgbClr val="9A2F3E"/>
              </a:solidFill>
              <a:latin typeface="Cabin Condensed"/>
              <a:ea typeface="Cabin Condensed"/>
              <a:cs typeface="Cabin Condensed"/>
              <a:sym typeface="Cabin Condensed"/>
            </a:endParaRPr>
          </a:p>
          <a:p>
            <a:pPr indent="-381000" lvl="0" marL="457200" marR="0" rtl="0" algn="l">
              <a:lnSpc>
                <a:spcPct val="100000"/>
              </a:lnSpc>
              <a:spcBef>
                <a:spcPts val="1000"/>
              </a:spcBef>
              <a:spcAft>
                <a:spcPts val="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After that, we will have the opportunity to think about the specific changes we are proposing and why we are making those changes.</a:t>
            </a:r>
            <a:endParaRPr b="0" i="0" sz="2400" u="none" cap="none" strike="noStrike">
              <a:solidFill>
                <a:srgbClr val="9A2F3E"/>
              </a:solidFill>
              <a:latin typeface="Cabin Condensed"/>
              <a:ea typeface="Cabin Condensed"/>
              <a:cs typeface="Cabin Condensed"/>
              <a:sym typeface="Cabin Condensed"/>
            </a:endParaRPr>
          </a:p>
          <a:p>
            <a:pPr indent="0" lvl="0" marL="0" marR="0" rtl="0" algn="l">
              <a:lnSpc>
                <a:spcPct val="100000"/>
              </a:lnSpc>
              <a:spcBef>
                <a:spcPts val="100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25"/>
          <p:cNvSpPr txBox="1"/>
          <p:nvPr/>
        </p:nvSpPr>
        <p:spPr>
          <a:xfrm>
            <a:off x="2213800" y="2075875"/>
            <a:ext cx="4411500" cy="762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1000"/>
              </a:spcAft>
              <a:buClr>
                <a:srgbClr val="000000"/>
              </a:buClr>
              <a:buSzPts val="3000"/>
              <a:buFont typeface="Arial"/>
              <a:buNone/>
            </a:pPr>
            <a:r>
              <a:rPr b="0" i="0" lang="en" sz="3000" u="none" cap="none" strike="noStrike">
                <a:solidFill>
                  <a:srgbClr val="9A2F3E"/>
                </a:solidFill>
                <a:latin typeface="Boogaloo"/>
                <a:ea typeface="Boogaloo"/>
                <a:cs typeface="Boogaloo"/>
                <a:sym typeface="Boogaloo"/>
              </a:rPr>
              <a:t>On Your Own</a:t>
            </a:r>
            <a:endParaRPr b="0" i="0" sz="800" u="none" cap="none" strike="noStrike">
              <a:solidFill>
                <a:srgbClr val="000000"/>
              </a:solidFill>
              <a:latin typeface="Arial"/>
              <a:ea typeface="Arial"/>
              <a:cs typeface="Arial"/>
              <a:sym typeface="Arial"/>
            </a:endParaRPr>
          </a:p>
        </p:txBody>
      </p:sp>
      <p:pic>
        <p:nvPicPr>
          <p:cNvPr descr="On your own icon" id="117" name="Google Shape;117;p25"/>
          <p:cNvPicPr preferRelativeResize="0"/>
          <p:nvPr/>
        </p:nvPicPr>
        <p:blipFill rotWithShape="1">
          <a:blip r:embed="rId3">
            <a:alphaModFix/>
          </a:blip>
          <a:srcRect b="0" l="0" r="0" t="0"/>
          <a:stretch/>
        </p:blipFill>
        <p:spPr>
          <a:xfrm>
            <a:off x="1184825" y="1893497"/>
            <a:ext cx="865538" cy="10205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21" name="Shape 121"/>
        <p:cNvGrpSpPr/>
        <p:nvPr/>
      </p:nvGrpSpPr>
      <p:grpSpPr>
        <a:xfrm>
          <a:off x="0" y="0"/>
          <a:ext cx="0" cy="0"/>
          <a:chOff x="0" y="0"/>
          <a:chExt cx="0" cy="0"/>
        </a:xfrm>
      </p:grpSpPr>
      <p:sp>
        <p:nvSpPr>
          <p:cNvPr id="122" name="Google Shape;122;p26"/>
          <p:cNvSpPr/>
          <p:nvPr/>
        </p:nvSpPr>
        <p:spPr>
          <a:xfrm>
            <a:off x="457200" y="548640"/>
            <a:ext cx="8229600" cy="685800"/>
          </a:xfrm>
          <a:prstGeom prst="rect">
            <a:avLst/>
          </a:prstGeom>
          <a:solidFill>
            <a:srgbClr val="9A2F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rgbClr val="FFFFFF"/>
                </a:solidFill>
                <a:latin typeface="Boogaloo"/>
                <a:ea typeface="Boogaloo"/>
                <a:cs typeface="Boogaloo"/>
                <a:sym typeface="Boogaloo"/>
              </a:rPr>
              <a:t>Whole Class Example</a:t>
            </a:r>
            <a:endParaRPr b="0" i="0" sz="3200" u="none" cap="none" strike="noStrike">
              <a:solidFill>
                <a:srgbClr val="FFFFFF"/>
              </a:solidFill>
              <a:latin typeface="Boogaloo"/>
              <a:ea typeface="Boogaloo"/>
              <a:cs typeface="Boogaloo"/>
              <a:sym typeface="Boogaloo"/>
            </a:endParaRPr>
          </a:p>
        </p:txBody>
      </p:sp>
      <p:sp>
        <p:nvSpPr>
          <p:cNvPr id="123" name="Google Shape;123;p26"/>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800" u="none" cap="none" strike="noStrike">
                <a:solidFill>
                  <a:srgbClr val="9A2F3E"/>
                </a:solidFill>
                <a:latin typeface="Boogaloo"/>
                <a:ea typeface="Boogaloo"/>
                <a:cs typeface="Boogaloo"/>
                <a:sym typeface="Boogaloo"/>
              </a:rPr>
              <a:t>Slide C</a:t>
            </a:r>
            <a:endParaRPr b="0" i="0" sz="1800" u="none" cap="none" strike="noStrike">
              <a:solidFill>
                <a:srgbClr val="9A2F3E"/>
              </a:solidFill>
              <a:latin typeface="Boogaloo"/>
              <a:ea typeface="Boogaloo"/>
              <a:cs typeface="Boogaloo"/>
              <a:sym typeface="Boogaloo"/>
            </a:endParaRPr>
          </a:p>
        </p:txBody>
      </p:sp>
      <p:sp>
        <p:nvSpPr>
          <p:cNvPr id="124" name="Google Shape;124;p26"/>
          <p:cNvSpPr/>
          <p:nvPr/>
        </p:nvSpPr>
        <p:spPr>
          <a:xfrm>
            <a:off x="457150" y="1566863"/>
            <a:ext cx="8229600" cy="4929600"/>
          </a:xfrm>
          <a:prstGeom prst="rect">
            <a:avLst/>
          </a:prstGeom>
          <a:solidFill>
            <a:srgbClr val="F5EDEF"/>
          </a:solidFill>
          <a:ln cap="flat" cmpd="sng" w="19050">
            <a:solidFill>
              <a:srgbClr val="9A2F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26"/>
          <p:cNvSpPr txBox="1"/>
          <p:nvPr/>
        </p:nvSpPr>
        <p:spPr>
          <a:xfrm>
            <a:off x="1511175" y="1698525"/>
            <a:ext cx="4411500" cy="762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1000"/>
              </a:spcAft>
              <a:buClr>
                <a:srgbClr val="000000"/>
              </a:buClr>
              <a:buSzPts val="3000"/>
              <a:buFont typeface="Arial"/>
              <a:buNone/>
            </a:pPr>
            <a:r>
              <a:rPr b="0" i="0" lang="en" sz="3000" u="none" cap="none" strike="noStrike">
                <a:solidFill>
                  <a:srgbClr val="9A2F3E"/>
                </a:solidFill>
                <a:latin typeface="Boogaloo"/>
                <a:ea typeface="Boogaloo"/>
                <a:cs typeface="Boogaloo"/>
                <a:sym typeface="Boogaloo"/>
              </a:rPr>
              <a:t>Whole-Class Example</a:t>
            </a:r>
            <a:endParaRPr b="0" i="0" sz="3000" u="none" cap="none" strike="noStrike">
              <a:solidFill>
                <a:srgbClr val="000000"/>
              </a:solidFill>
              <a:latin typeface="Arial"/>
              <a:ea typeface="Arial"/>
              <a:cs typeface="Arial"/>
              <a:sym typeface="Arial"/>
            </a:endParaRPr>
          </a:p>
        </p:txBody>
      </p:sp>
      <p:graphicFrame>
        <p:nvGraphicFramePr>
          <p:cNvPr descr="Screenshot of a table with three columns titled: Change I have made to my protective device, The scientific reasoning behind the change I have made, and Effects of that change on the performance or structure of the device (positives or negatives). There are four empty rows." id="126" name="Google Shape;126;p26"/>
          <p:cNvGraphicFramePr/>
          <p:nvPr/>
        </p:nvGraphicFramePr>
        <p:xfrm>
          <a:off x="731125" y="2625475"/>
          <a:ext cx="3000000" cy="3000000"/>
        </p:xfrm>
        <a:graphic>
          <a:graphicData uri="http://schemas.openxmlformats.org/drawingml/2006/table">
            <a:tbl>
              <a:tblPr>
                <a:noFill/>
                <a:tableStyleId>{14061AEF-1EB5-4D07-8955-141C8B69F781}</a:tableStyleId>
              </a:tblPr>
              <a:tblGrid>
                <a:gridCol w="1987625"/>
                <a:gridCol w="2874375"/>
                <a:gridCol w="2790975"/>
              </a:tblGrid>
              <a:tr h="752975">
                <a:tc>
                  <a:txBody>
                    <a:bodyPr/>
                    <a:lstStyle/>
                    <a:p>
                      <a:pPr indent="0" lvl="0" marL="0" marR="0" rtl="0" algn="ctr">
                        <a:lnSpc>
                          <a:spcPct val="100000"/>
                        </a:lnSpc>
                        <a:spcBef>
                          <a:spcPts val="0"/>
                        </a:spcBef>
                        <a:spcAft>
                          <a:spcPts val="0"/>
                        </a:spcAft>
                        <a:buClr>
                          <a:srgbClr val="000000"/>
                        </a:buClr>
                        <a:buSzPts val="1200"/>
                        <a:buFont typeface="Arial"/>
                        <a:buNone/>
                      </a:pPr>
                      <a:r>
                        <a:rPr b="1" lang="en" sz="1200" u="none" cap="none" strike="noStrike">
                          <a:solidFill>
                            <a:srgbClr val="FFFFFF"/>
                          </a:solidFill>
                          <a:latin typeface="Cabin"/>
                          <a:ea typeface="Cabin"/>
                          <a:cs typeface="Cabin"/>
                          <a:sym typeface="Cabin"/>
                        </a:rPr>
                        <a:t>Change I have made to my protective device</a:t>
                      </a:r>
                      <a:endParaRPr b="1" sz="1200" u="none" cap="none" strike="noStrike">
                        <a:solidFill>
                          <a:srgbClr val="FFFFFF"/>
                        </a:solidFill>
                        <a:latin typeface="Cabin"/>
                        <a:ea typeface="Cabin"/>
                        <a:cs typeface="Cabin"/>
                        <a:sym typeface="Cabin"/>
                      </a:endParaRPr>
                    </a:p>
                  </a:txBody>
                  <a:tcPr marT="91425" marB="91425" marR="91425" marL="91425">
                    <a:lnL cap="flat" cmpd="sng" w="9525">
                      <a:solidFill>
                        <a:srgbClr val="9A2F3E"/>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9A2F3E"/>
                      </a:solidFill>
                      <a:prstDash val="solid"/>
                      <a:round/>
                      <a:headEnd len="sm" w="sm" type="none"/>
                      <a:tailEnd len="sm" w="sm" type="none"/>
                    </a:lnT>
                    <a:lnB cap="flat" cmpd="sng" w="9525">
                      <a:solidFill>
                        <a:srgbClr val="9A2F3E"/>
                      </a:solidFill>
                      <a:prstDash val="solid"/>
                      <a:round/>
                      <a:headEnd len="sm" w="sm" type="none"/>
                      <a:tailEnd len="sm" w="sm" type="none"/>
                    </a:lnB>
                    <a:solidFill>
                      <a:srgbClr val="9A2F3E"/>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1" lang="en" sz="1200" u="none" cap="none" strike="noStrike">
                          <a:solidFill>
                            <a:srgbClr val="FFFFFF"/>
                          </a:solidFill>
                          <a:latin typeface="Cabin"/>
                          <a:ea typeface="Cabin"/>
                          <a:cs typeface="Cabin"/>
                          <a:sym typeface="Cabin"/>
                        </a:rPr>
                        <a:t>The scientific reasoning behind the change I have made</a:t>
                      </a:r>
                      <a:endParaRPr b="1" sz="1200" u="none" cap="none" strike="noStrike">
                        <a:solidFill>
                          <a:srgbClr val="FFFFFF"/>
                        </a:solidFill>
                        <a:latin typeface="Cabin"/>
                        <a:ea typeface="Cabin"/>
                        <a:cs typeface="Cabin"/>
                        <a:sym typeface="Cabin"/>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9A2F3E"/>
                      </a:solidFill>
                      <a:prstDash val="solid"/>
                      <a:round/>
                      <a:headEnd len="sm" w="sm" type="none"/>
                      <a:tailEnd len="sm" w="sm" type="none"/>
                    </a:lnT>
                    <a:lnB cap="flat" cmpd="sng" w="9525">
                      <a:solidFill>
                        <a:srgbClr val="9A2F3E"/>
                      </a:solidFill>
                      <a:prstDash val="solid"/>
                      <a:round/>
                      <a:headEnd len="sm" w="sm" type="none"/>
                      <a:tailEnd len="sm" w="sm" type="none"/>
                    </a:lnB>
                    <a:solidFill>
                      <a:srgbClr val="9A2F3E"/>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1" lang="en" sz="1200" u="none" cap="none" strike="noStrike">
                          <a:solidFill>
                            <a:srgbClr val="FFFFFF"/>
                          </a:solidFill>
                          <a:latin typeface="Cabin"/>
                          <a:ea typeface="Cabin"/>
                          <a:cs typeface="Cabin"/>
                          <a:sym typeface="Cabin"/>
                        </a:rPr>
                        <a:t>Effects of that change on the performance or structure of the device (positives or negatives)</a:t>
                      </a:r>
                      <a:endParaRPr b="1" sz="1200" u="none" cap="none" strike="noStrike">
                        <a:solidFill>
                          <a:srgbClr val="FFFFFF"/>
                        </a:solidFill>
                        <a:latin typeface="Cabin"/>
                        <a:ea typeface="Cabin"/>
                        <a:cs typeface="Cabin"/>
                        <a:sym typeface="Cabin"/>
                      </a:endParaRPr>
                    </a:p>
                  </a:txBody>
                  <a:tcPr marT="91425" marB="91425" marR="91425" marL="91425">
                    <a:lnL cap="flat" cmpd="sng" w="9525">
                      <a:solidFill>
                        <a:srgbClr val="FFFFFF"/>
                      </a:solidFill>
                      <a:prstDash val="solid"/>
                      <a:round/>
                      <a:headEnd len="sm" w="sm" type="none"/>
                      <a:tailEnd len="sm" w="sm" type="none"/>
                    </a:lnL>
                    <a:lnR cap="flat" cmpd="sng" w="9525">
                      <a:solidFill>
                        <a:srgbClr val="9A2F3E"/>
                      </a:solidFill>
                      <a:prstDash val="solid"/>
                      <a:round/>
                      <a:headEnd len="sm" w="sm" type="none"/>
                      <a:tailEnd len="sm" w="sm" type="none"/>
                    </a:lnR>
                    <a:lnT cap="flat" cmpd="sng" w="9525">
                      <a:solidFill>
                        <a:srgbClr val="9A2F3E"/>
                      </a:solidFill>
                      <a:prstDash val="solid"/>
                      <a:round/>
                      <a:headEnd len="sm" w="sm" type="none"/>
                      <a:tailEnd len="sm" w="sm" type="none"/>
                    </a:lnT>
                    <a:lnB cap="flat" cmpd="sng" w="9525">
                      <a:solidFill>
                        <a:srgbClr val="9A2F3E"/>
                      </a:solidFill>
                      <a:prstDash val="solid"/>
                      <a:round/>
                      <a:headEnd len="sm" w="sm" type="none"/>
                      <a:tailEnd len="sm" w="sm" type="none"/>
                    </a:lnB>
                    <a:solidFill>
                      <a:srgbClr val="9A2F3E"/>
                    </a:solidFill>
                  </a:tcPr>
                </a:tc>
              </a:tr>
              <a:tr h="92330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9525">
                      <a:solidFill>
                        <a:srgbClr val="9A2F3E"/>
                      </a:solidFill>
                      <a:prstDash val="solid"/>
                      <a:round/>
                      <a:headEnd len="sm" w="sm" type="none"/>
                      <a:tailEnd len="sm" w="sm" type="none"/>
                    </a:lnL>
                    <a:lnR cap="flat" cmpd="sng" w="9525">
                      <a:solidFill>
                        <a:srgbClr val="9A2F3E"/>
                      </a:solidFill>
                      <a:prstDash val="solid"/>
                      <a:round/>
                      <a:headEnd len="sm" w="sm" type="none"/>
                      <a:tailEnd len="sm" w="sm" type="none"/>
                    </a:lnR>
                    <a:lnT cap="flat" cmpd="sng" w="9525">
                      <a:solidFill>
                        <a:srgbClr val="9A2F3E"/>
                      </a:solidFill>
                      <a:prstDash val="solid"/>
                      <a:round/>
                      <a:headEnd len="sm" w="sm" type="none"/>
                      <a:tailEnd len="sm" w="sm" type="none"/>
                    </a:lnT>
                    <a:lnB cap="flat" cmpd="sng" w="9525">
                      <a:solidFill>
                        <a:srgbClr val="9A2F3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9525">
                      <a:solidFill>
                        <a:srgbClr val="9A2F3E"/>
                      </a:solidFill>
                      <a:prstDash val="solid"/>
                      <a:round/>
                      <a:headEnd len="sm" w="sm" type="none"/>
                      <a:tailEnd len="sm" w="sm" type="none"/>
                    </a:lnL>
                    <a:lnR cap="flat" cmpd="sng" w="9525">
                      <a:solidFill>
                        <a:srgbClr val="9A2F3E"/>
                      </a:solidFill>
                      <a:prstDash val="solid"/>
                      <a:round/>
                      <a:headEnd len="sm" w="sm" type="none"/>
                      <a:tailEnd len="sm" w="sm" type="none"/>
                    </a:lnR>
                    <a:lnT cap="flat" cmpd="sng" w="9525">
                      <a:solidFill>
                        <a:srgbClr val="9A2F3E"/>
                      </a:solidFill>
                      <a:prstDash val="solid"/>
                      <a:round/>
                      <a:headEnd len="sm" w="sm" type="none"/>
                      <a:tailEnd len="sm" w="sm" type="none"/>
                    </a:lnT>
                    <a:lnB cap="flat" cmpd="sng" w="9525">
                      <a:solidFill>
                        <a:srgbClr val="9A2F3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9525">
                      <a:solidFill>
                        <a:srgbClr val="9A2F3E"/>
                      </a:solidFill>
                      <a:prstDash val="solid"/>
                      <a:round/>
                      <a:headEnd len="sm" w="sm" type="none"/>
                      <a:tailEnd len="sm" w="sm" type="none"/>
                    </a:lnL>
                    <a:lnR cap="flat" cmpd="sng" w="9525">
                      <a:solidFill>
                        <a:srgbClr val="9A2F3E"/>
                      </a:solidFill>
                      <a:prstDash val="solid"/>
                      <a:round/>
                      <a:headEnd len="sm" w="sm" type="none"/>
                      <a:tailEnd len="sm" w="sm" type="none"/>
                    </a:lnR>
                    <a:lnT cap="flat" cmpd="sng" w="9525">
                      <a:solidFill>
                        <a:srgbClr val="9A2F3E"/>
                      </a:solidFill>
                      <a:prstDash val="solid"/>
                      <a:round/>
                      <a:headEnd len="sm" w="sm" type="none"/>
                      <a:tailEnd len="sm" w="sm" type="none"/>
                    </a:lnT>
                    <a:lnB cap="flat" cmpd="sng" w="9525">
                      <a:solidFill>
                        <a:srgbClr val="9A2F3E"/>
                      </a:solidFill>
                      <a:prstDash val="solid"/>
                      <a:round/>
                      <a:headEnd len="sm" w="sm" type="none"/>
                      <a:tailEnd len="sm" w="sm" type="none"/>
                    </a:lnB>
                    <a:solidFill>
                      <a:srgbClr val="FFFFFF"/>
                    </a:solidFill>
                  </a:tcPr>
                </a:tc>
              </a:tr>
              <a:tr h="92330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9525">
                      <a:solidFill>
                        <a:srgbClr val="9A2F3E"/>
                      </a:solidFill>
                      <a:prstDash val="solid"/>
                      <a:round/>
                      <a:headEnd len="sm" w="sm" type="none"/>
                      <a:tailEnd len="sm" w="sm" type="none"/>
                    </a:lnL>
                    <a:lnR cap="flat" cmpd="sng" w="9525">
                      <a:solidFill>
                        <a:srgbClr val="9A2F3E"/>
                      </a:solidFill>
                      <a:prstDash val="solid"/>
                      <a:round/>
                      <a:headEnd len="sm" w="sm" type="none"/>
                      <a:tailEnd len="sm" w="sm" type="none"/>
                    </a:lnR>
                    <a:lnT cap="flat" cmpd="sng" w="9525">
                      <a:solidFill>
                        <a:srgbClr val="9A2F3E"/>
                      </a:solidFill>
                      <a:prstDash val="solid"/>
                      <a:round/>
                      <a:headEnd len="sm" w="sm" type="none"/>
                      <a:tailEnd len="sm" w="sm" type="none"/>
                    </a:lnT>
                    <a:lnB cap="flat" cmpd="sng" w="9525">
                      <a:solidFill>
                        <a:srgbClr val="9A2F3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9525">
                      <a:solidFill>
                        <a:srgbClr val="9A2F3E"/>
                      </a:solidFill>
                      <a:prstDash val="solid"/>
                      <a:round/>
                      <a:headEnd len="sm" w="sm" type="none"/>
                      <a:tailEnd len="sm" w="sm" type="none"/>
                    </a:lnL>
                    <a:lnR cap="flat" cmpd="sng" w="9525">
                      <a:solidFill>
                        <a:srgbClr val="9A2F3E"/>
                      </a:solidFill>
                      <a:prstDash val="solid"/>
                      <a:round/>
                      <a:headEnd len="sm" w="sm" type="none"/>
                      <a:tailEnd len="sm" w="sm" type="none"/>
                    </a:lnR>
                    <a:lnT cap="flat" cmpd="sng" w="9525">
                      <a:solidFill>
                        <a:srgbClr val="9A2F3E"/>
                      </a:solidFill>
                      <a:prstDash val="solid"/>
                      <a:round/>
                      <a:headEnd len="sm" w="sm" type="none"/>
                      <a:tailEnd len="sm" w="sm" type="none"/>
                    </a:lnT>
                    <a:lnB cap="flat" cmpd="sng" w="9525">
                      <a:solidFill>
                        <a:srgbClr val="9A2F3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9525">
                      <a:solidFill>
                        <a:srgbClr val="9A2F3E"/>
                      </a:solidFill>
                      <a:prstDash val="solid"/>
                      <a:round/>
                      <a:headEnd len="sm" w="sm" type="none"/>
                      <a:tailEnd len="sm" w="sm" type="none"/>
                    </a:lnL>
                    <a:lnR cap="flat" cmpd="sng" w="9525">
                      <a:solidFill>
                        <a:srgbClr val="9A2F3E"/>
                      </a:solidFill>
                      <a:prstDash val="solid"/>
                      <a:round/>
                      <a:headEnd len="sm" w="sm" type="none"/>
                      <a:tailEnd len="sm" w="sm" type="none"/>
                    </a:lnR>
                    <a:lnT cap="flat" cmpd="sng" w="9525">
                      <a:solidFill>
                        <a:srgbClr val="9A2F3E"/>
                      </a:solidFill>
                      <a:prstDash val="solid"/>
                      <a:round/>
                      <a:headEnd len="sm" w="sm" type="none"/>
                      <a:tailEnd len="sm" w="sm" type="none"/>
                    </a:lnT>
                    <a:lnB cap="flat" cmpd="sng" w="9525">
                      <a:solidFill>
                        <a:srgbClr val="9A2F3E"/>
                      </a:solidFill>
                      <a:prstDash val="solid"/>
                      <a:round/>
                      <a:headEnd len="sm" w="sm" type="none"/>
                      <a:tailEnd len="sm" w="sm" type="none"/>
                    </a:lnB>
                    <a:solidFill>
                      <a:srgbClr val="FFFFFF"/>
                    </a:solidFill>
                  </a:tcPr>
                </a:tc>
              </a:tr>
              <a:tr h="92330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9525">
                      <a:solidFill>
                        <a:srgbClr val="9A2F3E"/>
                      </a:solidFill>
                      <a:prstDash val="solid"/>
                      <a:round/>
                      <a:headEnd len="sm" w="sm" type="none"/>
                      <a:tailEnd len="sm" w="sm" type="none"/>
                    </a:lnL>
                    <a:lnR cap="flat" cmpd="sng" w="9525">
                      <a:solidFill>
                        <a:srgbClr val="9A2F3E"/>
                      </a:solidFill>
                      <a:prstDash val="solid"/>
                      <a:round/>
                      <a:headEnd len="sm" w="sm" type="none"/>
                      <a:tailEnd len="sm" w="sm" type="none"/>
                    </a:lnR>
                    <a:lnT cap="flat" cmpd="sng" w="9525">
                      <a:solidFill>
                        <a:srgbClr val="9A2F3E"/>
                      </a:solidFill>
                      <a:prstDash val="solid"/>
                      <a:round/>
                      <a:headEnd len="sm" w="sm" type="none"/>
                      <a:tailEnd len="sm" w="sm" type="none"/>
                    </a:lnT>
                    <a:lnB cap="flat" cmpd="sng" w="9525">
                      <a:solidFill>
                        <a:srgbClr val="9A2F3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9525">
                      <a:solidFill>
                        <a:srgbClr val="9A2F3E"/>
                      </a:solidFill>
                      <a:prstDash val="solid"/>
                      <a:round/>
                      <a:headEnd len="sm" w="sm" type="none"/>
                      <a:tailEnd len="sm" w="sm" type="none"/>
                    </a:lnL>
                    <a:lnR cap="flat" cmpd="sng" w="9525">
                      <a:solidFill>
                        <a:srgbClr val="9A2F3E"/>
                      </a:solidFill>
                      <a:prstDash val="solid"/>
                      <a:round/>
                      <a:headEnd len="sm" w="sm" type="none"/>
                      <a:tailEnd len="sm" w="sm" type="none"/>
                    </a:lnR>
                    <a:lnT cap="flat" cmpd="sng" w="9525">
                      <a:solidFill>
                        <a:srgbClr val="9A2F3E"/>
                      </a:solidFill>
                      <a:prstDash val="solid"/>
                      <a:round/>
                      <a:headEnd len="sm" w="sm" type="none"/>
                      <a:tailEnd len="sm" w="sm" type="none"/>
                    </a:lnT>
                    <a:lnB cap="flat" cmpd="sng" w="9525">
                      <a:solidFill>
                        <a:srgbClr val="9A2F3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9525">
                      <a:solidFill>
                        <a:srgbClr val="9A2F3E"/>
                      </a:solidFill>
                      <a:prstDash val="solid"/>
                      <a:round/>
                      <a:headEnd len="sm" w="sm" type="none"/>
                      <a:tailEnd len="sm" w="sm" type="none"/>
                    </a:lnL>
                    <a:lnR cap="flat" cmpd="sng" w="9525">
                      <a:solidFill>
                        <a:srgbClr val="9A2F3E"/>
                      </a:solidFill>
                      <a:prstDash val="solid"/>
                      <a:round/>
                      <a:headEnd len="sm" w="sm" type="none"/>
                      <a:tailEnd len="sm" w="sm" type="none"/>
                    </a:lnR>
                    <a:lnT cap="flat" cmpd="sng" w="9525">
                      <a:solidFill>
                        <a:srgbClr val="9A2F3E"/>
                      </a:solidFill>
                      <a:prstDash val="solid"/>
                      <a:round/>
                      <a:headEnd len="sm" w="sm" type="none"/>
                      <a:tailEnd len="sm" w="sm" type="none"/>
                    </a:lnT>
                    <a:lnB cap="flat" cmpd="sng" w="9525">
                      <a:solidFill>
                        <a:srgbClr val="9A2F3E"/>
                      </a:solidFill>
                      <a:prstDash val="solid"/>
                      <a:round/>
                      <a:headEnd len="sm" w="sm" type="none"/>
                      <a:tailEnd len="sm" w="sm" type="none"/>
                    </a:lnB>
                    <a:solidFill>
                      <a:srgbClr val="FFFFFF"/>
                    </a:solidFill>
                  </a:tcPr>
                </a:tc>
              </a:tr>
            </a:tbl>
          </a:graphicData>
        </a:graphic>
      </p:graphicFrame>
      <p:sp>
        <p:nvSpPr>
          <p:cNvPr id="127" name="Google Shape;127;p26"/>
          <p:cNvSpPr/>
          <p:nvPr/>
        </p:nvSpPr>
        <p:spPr>
          <a:xfrm>
            <a:off x="457200" y="548640"/>
            <a:ext cx="8229600" cy="685800"/>
          </a:xfrm>
          <a:prstGeom prst="rect">
            <a:avLst/>
          </a:prstGeom>
          <a:solidFill>
            <a:srgbClr val="9A2F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rgbClr val="FFFFFF"/>
                </a:solidFill>
                <a:latin typeface="Boogaloo"/>
                <a:ea typeface="Boogaloo"/>
                <a:cs typeface="Boogaloo"/>
                <a:sym typeface="Boogaloo"/>
              </a:rPr>
              <a:t>Revising Designs</a:t>
            </a:r>
            <a:endParaRPr b="0" i="0" sz="3200" u="none" cap="none" strike="noStrike">
              <a:solidFill>
                <a:srgbClr val="FFFFFF"/>
              </a:solidFill>
              <a:latin typeface="Boogaloo"/>
              <a:ea typeface="Boogaloo"/>
              <a:cs typeface="Boogaloo"/>
              <a:sym typeface="Boogaloo"/>
            </a:endParaRPr>
          </a:p>
        </p:txBody>
      </p:sp>
      <p:pic>
        <p:nvPicPr>
          <p:cNvPr descr="With your class icon" id="128" name="Google Shape;128;p26"/>
          <p:cNvPicPr preferRelativeResize="0"/>
          <p:nvPr/>
        </p:nvPicPr>
        <p:blipFill rotWithShape="1">
          <a:blip r:embed="rId3">
            <a:alphaModFix/>
          </a:blip>
          <a:srcRect b="0" l="0" r="0" t="0"/>
          <a:stretch/>
        </p:blipFill>
        <p:spPr>
          <a:xfrm>
            <a:off x="759625" y="1736625"/>
            <a:ext cx="750389" cy="7620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32" name="Shape 132"/>
        <p:cNvGrpSpPr/>
        <p:nvPr/>
      </p:nvGrpSpPr>
      <p:grpSpPr>
        <a:xfrm>
          <a:off x="0" y="0"/>
          <a:ext cx="0" cy="0"/>
          <a:chOff x="0" y="0"/>
          <a:chExt cx="0" cy="0"/>
        </a:xfrm>
      </p:grpSpPr>
      <p:sp>
        <p:nvSpPr>
          <p:cNvPr id="133" name="Google Shape;133;p27"/>
          <p:cNvSpPr/>
          <p:nvPr/>
        </p:nvSpPr>
        <p:spPr>
          <a:xfrm>
            <a:off x="457150" y="1566863"/>
            <a:ext cx="8229600" cy="4929600"/>
          </a:xfrm>
          <a:prstGeom prst="rect">
            <a:avLst/>
          </a:prstGeom>
          <a:solidFill>
            <a:srgbClr val="F5EDEF"/>
          </a:solidFill>
          <a:ln cap="flat" cmpd="sng" w="19050">
            <a:solidFill>
              <a:srgbClr val="9A2F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p27"/>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800" u="none" cap="none" strike="noStrike">
                <a:solidFill>
                  <a:srgbClr val="9A2F3E"/>
                </a:solidFill>
                <a:latin typeface="Boogaloo"/>
                <a:ea typeface="Boogaloo"/>
                <a:cs typeface="Boogaloo"/>
                <a:sym typeface="Boogaloo"/>
              </a:rPr>
              <a:t>Slide D</a:t>
            </a:r>
            <a:endParaRPr b="0" i="0" sz="1800" u="none" cap="none" strike="noStrike">
              <a:solidFill>
                <a:srgbClr val="9A2F3E"/>
              </a:solidFill>
              <a:latin typeface="Boogaloo"/>
              <a:ea typeface="Boogaloo"/>
              <a:cs typeface="Boogaloo"/>
              <a:sym typeface="Boogaloo"/>
            </a:endParaRPr>
          </a:p>
        </p:txBody>
      </p:sp>
      <p:sp>
        <p:nvSpPr>
          <p:cNvPr id="135" name="Google Shape;135;p27"/>
          <p:cNvSpPr txBox="1"/>
          <p:nvPr/>
        </p:nvSpPr>
        <p:spPr>
          <a:xfrm>
            <a:off x="520850" y="2879200"/>
            <a:ext cx="8106600" cy="35229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800"/>
              <a:buFont typeface="Arial"/>
              <a:buNone/>
            </a:pPr>
            <a:r>
              <a:t/>
            </a:r>
            <a:endParaRPr b="0" i="0" sz="2800" u="none" cap="none" strike="noStrike">
              <a:solidFill>
                <a:srgbClr val="000000"/>
              </a:solidFill>
              <a:latin typeface="Cabin Condensed"/>
              <a:ea typeface="Cabin Condensed"/>
              <a:cs typeface="Cabin Condensed"/>
              <a:sym typeface="Cabin Condensed"/>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aphicFrame>
        <p:nvGraphicFramePr>
          <p:cNvPr descr="Screenshot of a table with three columns titled: Change I have made to my protective device, The scientific reasoning behind the change I have made, and Effects of that change on the performance or structure of the device (positives or negatives). There are four empty rows. In the first column is text reading I changed my material from wood to earplug foam. " id="136" name="Google Shape;136;p27"/>
          <p:cNvGraphicFramePr/>
          <p:nvPr/>
        </p:nvGraphicFramePr>
        <p:xfrm>
          <a:off x="731125" y="2625475"/>
          <a:ext cx="3000000" cy="3000000"/>
        </p:xfrm>
        <a:graphic>
          <a:graphicData uri="http://schemas.openxmlformats.org/drawingml/2006/table">
            <a:tbl>
              <a:tblPr>
                <a:noFill/>
                <a:tableStyleId>{14061AEF-1EB5-4D07-8955-141C8B69F781}</a:tableStyleId>
              </a:tblPr>
              <a:tblGrid>
                <a:gridCol w="1983250"/>
                <a:gridCol w="2868075"/>
                <a:gridCol w="2784850"/>
              </a:tblGrid>
              <a:tr h="752975">
                <a:tc>
                  <a:txBody>
                    <a:bodyPr/>
                    <a:lstStyle/>
                    <a:p>
                      <a:pPr indent="0" lvl="0" marL="0" marR="0" rtl="0" algn="ctr">
                        <a:lnSpc>
                          <a:spcPct val="100000"/>
                        </a:lnSpc>
                        <a:spcBef>
                          <a:spcPts val="0"/>
                        </a:spcBef>
                        <a:spcAft>
                          <a:spcPts val="0"/>
                        </a:spcAft>
                        <a:buClr>
                          <a:srgbClr val="000000"/>
                        </a:buClr>
                        <a:buSzPts val="1200"/>
                        <a:buFont typeface="Arial"/>
                        <a:buNone/>
                      </a:pPr>
                      <a:r>
                        <a:rPr b="1" lang="en" sz="1200" u="none" cap="none" strike="noStrike">
                          <a:solidFill>
                            <a:srgbClr val="FFFFFF"/>
                          </a:solidFill>
                          <a:latin typeface="Cabin"/>
                          <a:ea typeface="Cabin"/>
                          <a:cs typeface="Cabin"/>
                          <a:sym typeface="Cabin"/>
                        </a:rPr>
                        <a:t>Change I have made to my protective device</a:t>
                      </a:r>
                      <a:endParaRPr b="1" sz="1200" u="none" cap="none" strike="noStrike">
                        <a:solidFill>
                          <a:srgbClr val="FFFFFF"/>
                        </a:solidFill>
                        <a:latin typeface="Cabin"/>
                        <a:ea typeface="Cabin"/>
                        <a:cs typeface="Cabin"/>
                        <a:sym typeface="Cabin"/>
                      </a:endParaRPr>
                    </a:p>
                  </a:txBody>
                  <a:tcPr marT="91425" marB="91425" marR="91425" marL="91425">
                    <a:lnL cap="flat" cmpd="sng" w="9525">
                      <a:solidFill>
                        <a:srgbClr val="9A2F3E"/>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9A2F3E"/>
                      </a:solidFill>
                      <a:prstDash val="solid"/>
                      <a:round/>
                      <a:headEnd len="sm" w="sm" type="none"/>
                      <a:tailEnd len="sm" w="sm" type="none"/>
                    </a:lnT>
                    <a:lnB cap="flat" cmpd="sng" w="9525">
                      <a:solidFill>
                        <a:srgbClr val="9A2F3E"/>
                      </a:solidFill>
                      <a:prstDash val="solid"/>
                      <a:round/>
                      <a:headEnd len="sm" w="sm" type="none"/>
                      <a:tailEnd len="sm" w="sm" type="none"/>
                    </a:lnB>
                    <a:solidFill>
                      <a:srgbClr val="9A2F3E"/>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1" lang="en" sz="1200" u="none" cap="none" strike="noStrike">
                          <a:solidFill>
                            <a:srgbClr val="FFFFFF"/>
                          </a:solidFill>
                          <a:latin typeface="Cabin"/>
                          <a:ea typeface="Cabin"/>
                          <a:cs typeface="Cabin"/>
                          <a:sym typeface="Cabin"/>
                        </a:rPr>
                        <a:t>The scientific reasoning behind the change I have made</a:t>
                      </a:r>
                      <a:endParaRPr b="1" sz="1200" u="none" cap="none" strike="noStrike">
                        <a:solidFill>
                          <a:srgbClr val="FFFFFF"/>
                        </a:solidFill>
                        <a:latin typeface="Cabin"/>
                        <a:ea typeface="Cabin"/>
                        <a:cs typeface="Cabin"/>
                        <a:sym typeface="Cabin"/>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9A2F3E"/>
                      </a:solidFill>
                      <a:prstDash val="solid"/>
                      <a:round/>
                      <a:headEnd len="sm" w="sm" type="none"/>
                      <a:tailEnd len="sm" w="sm" type="none"/>
                    </a:lnT>
                    <a:lnB cap="flat" cmpd="sng" w="9525">
                      <a:solidFill>
                        <a:srgbClr val="9A2F3E"/>
                      </a:solidFill>
                      <a:prstDash val="solid"/>
                      <a:round/>
                      <a:headEnd len="sm" w="sm" type="none"/>
                      <a:tailEnd len="sm" w="sm" type="none"/>
                    </a:lnB>
                    <a:solidFill>
                      <a:srgbClr val="9A2F3E"/>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1" lang="en" sz="1200" u="none" cap="none" strike="noStrike">
                          <a:solidFill>
                            <a:srgbClr val="FFFFFF"/>
                          </a:solidFill>
                          <a:latin typeface="Cabin"/>
                          <a:ea typeface="Cabin"/>
                          <a:cs typeface="Cabin"/>
                          <a:sym typeface="Cabin"/>
                        </a:rPr>
                        <a:t>Effects of that change on the performance or structure of the device (positives or negatives)</a:t>
                      </a:r>
                      <a:endParaRPr b="1" sz="1200" u="none" cap="none" strike="noStrike">
                        <a:solidFill>
                          <a:srgbClr val="FFFFFF"/>
                        </a:solidFill>
                        <a:latin typeface="Cabin"/>
                        <a:ea typeface="Cabin"/>
                        <a:cs typeface="Cabin"/>
                        <a:sym typeface="Cabin"/>
                      </a:endParaRPr>
                    </a:p>
                  </a:txBody>
                  <a:tcPr marT="91425" marB="91425" marR="91425" marL="91425">
                    <a:lnL cap="flat" cmpd="sng" w="9525">
                      <a:solidFill>
                        <a:srgbClr val="FFFFFF"/>
                      </a:solidFill>
                      <a:prstDash val="solid"/>
                      <a:round/>
                      <a:headEnd len="sm" w="sm" type="none"/>
                      <a:tailEnd len="sm" w="sm" type="none"/>
                    </a:lnL>
                    <a:lnR cap="flat" cmpd="sng" w="9525">
                      <a:solidFill>
                        <a:srgbClr val="9A2F3E"/>
                      </a:solidFill>
                      <a:prstDash val="solid"/>
                      <a:round/>
                      <a:headEnd len="sm" w="sm" type="none"/>
                      <a:tailEnd len="sm" w="sm" type="none"/>
                    </a:lnR>
                    <a:lnT cap="flat" cmpd="sng" w="9525">
                      <a:solidFill>
                        <a:srgbClr val="9A2F3E"/>
                      </a:solidFill>
                      <a:prstDash val="solid"/>
                      <a:round/>
                      <a:headEnd len="sm" w="sm" type="none"/>
                      <a:tailEnd len="sm" w="sm" type="none"/>
                    </a:lnT>
                    <a:lnB cap="flat" cmpd="sng" w="9525">
                      <a:solidFill>
                        <a:srgbClr val="9A2F3E"/>
                      </a:solidFill>
                      <a:prstDash val="solid"/>
                      <a:round/>
                      <a:headEnd len="sm" w="sm" type="none"/>
                      <a:tailEnd len="sm" w="sm" type="none"/>
                    </a:lnB>
                    <a:solidFill>
                      <a:srgbClr val="9A2F3E"/>
                    </a:solidFill>
                  </a:tcPr>
                </a:tc>
              </a:tr>
              <a:tr h="92330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9525">
                      <a:solidFill>
                        <a:srgbClr val="9A2F3E"/>
                      </a:solidFill>
                      <a:prstDash val="solid"/>
                      <a:round/>
                      <a:headEnd len="sm" w="sm" type="none"/>
                      <a:tailEnd len="sm" w="sm" type="none"/>
                    </a:lnL>
                    <a:lnR cap="flat" cmpd="sng" w="9525">
                      <a:solidFill>
                        <a:srgbClr val="9A2F3E"/>
                      </a:solidFill>
                      <a:prstDash val="solid"/>
                      <a:round/>
                      <a:headEnd len="sm" w="sm" type="none"/>
                      <a:tailEnd len="sm" w="sm" type="none"/>
                    </a:lnR>
                    <a:lnT cap="flat" cmpd="sng" w="9525">
                      <a:solidFill>
                        <a:srgbClr val="9A2F3E"/>
                      </a:solidFill>
                      <a:prstDash val="solid"/>
                      <a:round/>
                      <a:headEnd len="sm" w="sm" type="none"/>
                      <a:tailEnd len="sm" w="sm" type="none"/>
                    </a:lnT>
                    <a:lnB cap="flat" cmpd="sng" w="9525">
                      <a:solidFill>
                        <a:srgbClr val="9A2F3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9525">
                      <a:solidFill>
                        <a:srgbClr val="9A2F3E"/>
                      </a:solidFill>
                      <a:prstDash val="solid"/>
                      <a:round/>
                      <a:headEnd len="sm" w="sm" type="none"/>
                      <a:tailEnd len="sm" w="sm" type="none"/>
                    </a:lnL>
                    <a:lnR cap="flat" cmpd="sng" w="9525">
                      <a:solidFill>
                        <a:srgbClr val="9A2F3E"/>
                      </a:solidFill>
                      <a:prstDash val="solid"/>
                      <a:round/>
                      <a:headEnd len="sm" w="sm" type="none"/>
                      <a:tailEnd len="sm" w="sm" type="none"/>
                    </a:lnR>
                    <a:lnT cap="flat" cmpd="sng" w="9525">
                      <a:solidFill>
                        <a:srgbClr val="9A2F3E"/>
                      </a:solidFill>
                      <a:prstDash val="solid"/>
                      <a:round/>
                      <a:headEnd len="sm" w="sm" type="none"/>
                      <a:tailEnd len="sm" w="sm" type="none"/>
                    </a:lnT>
                    <a:lnB cap="flat" cmpd="sng" w="9525">
                      <a:solidFill>
                        <a:srgbClr val="9A2F3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9525">
                      <a:solidFill>
                        <a:srgbClr val="9A2F3E"/>
                      </a:solidFill>
                      <a:prstDash val="solid"/>
                      <a:round/>
                      <a:headEnd len="sm" w="sm" type="none"/>
                      <a:tailEnd len="sm" w="sm" type="none"/>
                    </a:lnL>
                    <a:lnR cap="flat" cmpd="sng" w="9525">
                      <a:solidFill>
                        <a:srgbClr val="9A2F3E"/>
                      </a:solidFill>
                      <a:prstDash val="solid"/>
                      <a:round/>
                      <a:headEnd len="sm" w="sm" type="none"/>
                      <a:tailEnd len="sm" w="sm" type="none"/>
                    </a:lnR>
                    <a:lnT cap="flat" cmpd="sng" w="9525">
                      <a:solidFill>
                        <a:srgbClr val="9A2F3E"/>
                      </a:solidFill>
                      <a:prstDash val="solid"/>
                      <a:round/>
                      <a:headEnd len="sm" w="sm" type="none"/>
                      <a:tailEnd len="sm" w="sm" type="none"/>
                    </a:lnT>
                    <a:lnB cap="flat" cmpd="sng" w="9525">
                      <a:solidFill>
                        <a:srgbClr val="9A2F3E"/>
                      </a:solidFill>
                      <a:prstDash val="solid"/>
                      <a:round/>
                      <a:headEnd len="sm" w="sm" type="none"/>
                      <a:tailEnd len="sm" w="sm" type="none"/>
                    </a:lnB>
                    <a:solidFill>
                      <a:srgbClr val="FFFFFF"/>
                    </a:solidFill>
                  </a:tcPr>
                </a:tc>
              </a:tr>
              <a:tr h="92330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9525">
                      <a:solidFill>
                        <a:srgbClr val="9A2F3E"/>
                      </a:solidFill>
                      <a:prstDash val="solid"/>
                      <a:round/>
                      <a:headEnd len="sm" w="sm" type="none"/>
                      <a:tailEnd len="sm" w="sm" type="none"/>
                    </a:lnL>
                    <a:lnR cap="flat" cmpd="sng" w="9525">
                      <a:solidFill>
                        <a:srgbClr val="9A2F3E"/>
                      </a:solidFill>
                      <a:prstDash val="solid"/>
                      <a:round/>
                      <a:headEnd len="sm" w="sm" type="none"/>
                      <a:tailEnd len="sm" w="sm" type="none"/>
                    </a:lnR>
                    <a:lnT cap="flat" cmpd="sng" w="9525">
                      <a:solidFill>
                        <a:srgbClr val="9A2F3E"/>
                      </a:solidFill>
                      <a:prstDash val="solid"/>
                      <a:round/>
                      <a:headEnd len="sm" w="sm" type="none"/>
                      <a:tailEnd len="sm" w="sm" type="none"/>
                    </a:lnT>
                    <a:lnB cap="flat" cmpd="sng" w="9525">
                      <a:solidFill>
                        <a:srgbClr val="9A2F3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9525">
                      <a:solidFill>
                        <a:srgbClr val="9A2F3E"/>
                      </a:solidFill>
                      <a:prstDash val="solid"/>
                      <a:round/>
                      <a:headEnd len="sm" w="sm" type="none"/>
                      <a:tailEnd len="sm" w="sm" type="none"/>
                    </a:lnL>
                    <a:lnR cap="flat" cmpd="sng" w="9525">
                      <a:solidFill>
                        <a:srgbClr val="9A2F3E"/>
                      </a:solidFill>
                      <a:prstDash val="solid"/>
                      <a:round/>
                      <a:headEnd len="sm" w="sm" type="none"/>
                      <a:tailEnd len="sm" w="sm" type="none"/>
                    </a:lnR>
                    <a:lnT cap="flat" cmpd="sng" w="9525">
                      <a:solidFill>
                        <a:srgbClr val="9A2F3E"/>
                      </a:solidFill>
                      <a:prstDash val="solid"/>
                      <a:round/>
                      <a:headEnd len="sm" w="sm" type="none"/>
                      <a:tailEnd len="sm" w="sm" type="none"/>
                    </a:lnT>
                    <a:lnB cap="flat" cmpd="sng" w="9525">
                      <a:solidFill>
                        <a:srgbClr val="9A2F3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9525">
                      <a:solidFill>
                        <a:srgbClr val="9A2F3E"/>
                      </a:solidFill>
                      <a:prstDash val="solid"/>
                      <a:round/>
                      <a:headEnd len="sm" w="sm" type="none"/>
                      <a:tailEnd len="sm" w="sm" type="none"/>
                    </a:lnL>
                    <a:lnR cap="flat" cmpd="sng" w="9525">
                      <a:solidFill>
                        <a:srgbClr val="9A2F3E"/>
                      </a:solidFill>
                      <a:prstDash val="solid"/>
                      <a:round/>
                      <a:headEnd len="sm" w="sm" type="none"/>
                      <a:tailEnd len="sm" w="sm" type="none"/>
                    </a:lnR>
                    <a:lnT cap="flat" cmpd="sng" w="9525">
                      <a:solidFill>
                        <a:srgbClr val="9A2F3E"/>
                      </a:solidFill>
                      <a:prstDash val="solid"/>
                      <a:round/>
                      <a:headEnd len="sm" w="sm" type="none"/>
                      <a:tailEnd len="sm" w="sm" type="none"/>
                    </a:lnT>
                    <a:lnB cap="flat" cmpd="sng" w="9525">
                      <a:solidFill>
                        <a:srgbClr val="9A2F3E"/>
                      </a:solidFill>
                      <a:prstDash val="solid"/>
                      <a:round/>
                      <a:headEnd len="sm" w="sm" type="none"/>
                      <a:tailEnd len="sm" w="sm" type="none"/>
                    </a:lnB>
                    <a:solidFill>
                      <a:srgbClr val="FFFFFF"/>
                    </a:solidFill>
                  </a:tcPr>
                </a:tc>
              </a:tr>
              <a:tr h="92330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9525">
                      <a:solidFill>
                        <a:srgbClr val="9A2F3E"/>
                      </a:solidFill>
                      <a:prstDash val="solid"/>
                      <a:round/>
                      <a:headEnd len="sm" w="sm" type="none"/>
                      <a:tailEnd len="sm" w="sm" type="none"/>
                    </a:lnL>
                    <a:lnR cap="flat" cmpd="sng" w="9525">
                      <a:solidFill>
                        <a:srgbClr val="9A2F3E"/>
                      </a:solidFill>
                      <a:prstDash val="solid"/>
                      <a:round/>
                      <a:headEnd len="sm" w="sm" type="none"/>
                      <a:tailEnd len="sm" w="sm" type="none"/>
                    </a:lnR>
                    <a:lnT cap="flat" cmpd="sng" w="9525">
                      <a:solidFill>
                        <a:srgbClr val="9A2F3E"/>
                      </a:solidFill>
                      <a:prstDash val="solid"/>
                      <a:round/>
                      <a:headEnd len="sm" w="sm" type="none"/>
                      <a:tailEnd len="sm" w="sm" type="none"/>
                    </a:lnT>
                    <a:lnB cap="flat" cmpd="sng" w="9525">
                      <a:solidFill>
                        <a:srgbClr val="9A2F3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9525">
                      <a:solidFill>
                        <a:srgbClr val="9A2F3E"/>
                      </a:solidFill>
                      <a:prstDash val="solid"/>
                      <a:round/>
                      <a:headEnd len="sm" w="sm" type="none"/>
                      <a:tailEnd len="sm" w="sm" type="none"/>
                    </a:lnL>
                    <a:lnR cap="flat" cmpd="sng" w="9525">
                      <a:solidFill>
                        <a:srgbClr val="9A2F3E"/>
                      </a:solidFill>
                      <a:prstDash val="solid"/>
                      <a:round/>
                      <a:headEnd len="sm" w="sm" type="none"/>
                      <a:tailEnd len="sm" w="sm" type="none"/>
                    </a:lnR>
                    <a:lnT cap="flat" cmpd="sng" w="9525">
                      <a:solidFill>
                        <a:srgbClr val="9A2F3E"/>
                      </a:solidFill>
                      <a:prstDash val="solid"/>
                      <a:round/>
                      <a:headEnd len="sm" w="sm" type="none"/>
                      <a:tailEnd len="sm" w="sm" type="none"/>
                    </a:lnT>
                    <a:lnB cap="flat" cmpd="sng" w="9525">
                      <a:solidFill>
                        <a:srgbClr val="9A2F3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9525">
                      <a:solidFill>
                        <a:srgbClr val="9A2F3E"/>
                      </a:solidFill>
                      <a:prstDash val="solid"/>
                      <a:round/>
                      <a:headEnd len="sm" w="sm" type="none"/>
                      <a:tailEnd len="sm" w="sm" type="none"/>
                    </a:lnL>
                    <a:lnR cap="flat" cmpd="sng" w="9525">
                      <a:solidFill>
                        <a:srgbClr val="9A2F3E"/>
                      </a:solidFill>
                      <a:prstDash val="solid"/>
                      <a:round/>
                      <a:headEnd len="sm" w="sm" type="none"/>
                      <a:tailEnd len="sm" w="sm" type="none"/>
                    </a:lnR>
                    <a:lnT cap="flat" cmpd="sng" w="9525">
                      <a:solidFill>
                        <a:srgbClr val="9A2F3E"/>
                      </a:solidFill>
                      <a:prstDash val="solid"/>
                      <a:round/>
                      <a:headEnd len="sm" w="sm" type="none"/>
                      <a:tailEnd len="sm" w="sm" type="none"/>
                    </a:lnT>
                    <a:lnB cap="flat" cmpd="sng" w="9525">
                      <a:solidFill>
                        <a:srgbClr val="9A2F3E"/>
                      </a:solidFill>
                      <a:prstDash val="solid"/>
                      <a:round/>
                      <a:headEnd len="sm" w="sm" type="none"/>
                      <a:tailEnd len="sm" w="sm" type="none"/>
                    </a:lnB>
                    <a:solidFill>
                      <a:srgbClr val="FFFFFF"/>
                    </a:solidFill>
                  </a:tcPr>
                </a:tc>
              </a:tr>
            </a:tbl>
          </a:graphicData>
        </a:graphic>
      </p:graphicFrame>
      <p:sp>
        <p:nvSpPr>
          <p:cNvPr id="137" name="Google Shape;137;p27"/>
          <p:cNvSpPr txBox="1"/>
          <p:nvPr/>
        </p:nvSpPr>
        <p:spPr>
          <a:xfrm>
            <a:off x="731125" y="3302425"/>
            <a:ext cx="1769400" cy="745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Caveat"/>
                <a:ea typeface="Caveat"/>
                <a:cs typeface="Caveat"/>
                <a:sym typeface="Caveat"/>
              </a:rPr>
              <a:t>I changed my material from wood to earplug foam.</a:t>
            </a:r>
            <a:endParaRPr b="1" i="0" sz="1800" u="none" cap="none" strike="noStrike">
              <a:solidFill>
                <a:srgbClr val="000000"/>
              </a:solidFill>
              <a:latin typeface="Caveat"/>
              <a:ea typeface="Caveat"/>
              <a:cs typeface="Caveat"/>
              <a:sym typeface="Caveat"/>
            </a:endParaRPr>
          </a:p>
        </p:txBody>
      </p:sp>
      <p:sp>
        <p:nvSpPr>
          <p:cNvPr id="138" name="Google Shape;138;p27"/>
          <p:cNvSpPr txBox="1"/>
          <p:nvPr/>
        </p:nvSpPr>
        <p:spPr>
          <a:xfrm>
            <a:off x="1511175" y="1698525"/>
            <a:ext cx="4411500" cy="762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1000"/>
              </a:spcAft>
              <a:buClr>
                <a:srgbClr val="000000"/>
              </a:buClr>
              <a:buSzPts val="3000"/>
              <a:buFont typeface="Arial"/>
              <a:buNone/>
            </a:pPr>
            <a:r>
              <a:rPr b="0" i="0" lang="en" sz="3000" u="none" cap="none" strike="noStrike">
                <a:solidFill>
                  <a:srgbClr val="9A2F3E"/>
                </a:solidFill>
                <a:latin typeface="Boogaloo"/>
                <a:ea typeface="Boogaloo"/>
                <a:cs typeface="Boogaloo"/>
                <a:sym typeface="Boogaloo"/>
              </a:rPr>
              <a:t>Whole-Class Example</a:t>
            </a:r>
            <a:endParaRPr b="0" i="0" sz="3000" u="none" cap="none" strike="noStrike">
              <a:solidFill>
                <a:srgbClr val="000000"/>
              </a:solidFill>
              <a:latin typeface="Arial"/>
              <a:ea typeface="Arial"/>
              <a:cs typeface="Arial"/>
              <a:sym typeface="Arial"/>
            </a:endParaRPr>
          </a:p>
        </p:txBody>
      </p:sp>
      <p:sp>
        <p:nvSpPr>
          <p:cNvPr id="139" name="Google Shape;139;p27"/>
          <p:cNvSpPr/>
          <p:nvPr/>
        </p:nvSpPr>
        <p:spPr>
          <a:xfrm>
            <a:off x="457200" y="548640"/>
            <a:ext cx="8229600" cy="685800"/>
          </a:xfrm>
          <a:prstGeom prst="rect">
            <a:avLst/>
          </a:prstGeom>
          <a:solidFill>
            <a:srgbClr val="9A2F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rgbClr val="FFFFFF"/>
                </a:solidFill>
                <a:latin typeface="Boogaloo"/>
                <a:ea typeface="Boogaloo"/>
                <a:cs typeface="Boogaloo"/>
                <a:sym typeface="Boogaloo"/>
              </a:rPr>
              <a:t>Revising Designs</a:t>
            </a:r>
            <a:endParaRPr b="0" i="0" sz="3200" u="none" cap="none" strike="noStrike">
              <a:solidFill>
                <a:srgbClr val="FFFFFF"/>
              </a:solidFill>
              <a:latin typeface="Boogaloo"/>
              <a:ea typeface="Boogaloo"/>
              <a:cs typeface="Boogaloo"/>
              <a:sym typeface="Boogaloo"/>
            </a:endParaRPr>
          </a:p>
        </p:txBody>
      </p:sp>
      <p:pic>
        <p:nvPicPr>
          <p:cNvPr descr="with your class icon" id="140" name="Google Shape;140;p27"/>
          <p:cNvPicPr preferRelativeResize="0"/>
          <p:nvPr/>
        </p:nvPicPr>
        <p:blipFill rotWithShape="1">
          <a:blip r:embed="rId3">
            <a:alphaModFix/>
          </a:blip>
          <a:srcRect b="0" l="0" r="0" t="0"/>
          <a:stretch/>
        </p:blipFill>
        <p:spPr>
          <a:xfrm>
            <a:off x="759625" y="1736625"/>
            <a:ext cx="750389" cy="7620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44" name="Shape 144"/>
        <p:cNvGrpSpPr/>
        <p:nvPr/>
      </p:nvGrpSpPr>
      <p:grpSpPr>
        <a:xfrm>
          <a:off x="0" y="0"/>
          <a:ext cx="0" cy="0"/>
          <a:chOff x="0" y="0"/>
          <a:chExt cx="0" cy="0"/>
        </a:xfrm>
      </p:grpSpPr>
      <p:sp>
        <p:nvSpPr>
          <p:cNvPr id="145" name="Google Shape;145;p28"/>
          <p:cNvSpPr/>
          <p:nvPr/>
        </p:nvSpPr>
        <p:spPr>
          <a:xfrm>
            <a:off x="457150" y="1566863"/>
            <a:ext cx="8229600" cy="4929600"/>
          </a:xfrm>
          <a:prstGeom prst="rect">
            <a:avLst/>
          </a:prstGeom>
          <a:solidFill>
            <a:srgbClr val="F5EDEF"/>
          </a:solidFill>
          <a:ln cap="flat" cmpd="sng" w="19050">
            <a:solidFill>
              <a:srgbClr val="9A2F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28"/>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800" u="none" cap="none" strike="noStrike">
                <a:solidFill>
                  <a:srgbClr val="9A2F3E"/>
                </a:solidFill>
                <a:latin typeface="Boogaloo"/>
                <a:ea typeface="Boogaloo"/>
                <a:cs typeface="Boogaloo"/>
                <a:sym typeface="Boogaloo"/>
              </a:rPr>
              <a:t>Slide E</a:t>
            </a:r>
            <a:endParaRPr b="0" i="0" sz="1800" u="none" cap="none" strike="noStrike">
              <a:solidFill>
                <a:srgbClr val="9A2F3E"/>
              </a:solidFill>
              <a:latin typeface="Boogaloo"/>
              <a:ea typeface="Boogaloo"/>
              <a:cs typeface="Boogaloo"/>
              <a:sym typeface="Boogaloo"/>
            </a:endParaRPr>
          </a:p>
        </p:txBody>
      </p:sp>
      <p:sp>
        <p:nvSpPr>
          <p:cNvPr id="147" name="Google Shape;147;p28"/>
          <p:cNvSpPr txBox="1"/>
          <p:nvPr/>
        </p:nvSpPr>
        <p:spPr>
          <a:xfrm>
            <a:off x="520850" y="2879200"/>
            <a:ext cx="8106600" cy="35229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800"/>
              <a:buFont typeface="Arial"/>
              <a:buNone/>
            </a:pPr>
            <a:r>
              <a:t/>
            </a:r>
            <a:endParaRPr b="0" i="0" sz="2800" u="none" cap="none" strike="noStrike">
              <a:solidFill>
                <a:srgbClr val="000000"/>
              </a:solidFill>
              <a:latin typeface="Cabin Condensed"/>
              <a:ea typeface="Cabin Condensed"/>
              <a:cs typeface="Cabin Condensed"/>
              <a:sym typeface="Cabin Condensed"/>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aphicFrame>
        <p:nvGraphicFramePr>
          <p:cNvPr descr="Screenshot of a table with three columns titled: Change I have made to my protective device, The scientific reasoning behind the change I have made, and Effects of that change on the performance or structure of the device (positives or negatives). There are four empty rows. In the first column is text reading I changed my material from wood to earplug foam. In the second column is text reading Foam deforms more and can be shaped to spread out the contact force over a greater area." id="148" name="Google Shape;148;p28"/>
          <p:cNvGraphicFramePr/>
          <p:nvPr/>
        </p:nvGraphicFramePr>
        <p:xfrm>
          <a:off x="731125" y="2625475"/>
          <a:ext cx="3000000" cy="3000000"/>
        </p:xfrm>
        <a:graphic>
          <a:graphicData uri="http://schemas.openxmlformats.org/drawingml/2006/table">
            <a:tbl>
              <a:tblPr>
                <a:noFill/>
                <a:tableStyleId>{14061AEF-1EB5-4D07-8955-141C8B69F781}</a:tableStyleId>
              </a:tblPr>
              <a:tblGrid>
                <a:gridCol w="1993550"/>
                <a:gridCol w="2882950"/>
                <a:gridCol w="2799300"/>
              </a:tblGrid>
              <a:tr h="752975">
                <a:tc>
                  <a:txBody>
                    <a:bodyPr/>
                    <a:lstStyle/>
                    <a:p>
                      <a:pPr indent="0" lvl="0" marL="0" marR="0" rtl="0" algn="ctr">
                        <a:lnSpc>
                          <a:spcPct val="100000"/>
                        </a:lnSpc>
                        <a:spcBef>
                          <a:spcPts val="0"/>
                        </a:spcBef>
                        <a:spcAft>
                          <a:spcPts val="0"/>
                        </a:spcAft>
                        <a:buClr>
                          <a:srgbClr val="000000"/>
                        </a:buClr>
                        <a:buSzPts val="1200"/>
                        <a:buFont typeface="Arial"/>
                        <a:buNone/>
                      </a:pPr>
                      <a:r>
                        <a:rPr b="1" lang="en" sz="1200" u="none" cap="none" strike="noStrike">
                          <a:solidFill>
                            <a:srgbClr val="FFFFFF"/>
                          </a:solidFill>
                          <a:latin typeface="Cabin"/>
                          <a:ea typeface="Cabin"/>
                          <a:cs typeface="Cabin"/>
                          <a:sym typeface="Cabin"/>
                        </a:rPr>
                        <a:t>Change I have made to my protective device</a:t>
                      </a:r>
                      <a:endParaRPr b="1" sz="1200" u="none" cap="none" strike="noStrike">
                        <a:solidFill>
                          <a:srgbClr val="FFFFFF"/>
                        </a:solidFill>
                        <a:latin typeface="Cabin"/>
                        <a:ea typeface="Cabin"/>
                        <a:cs typeface="Cabin"/>
                        <a:sym typeface="Cabin"/>
                      </a:endParaRPr>
                    </a:p>
                  </a:txBody>
                  <a:tcPr marT="91425" marB="91425" marR="91425" marL="91425">
                    <a:lnL cap="flat" cmpd="sng" w="9525">
                      <a:solidFill>
                        <a:srgbClr val="9A2F3E"/>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9A2F3E"/>
                      </a:solidFill>
                      <a:prstDash val="solid"/>
                      <a:round/>
                      <a:headEnd len="sm" w="sm" type="none"/>
                      <a:tailEnd len="sm" w="sm" type="none"/>
                    </a:lnT>
                    <a:lnB cap="flat" cmpd="sng" w="9525">
                      <a:solidFill>
                        <a:srgbClr val="9A2F3E"/>
                      </a:solidFill>
                      <a:prstDash val="solid"/>
                      <a:round/>
                      <a:headEnd len="sm" w="sm" type="none"/>
                      <a:tailEnd len="sm" w="sm" type="none"/>
                    </a:lnB>
                    <a:solidFill>
                      <a:srgbClr val="9A2F3E"/>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1" lang="en" sz="1200" u="none" cap="none" strike="noStrike">
                          <a:solidFill>
                            <a:srgbClr val="FFFFFF"/>
                          </a:solidFill>
                          <a:latin typeface="Cabin"/>
                          <a:ea typeface="Cabin"/>
                          <a:cs typeface="Cabin"/>
                          <a:sym typeface="Cabin"/>
                        </a:rPr>
                        <a:t>The scientific reasoning behind the change I have made</a:t>
                      </a:r>
                      <a:endParaRPr b="1" sz="1200" u="none" cap="none" strike="noStrike">
                        <a:solidFill>
                          <a:srgbClr val="FFFFFF"/>
                        </a:solidFill>
                        <a:latin typeface="Cabin"/>
                        <a:ea typeface="Cabin"/>
                        <a:cs typeface="Cabin"/>
                        <a:sym typeface="Cabin"/>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9A2F3E"/>
                      </a:solidFill>
                      <a:prstDash val="solid"/>
                      <a:round/>
                      <a:headEnd len="sm" w="sm" type="none"/>
                      <a:tailEnd len="sm" w="sm" type="none"/>
                    </a:lnT>
                    <a:lnB cap="flat" cmpd="sng" w="9525">
                      <a:solidFill>
                        <a:srgbClr val="9A2F3E"/>
                      </a:solidFill>
                      <a:prstDash val="solid"/>
                      <a:round/>
                      <a:headEnd len="sm" w="sm" type="none"/>
                      <a:tailEnd len="sm" w="sm" type="none"/>
                    </a:lnB>
                    <a:solidFill>
                      <a:srgbClr val="9A2F3E"/>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1" lang="en" sz="1200" u="none" cap="none" strike="noStrike">
                          <a:solidFill>
                            <a:srgbClr val="FFFFFF"/>
                          </a:solidFill>
                          <a:latin typeface="Cabin"/>
                          <a:ea typeface="Cabin"/>
                          <a:cs typeface="Cabin"/>
                          <a:sym typeface="Cabin"/>
                        </a:rPr>
                        <a:t>Effects of that change on the performance or structure of the device (positives or negatives)</a:t>
                      </a:r>
                      <a:endParaRPr b="1" sz="1200" u="none" cap="none" strike="noStrike">
                        <a:solidFill>
                          <a:srgbClr val="FFFFFF"/>
                        </a:solidFill>
                        <a:latin typeface="Cabin"/>
                        <a:ea typeface="Cabin"/>
                        <a:cs typeface="Cabin"/>
                        <a:sym typeface="Cabin"/>
                      </a:endParaRPr>
                    </a:p>
                  </a:txBody>
                  <a:tcPr marT="91425" marB="91425" marR="91425" marL="91425">
                    <a:lnL cap="flat" cmpd="sng" w="9525">
                      <a:solidFill>
                        <a:srgbClr val="FFFFFF"/>
                      </a:solidFill>
                      <a:prstDash val="solid"/>
                      <a:round/>
                      <a:headEnd len="sm" w="sm" type="none"/>
                      <a:tailEnd len="sm" w="sm" type="none"/>
                    </a:lnL>
                    <a:lnR cap="flat" cmpd="sng" w="9525">
                      <a:solidFill>
                        <a:srgbClr val="9A2F3E"/>
                      </a:solidFill>
                      <a:prstDash val="solid"/>
                      <a:round/>
                      <a:headEnd len="sm" w="sm" type="none"/>
                      <a:tailEnd len="sm" w="sm" type="none"/>
                    </a:lnR>
                    <a:lnT cap="flat" cmpd="sng" w="9525">
                      <a:solidFill>
                        <a:srgbClr val="9A2F3E"/>
                      </a:solidFill>
                      <a:prstDash val="solid"/>
                      <a:round/>
                      <a:headEnd len="sm" w="sm" type="none"/>
                      <a:tailEnd len="sm" w="sm" type="none"/>
                    </a:lnT>
                    <a:lnB cap="flat" cmpd="sng" w="9525">
                      <a:solidFill>
                        <a:srgbClr val="9A2F3E"/>
                      </a:solidFill>
                      <a:prstDash val="solid"/>
                      <a:round/>
                      <a:headEnd len="sm" w="sm" type="none"/>
                      <a:tailEnd len="sm" w="sm" type="none"/>
                    </a:lnB>
                    <a:solidFill>
                      <a:srgbClr val="9A2F3E"/>
                    </a:solidFill>
                  </a:tcPr>
                </a:tc>
              </a:tr>
              <a:tr h="92330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9525">
                      <a:solidFill>
                        <a:srgbClr val="9A2F3E"/>
                      </a:solidFill>
                      <a:prstDash val="solid"/>
                      <a:round/>
                      <a:headEnd len="sm" w="sm" type="none"/>
                      <a:tailEnd len="sm" w="sm" type="none"/>
                    </a:lnL>
                    <a:lnR cap="flat" cmpd="sng" w="9525">
                      <a:solidFill>
                        <a:srgbClr val="9A2F3E"/>
                      </a:solidFill>
                      <a:prstDash val="solid"/>
                      <a:round/>
                      <a:headEnd len="sm" w="sm" type="none"/>
                      <a:tailEnd len="sm" w="sm" type="none"/>
                    </a:lnR>
                    <a:lnT cap="flat" cmpd="sng" w="9525">
                      <a:solidFill>
                        <a:srgbClr val="9A2F3E"/>
                      </a:solidFill>
                      <a:prstDash val="solid"/>
                      <a:round/>
                      <a:headEnd len="sm" w="sm" type="none"/>
                      <a:tailEnd len="sm" w="sm" type="none"/>
                    </a:lnT>
                    <a:lnB cap="flat" cmpd="sng" w="9525">
                      <a:solidFill>
                        <a:srgbClr val="9A2F3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9525">
                      <a:solidFill>
                        <a:srgbClr val="9A2F3E"/>
                      </a:solidFill>
                      <a:prstDash val="solid"/>
                      <a:round/>
                      <a:headEnd len="sm" w="sm" type="none"/>
                      <a:tailEnd len="sm" w="sm" type="none"/>
                    </a:lnL>
                    <a:lnR cap="flat" cmpd="sng" w="9525">
                      <a:solidFill>
                        <a:srgbClr val="9A2F3E"/>
                      </a:solidFill>
                      <a:prstDash val="solid"/>
                      <a:round/>
                      <a:headEnd len="sm" w="sm" type="none"/>
                      <a:tailEnd len="sm" w="sm" type="none"/>
                    </a:lnR>
                    <a:lnT cap="flat" cmpd="sng" w="9525">
                      <a:solidFill>
                        <a:srgbClr val="9A2F3E"/>
                      </a:solidFill>
                      <a:prstDash val="solid"/>
                      <a:round/>
                      <a:headEnd len="sm" w="sm" type="none"/>
                      <a:tailEnd len="sm" w="sm" type="none"/>
                    </a:lnT>
                    <a:lnB cap="flat" cmpd="sng" w="9525">
                      <a:solidFill>
                        <a:srgbClr val="9A2F3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9525">
                      <a:solidFill>
                        <a:srgbClr val="9A2F3E"/>
                      </a:solidFill>
                      <a:prstDash val="solid"/>
                      <a:round/>
                      <a:headEnd len="sm" w="sm" type="none"/>
                      <a:tailEnd len="sm" w="sm" type="none"/>
                    </a:lnL>
                    <a:lnR cap="flat" cmpd="sng" w="9525">
                      <a:solidFill>
                        <a:srgbClr val="9A2F3E"/>
                      </a:solidFill>
                      <a:prstDash val="solid"/>
                      <a:round/>
                      <a:headEnd len="sm" w="sm" type="none"/>
                      <a:tailEnd len="sm" w="sm" type="none"/>
                    </a:lnR>
                    <a:lnT cap="flat" cmpd="sng" w="9525">
                      <a:solidFill>
                        <a:srgbClr val="9A2F3E"/>
                      </a:solidFill>
                      <a:prstDash val="solid"/>
                      <a:round/>
                      <a:headEnd len="sm" w="sm" type="none"/>
                      <a:tailEnd len="sm" w="sm" type="none"/>
                    </a:lnT>
                    <a:lnB cap="flat" cmpd="sng" w="9525">
                      <a:solidFill>
                        <a:srgbClr val="9A2F3E"/>
                      </a:solidFill>
                      <a:prstDash val="solid"/>
                      <a:round/>
                      <a:headEnd len="sm" w="sm" type="none"/>
                      <a:tailEnd len="sm" w="sm" type="none"/>
                    </a:lnB>
                    <a:solidFill>
                      <a:srgbClr val="FFFFFF"/>
                    </a:solidFill>
                  </a:tcPr>
                </a:tc>
              </a:tr>
              <a:tr h="92330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9525">
                      <a:solidFill>
                        <a:srgbClr val="9A2F3E"/>
                      </a:solidFill>
                      <a:prstDash val="solid"/>
                      <a:round/>
                      <a:headEnd len="sm" w="sm" type="none"/>
                      <a:tailEnd len="sm" w="sm" type="none"/>
                    </a:lnL>
                    <a:lnR cap="flat" cmpd="sng" w="9525">
                      <a:solidFill>
                        <a:srgbClr val="9A2F3E"/>
                      </a:solidFill>
                      <a:prstDash val="solid"/>
                      <a:round/>
                      <a:headEnd len="sm" w="sm" type="none"/>
                      <a:tailEnd len="sm" w="sm" type="none"/>
                    </a:lnR>
                    <a:lnT cap="flat" cmpd="sng" w="9525">
                      <a:solidFill>
                        <a:srgbClr val="9A2F3E"/>
                      </a:solidFill>
                      <a:prstDash val="solid"/>
                      <a:round/>
                      <a:headEnd len="sm" w="sm" type="none"/>
                      <a:tailEnd len="sm" w="sm" type="none"/>
                    </a:lnT>
                    <a:lnB cap="flat" cmpd="sng" w="9525">
                      <a:solidFill>
                        <a:srgbClr val="9A2F3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9525">
                      <a:solidFill>
                        <a:srgbClr val="9A2F3E"/>
                      </a:solidFill>
                      <a:prstDash val="solid"/>
                      <a:round/>
                      <a:headEnd len="sm" w="sm" type="none"/>
                      <a:tailEnd len="sm" w="sm" type="none"/>
                    </a:lnL>
                    <a:lnR cap="flat" cmpd="sng" w="9525">
                      <a:solidFill>
                        <a:srgbClr val="9A2F3E"/>
                      </a:solidFill>
                      <a:prstDash val="solid"/>
                      <a:round/>
                      <a:headEnd len="sm" w="sm" type="none"/>
                      <a:tailEnd len="sm" w="sm" type="none"/>
                    </a:lnR>
                    <a:lnT cap="flat" cmpd="sng" w="9525">
                      <a:solidFill>
                        <a:srgbClr val="9A2F3E"/>
                      </a:solidFill>
                      <a:prstDash val="solid"/>
                      <a:round/>
                      <a:headEnd len="sm" w="sm" type="none"/>
                      <a:tailEnd len="sm" w="sm" type="none"/>
                    </a:lnT>
                    <a:lnB cap="flat" cmpd="sng" w="9525">
                      <a:solidFill>
                        <a:srgbClr val="9A2F3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9525">
                      <a:solidFill>
                        <a:srgbClr val="9A2F3E"/>
                      </a:solidFill>
                      <a:prstDash val="solid"/>
                      <a:round/>
                      <a:headEnd len="sm" w="sm" type="none"/>
                      <a:tailEnd len="sm" w="sm" type="none"/>
                    </a:lnL>
                    <a:lnR cap="flat" cmpd="sng" w="9525">
                      <a:solidFill>
                        <a:srgbClr val="9A2F3E"/>
                      </a:solidFill>
                      <a:prstDash val="solid"/>
                      <a:round/>
                      <a:headEnd len="sm" w="sm" type="none"/>
                      <a:tailEnd len="sm" w="sm" type="none"/>
                    </a:lnR>
                    <a:lnT cap="flat" cmpd="sng" w="9525">
                      <a:solidFill>
                        <a:srgbClr val="9A2F3E"/>
                      </a:solidFill>
                      <a:prstDash val="solid"/>
                      <a:round/>
                      <a:headEnd len="sm" w="sm" type="none"/>
                      <a:tailEnd len="sm" w="sm" type="none"/>
                    </a:lnT>
                    <a:lnB cap="flat" cmpd="sng" w="9525">
                      <a:solidFill>
                        <a:srgbClr val="9A2F3E"/>
                      </a:solidFill>
                      <a:prstDash val="solid"/>
                      <a:round/>
                      <a:headEnd len="sm" w="sm" type="none"/>
                      <a:tailEnd len="sm" w="sm" type="none"/>
                    </a:lnB>
                    <a:solidFill>
                      <a:srgbClr val="FFFFFF"/>
                    </a:solidFill>
                  </a:tcPr>
                </a:tc>
              </a:tr>
              <a:tr h="92330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9525">
                      <a:solidFill>
                        <a:srgbClr val="9A2F3E"/>
                      </a:solidFill>
                      <a:prstDash val="solid"/>
                      <a:round/>
                      <a:headEnd len="sm" w="sm" type="none"/>
                      <a:tailEnd len="sm" w="sm" type="none"/>
                    </a:lnL>
                    <a:lnR cap="flat" cmpd="sng" w="9525">
                      <a:solidFill>
                        <a:srgbClr val="9A2F3E"/>
                      </a:solidFill>
                      <a:prstDash val="solid"/>
                      <a:round/>
                      <a:headEnd len="sm" w="sm" type="none"/>
                      <a:tailEnd len="sm" w="sm" type="none"/>
                    </a:lnR>
                    <a:lnT cap="flat" cmpd="sng" w="9525">
                      <a:solidFill>
                        <a:srgbClr val="9A2F3E"/>
                      </a:solidFill>
                      <a:prstDash val="solid"/>
                      <a:round/>
                      <a:headEnd len="sm" w="sm" type="none"/>
                      <a:tailEnd len="sm" w="sm" type="none"/>
                    </a:lnT>
                    <a:lnB cap="flat" cmpd="sng" w="9525">
                      <a:solidFill>
                        <a:srgbClr val="9A2F3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9525">
                      <a:solidFill>
                        <a:srgbClr val="9A2F3E"/>
                      </a:solidFill>
                      <a:prstDash val="solid"/>
                      <a:round/>
                      <a:headEnd len="sm" w="sm" type="none"/>
                      <a:tailEnd len="sm" w="sm" type="none"/>
                    </a:lnL>
                    <a:lnR cap="flat" cmpd="sng" w="9525">
                      <a:solidFill>
                        <a:srgbClr val="9A2F3E"/>
                      </a:solidFill>
                      <a:prstDash val="solid"/>
                      <a:round/>
                      <a:headEnd len="sm" w="sm" type="none"/>
                      <a:tailEnd len="sm" w="sm" type="none"/>
                    </a:lnR>
                    <a:lnT cap="flat" cmpd="sng" w="9525">
                      <a:solidFill>
                        <a:srgbClr val="9A2F3E"/>
                      </a:solidFill>
                      <a:prstDash val="solid"/>
                      <a:round/>
                      <a:headEnd len="sm" w="sm" type="none"/>
                      <a:tailEnd len="sm" w="sm" type="none"/>
                    </a:lnT>
                    <a:lnB cap="flat" cmpd="sng" w="9525">
                      <a:solidFill>
                        <a:srgbClr val="9A2F3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9525">
                      <a:solidFill>
                        <a:srgbClr val="9A2F3E"/>
                      </a:solidFill>
                      <a:prstDash val="solid"/>
                      <a:round/>
                      <a:headEnd len="sm" w="sm" type="none"/>
                      <a:tailEnd len="sm" w="sm" type="none"/>
                    </a:lnL>
                    <a:lnR cap="flat" cmpd="sng" w="9525">
                      <a:solidFill>
                        <a:srgbClr val="9A2F3E"/>
                      </a:solidFill>
                      <a:prstDash val="solid"/>
                      <a:round/>
                      <a:headEnd len="sm" w="sm" type="none"/>
                      <a:tailEnd len="sm" w="sm" type="none"/>
                    </a:lnR>
                    <a:lnT cap="flat" cmpd="sng" w="9525">
                      <a:solidFill>
                        <a:srgbClr val="9A2F3E"/>
                      </a:solidFill>
                      <a:prstDash val="solid"/>
                      <a:round/>
                      <a:headEnd len="sm" w="sm" type="none"/>
                      <a:tailEnd len="sm" w="sm" type="none"/>
                    </a:lnT>
                    <a:lnB cap="flat" cmpd="sng" w="9525">
                      <a:solidFill>
                        <a:srgbClr val="9A2F3E"/>
                      </a:solidFill>
                      <a:prstDash val="solid"/>
                      <a:round/>
                      <a:headEnd len="sm" w="sm" type="none"/>
                      <a:tailEnd len="sm" w="sm" type="none"/>
                    </a:lnB>
                    <a:solidFill>
                      <a:srgbClr val="FFFFFF"/>
                    </a:solidFill>
                  </a:tcPr>
                </a:tc>
              </a:tr>
            </a:tbl>
          </a:graphicData>
        </a:graphic>
      </p:graphicFrame>
      <p:sp>
        <p:nvSpPr>
          <p:cNvPr id="149" name="Google Shape;149;p28"/>
          <p:cNvSpPr txBox="1"/>
          <p:nvPr/>
        </p:nvSpPr>
        <p:spPr>
          <a:xfrm>
            <a:off x="731125" y="3302425"/>
            <a:ext cx="1769400" cy="745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Caveat"/>
                <a:ea typeface="Caveat"/>
                <a:cs typeface="Caveat"/>
                <a:sym typeface="Caveat"/>
              </a:rPr>
              <a:t>I changed my material from wood to earplug foam.</a:t>
            </a:r>
            <a:endParaRPr b="1" i="0" sz="1800" u="none" cap="none" strike="noStrike">
              <a:solidFill>
                <a:srgbClr val="000000"/>
              </a:solidFill>
              <a:latin typeface="Caveat"/>
              <a:ea typeface="Caveat"/>
              <a:cs typeface="Caveat"/>
              <a:sym typeface="Caveat"/>
            </a:endParaRPr>
          </a:p>
        </p:txBody>
      </p:sp>
      <p:sp>
        <p:nvSpPr>
          <p:cNvPr id="150" name="Google Shape;150;p28"/>
          <p:cNvSpPr txBox="1"/>
          <p:nvPr/>
        </p:nvSpPr>
        <p:spPr>
          <a:xfrm>
            <a:off x="2689325" y="3302425"/>
            <a:ext cx="2822700" cy="745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Caveat"/>
                <a:ea typeface="Caveat"/>
                <a:cs typeface="Caveat"/>
                <a:sym typeface="Caveat"/>
              </a:rPr>
              <a:t>Foam deforms more and can be shaped to spread out the contact force over a greater area.</a:t>
            </a:r>
            <a:endParaRPr b="1" i="0" sz="1800" u="none" cap="none" strike="noStrike">
              <a:solidFill>
                <a:srgbClr val="000000"/>
              </a:solidFill>
              <a:latin typeface="Caveat"/>
              <a:ea typeface="Caveat"/>
              <a:cs typeface="Caveat"/>
              <a:sym typeface="Caveat"/>
            </a:endParaRPr>
          </a:p>
        </p:txBody>
      </p:sp>
      <p:sp>
        <p:nvSpPr>
          <p:cNvPr id="151" name="Google Shape;151;p28"/>
          <p:cNvSpPr txBox="1"/>
          <p:nvPr/>
        </p:nvSpPr>
        <p:spPr>
          <a:xfrm>
            <a:off x="1511175" y="1698525"/>
            <a:ext cx="4411500" cy="762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1000"/>
              </a:spcAft>
              <a:buClr>
                <a:srgbClr val="000000"/>
              </a:buClr>
              <a:buSzPts val="3000"/>
              <a:buFont typeface="Arial"/>
              <a:buNone/>
            </a:pPr>
            <a:r>
              <a:rPr b="0" i="0" lang="en" sz="3000" u="none" cap="none" strike="noStrike">
                <a:solidFill>
                  <a:srgbClr val="9A2F3E"/>
                </a:solidFill>
                <a:latin typeface="Boogaloo"/>
                <a:ea typeface="Boogaloo"/>
                <a:cs typeface="Boogaloo"/>
                <a:sym typeface="Boogaloo"/>
              </a:rPr>
              <a:t>Whole-Class Example</a:t>
            </a:r>
            <a:endParaRPr b="0" i="0" sz="3000" u="none" cap="none" strike="noStrike">
              <a:solidFill>
                <a:srgbClr val="000000"/>
              </a:solidFill>
              <a:latin typeface="Arial"/>
              <a:ea typeface="Arial"/>
              <a:cs typeface="Arial"/>
              <a:sym typeface="Arial"/>
            </a:endParaRPr>
          </a:p>
        </p:txBody>
      </p:sp>
      <p:sp>
        <p:nvSpPr>
          <p:cNvPr id="152" name="Google Shape;152;p28"/>
          <p:cNvSpPr/>
          <p:nvPr/>
        </p:nvSpPr>
        <p:spPr>
          <a:xfrm>
            <a:off x="457200" y="548640"/>
            <a:ext cx="8229600" cy="685800"/>
          </a:xfrm>
          <a:prstGeom prst="rect">
            <a:avLst/>
          </a:prstGeom>
          <a:solidFill>
            <a:srgbClr val="9A2F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rgbClr val="FFFFFF"/>
                </a:solidFill>
                <a:latin typeface="Boogaloo"/>
                <a:ea typeface="Boogaloo"/>
                <a:cs typeface="Boogaloo"/>
                <a:sym typeface="Boogaloo"/>
              </a:rPr>
              <a:t>Revising Designs</a:t>
            </a:r>
            <a:endParaRPr b="0" i="0" sz="3200" u="none" cap="none" strike="noStrike">
              <a:solidFill>
                <a:srgbClr val="FFFFFF"/>
              </a:solidFill>
              <a:latin typeface="Boogaloo"/>
              <a:ea typeface="Boogaloo"/>
              <a:cs typeface="Boogaloo"/>
              <a:sym typeface="Boogaloo"/>
            </a:endParaRPr>
          </a:p>
        </p:txBody>
      </p:sp>
      <p:pic>
        <p:nvPicPr>
          <p:cNvPr descr="With your class icon" id="153" name="Google Shape;153;p28"/>
          <p:cNvPicPr preferRelativeResize="0"/>
          <p:nvPr/>
        </p:nvPicPr>
        <p:blipFill rotWithShape="1">
          <a:blip r:embed="rId3">
            <a:alphaModFix/>
          </a:blip>
          <a:srcRect b="0" l="0" r="0" t="0"/>
          <a:stretch/>
        </p:blipFill>
        <p:spPr>
          <a:xfrm>
            <a:off x="759625" y="1736625"/>
            <a:ext cx="750389" cy="7620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57" name="Shape 157"/>
        <p:cNvGrpSpPr/>
        <p:nvPr/>
      </p:nvGrpSpPr>
      <p:grpSpPr>
        <a:xfrm>
          <a:off x="0" y="0"/>
          <a:ext cx="0" cy="0"/>
          <a:chOff x="0" y="0"/>
          <a:chExt cx="0" cy="0"/>
        </a:xfrm>
      </p:grpSpPr>
      <p:sp>
        <p:nvSpPr>
          <p:cNvPr id="158" name="Google Shape;158;p29"/>
          <p:cNvSpPr/>
          <p:nvPr/>
        </p:nvSpPr>
        <p:spPr>
          <a:xfrm>
            <a:off x="457150" y="1566863"/>
            <a:ext cx="8229600" cy="4929600"/>
          </a:xfrm>
          <a:prstGeom prst="rect">
            <a:avLst/>
          </a:prstGeom>
          <a:solidFill>
            <a:srgbClr val="F5EDEF"/>
          </a:solidFill>
          <a:ln cap="flat" cmpd="sng" w="19050">
            <a:solidFill>
              <a:srgbClr val="9A2F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29"/>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800" u="none" cap="none" strike="noStrike">
                <a:solidFill>
                  <a:srgbClr val="9A2F3E"/>
                </a:solidFill>
                <a:latin typeface="Boogaloo"/>
                <a:ea typeface="Boogaloo"/>
                <a:cs typeface="Boogaloo"/>
                <a:sym typeface="Boogaloo"/>
              </a:rPr>
              <a:t>Slide F</a:t>
            </a:r>
            <a:endParaRPr b="0" i="0" sz="1800" u="none" cap="none" strike="noStrike">
              <a:solidFill>
                <a:srgbClr val="9A2F3E"/>
              </a:solidFill>
              <a:latin typeface="Boogaloo"/>
              <a:ea typeface="Boogaloo"/>
              <a:cs typeface="Boogaloo"/>
              <a:sym typeface="Boogaloo"/>
            </a:endParaRPr>
          </a:p>
        </p:txBody>
      </p:sp>
      <p:sp>
        <p:nvSpPr>
          <p:cNvPr id="160" name="Google Shape;160;p29"/>
          <p:cNvSpPr txBox="1"/>
          <p:nvPr/>
        </p:nvSpPr>
        <p:spPr>
          <a:xfrm>
            <a:off x="520850" y="2879200"/>
            <a:ext cx="8106600" cy="35229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800"/>
              <a:buFont typeface="Arial"/>
              <a:buNone/>
            </a:pPr>
            <a:r>
              <a:t/>
            </a:r>
            <a:endParaRPr b="0" i="0" sz="2800" u="none" cap="none" strike="noStrike">
              <a:solidFill>
                <a:srgbClr val="000000"/>
              </a:solidFill>
              <a:latin typeface="Cabin Condensed"/>
              <a:ea typeface="Cabin Condensed"/>
              <a:cs typeface="Cabin Condensed"/>
              <a:sym typeface="Cabin Condensed"/>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aphicFrame>
        <p:nvGraphicFramePr>
          <p:cNvPr descr="Screenshot of a table with three columns titled: Change I have made to my protective device, The scientific reasoning behind the change I have made, and Effects of that change on the performance or structure of the device (positives or negatives). There are four empty rows. In the first column is text reading I changed my material from wood to earplug foam. In the second column is text reading Foam deforms more and can be shaped to spread out the contact force over a greater area. In the third column is text reading Foam is less durable and may not last as long. Foam is harder to work with but easier to store." id="161" name="Google Shape;161;p29"/>
          <p:cNvGraphicFramePr/>
          <p:nvPr/>
        </p:nvGraphicFramePr>
        <p:xfrm>
          <a:off x="731125" y="2625475"/>
          <a:ext cx="3000000" cy="3000000"/>
        </p:xfrm>
        <a:graphic>
          <a:graphicData uri="http://schemas.openxmlformats.org/drawingml/2006/table">
            <a:tbl>
              <a:tblPr>
                <a:noFill/>
                <a:tableStyleId>{14061AEF-1EB5-4D07-8955-141C8B69F781}</a:tableStyleId>
              </a:tblPr>
              <a:tblGrid>
                <a:gridCol w="1990825"/>
                <a:gridCol w="2879025"/>
                <a:gridCol w="2795500"/>
              </a:tblGrid>
              <a:tr h="752975">
                <a:tc>
                  <a:txBody>
                    <a:bodyPr/>
                    <a:lstStyle/>
                    <a:p>
                      <a:pPr indent="0" lvl="0" marL="0" marR="0" rtl="0" algn="ctr">
                        <a:lnSpc>
                          <a:spcPct val="100000"/>
                        </a:lnSpc>
                        <a:spcBef>
                          <a:spcPts val="0"/>
                        </a:spcBef>
                        <a:spcAft>
                          <a:spcPts val="0"/>
                        </a:spcAft>
                        <a:buClr>
                          <a:srgbClr val="000000"/>
                        </a:buClr>
                        <a:buSzPts val="1200"/>
                        <a:buFont typeface="Arial"/>
                        <a:buNone/>
                      </a:pPr>
                      <a:r>
                        <a:rPr b="1" lang="en" sz="1200" u="none" cap="none" strike="noStrike">
                          <a:solidFill>
                            <a:srgbClr val="FFFFFF"/>
                          </a:solidFill>
                          <a:latin typeface="Cabin"/>
                          <a:ea typeface="Cabin"/>
                          <a:cs typeface="Cabin"/>
                          <a:sym typeface="Cabin"/>
                        </a:rPr>
                        <a:t>Change I have made to my protective device</a:t>
                      </a:r>
                      <a:endParaRPr b="1" sz="1200" u="none" cap="none" strike="noStrike">
                        <a:solidFill>
                          <a:srgbClr val="FFFFFF"/>
                        </a:solidFill>
                        <a:latin typeface="Cabin"/>
                        <a:ea typeface="Cabin"/>
                        <a:cs typeface="Cabin"/>
                        <a:sym typeface="Cabin"/>
                      </a:endParaRPr>
                    </a:p>
                  </a:txBody>
                  <a:tcPr marT="91425" marB="91425" marR="91425" marL="91425">
                    <a:lnL cap="flat" cmpd="sng" w="9525">
                      <a:solidFill>
                        <a:srgbClr val="9A2F3E"/>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9A2F3E"/>
                      </a:solidFill>
                      <a:prstDash val="solid"/>
                      <a:round/>
                      <a:headEnd len="sm" w="sm" type="none"/>
                      <a:tailEnd len="sm" w="sm" type="none"/>
                    </a:lnT>
                    <a:lnB cap="flat" cmpd="sng" w="9525">
                      <a:solidFill>
                        <a:srgbClr val="9A2F3E"/>
                      </a:solidFill>
                      <a:prstDash val="solid"/>
                      <a:round/>
                      <a:headEnd len="sm" w="sm" type="none"/>
                      <a:tailEnd len="sm" w="sm" type="none"/>
                    </a:lnB>
                    <a:solidFill>
                      <a:srgbClr val="9A2F3E"/>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1" lang="en" sz="1200" u="none" cap="none" strike="noStrike">
                          <a:solidFill>
                            <a:srgbClr val="FFFFFF"/>
                          </a:solidFill>
                          <a:latin typeface="Cabin"/>
                          <a:ea typeface="Cabin"/>
                          <a:cs typeface="Cabin"/>
                          <a:sym typeface="Cabin"/>
                        </a:rPr>
                        <a:t>The scientific reasoning behind the change I have made</a:t>
                      </a:r>
                      <a:endParaRPr b="1" sz="1200" u="none" cap="none" strike="noStrike">
                        <a:solidFill>
                          <a:srgbClr val="FFFFFF"/>
                        </a:solidFill>
                        <a:latin typeface="Cabin"/>
                        <a:ea typeface="Cabin"/>
                        <a:cs typeface="Cabin"/>
                        <a:sym typeface="Cabin"/>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9A2F3E"/>
                      </a:solidFill>
                      <a:prstDash val="solid"/>
                      <a:round/>
                      <a:headEnd len="sm" w="sm" type="none"/>
                      <a:tailEnd len="sm" w="sm" type="none"/>
                    </a:lnT>
                    <a:lnB cap="flat" cmpd="sng" w="9525">
                      <a:solidFill>
                        <a:srgbClr val="9A2F3E"/>
                      </a:solidFill>
                      <a:prstDash val="solid"/>
                      <a:round/>
                      <a:headEnd len="sm" w="sm" type="none"/>
                      <a:tailEnd len="sm" w="sm" type="none"/>
                    </a:lnB>
                    <a:solidFill>
                      <a:srgbClr val="9A2F3E"/>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1" lang="en" sz="1200" u="none" cap="none" strike="noStrike">
                          <a:solidFill>
                            <a:srgbClr val="FFFFFF"/>
                          </a:solidFill>
                          <a:latin typeface="Cabin"/>
                          <a:ea typeface="Cabin"/>
                          <a:cs typeface="Cabin"/>
                          <a:sym typeface="Cabin"/>
                        </a:rPr>
                        <a:t>Effects of that change on the performance or structure of the device (positives or negatives)</a:t>
                      </a:r>
                      <a:endParaRPr b="1" sz="1200" u="none" cap="none" strike="noStrike">
                        <a:solidFill>
                          <a:srgbClr val="FFFFFF"/>
                        </a:solidFill>
                        <a:latin typeface="Cabin"/>
                        <a:ea typeface="Cabin"/>
                        <a:cs typeface="Cabin"/>
                        <a:sym typeface="Cabin"/>
                      </a:endParaRPr>
                    </a:p>
                  </a:txBody>
                  <a:tcPr marT="91425" marB="91425" marR="91425" marL="91425">
                    <a:lnL cap="flat" cmpd="sng" w="9525">
                      <a:solidFill>
                        <a:srgbClr val="FFFFFF"/>
                      </a:solidFill>
                      <a:prstDash val="solid"/>
                      <a:round/>
                      <a:headEnd len="sm" w="sm" type="none"/>
                      <a:tailEnd len="sm" w="sm" type="none"/>
                    </a:lnL>
                    <a:lnR cap="flat" cmpd="sng" w="9525">
                      <a:solidFill>
                        <a:srgbClr val="9A2F3E"/>
                      </a:solidFill>
                      <a:prstDash val="solid"/>
                      <a:round/>
                      <a:headEnd len="sm" w="sm" type="none"/>
                      <a:tailEnd len="sm" w="sm" type="none"/>
                    </a:lnR>
                    <a:lnT cap="flat" cmpd="sng" w="9525">
                      <a:solidFill>
                        <a:srgbClr val="9A2F3E"/>
                      </a:solidFill>
                      <a:prstDash val="solid"/>
                      <a:round/>
                      <a:headEnd len="sm" w="sm" type="none"/>
                      <a:tailEnd len="sm" w="sm" type="none"/>
                    </a:lnT>
                    <a:lnB cap="flat" cmpd="sng" w="9525">
                      <a:solidFill>
                        <a:srgbClr val="9A2F3E"/>
                      </a:solidFill>
                      <a:prstDash val="solid"/>
                      <a:round/>
                      <a:headEnd len="sm" w="sm" type="none"/>
                      <a:tailEnd len="sm" w="sm" type="none"/>
                    </a:lnB>
                    <a:solidFill>
                      <a:srgbClr val="9A2F3E"/>
                    </a:solidFill>
                  </a:tcPr>
                </a:tc>
              </a:tr>
              <a:tr h="92330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9525">
                      <a:solidFill>
                        <a:srgbClr val="9A2F3E"/>
                      </a:solidFill>
                      <a:prstDash val="solid"/>
                      <a:round/>
                      <a:headEnd len="sm" w="sm" type="none"/>
                      <a:tailEnd len="sm" w="sm" type="none"/>
                    </a:lnL>
                    <a:lnR cap="flat" cmpd="sng" w="9525">
                      <a:solidFill>
                        <a:srgbClr val="9A2F3E"/>
                      </a:solidFill>
                      <a:prstDash val="solid"/>
                      <a:round/>
                      <a:headEnd len="sm" w="sm" type="none"/>
                      <a:tailEnd len="sm" w="sm" type="none"/>
                    </a:lnR>
                    <a:lnT cap="flat" cmpd="sng" w="9525">
                      <a:solidFill>
                        <a:srgbClr val="9A2F3E"/>
                      </a:solidFill>
                      <a:prstDash val="solid"/>
                      <a:round/>
                      <a:headEnd len="sm" w="sm" type="none"/>
                      <a:tailEnd len="sm" w="sm" type="none"/>
                    </a:lnT>
                    <a:lnB cap="flat" cmpd="sng" w="9525">
                      <a:solidFill>
                        <a:srgbClr val="9A2F3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9525">
                      <a:solidFill>
                        <a:srgbClr val="9A2F3E"/>
                      </a:solidFill>
                      <a:prstDash val="solid"/>
                      <a:round/>
                      <a:headEnd len="sm" w="sm" type="none"/>
                      <a:tailEnd len="sm" w="sm" type="none"/>
                    </a:lnL>
                    <a:lnR cap="flat" cmpd="sng" w="9525">
                      <a:solidFill>
                        <a:srgbClr val="9A2F3E"/>
                      </a:solidFill>
                      <a:prstDash val="solid"/>
                      <a:round/>
                      <a:headEnd len="sm" w="sm" type="none"/>
                      <a:tailEnd len="sm" w="sm" type="none"/>
                    </a:lnR>
                    <a:lnT cap="flat" cmpd="sng" w="9525">
                      <a:solidFill>
                        <a:srgbClr val="9A2F3E"/>
                      </a:solidFill>
                      <a:prstDash val="solid"/>
                      <a:round/>
                      <a:headEnd len="sm" w="sm" type="none"/>
                      <a:tailEnd len="sm" w="sm" type="none"/>
                    </a:lnT>
                    <a:lnB cap="flat" cmpd="sng" w="9525">
                      <a:solidFill>
                        <a:srgbClr val="9A2F3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9525">
                      <a:solidFill>
                        <a:srgbClr val="9A2F3E"/>
                      </a:solidFill>
                      <a:prstDash val="solid"/>
                      <a:round/>
                      <a:headEnd len="sm" w="sm" type="none"/>
                      <a:tailEnd len="sm" w="sm" type="none"/>
                    </a:lnL>
                    <a:lnR cap="flat" cmpd="sng" w="9525">
                      <a:solidFill>
                        <a:srgbClr val="9A2F3E"/>
                      </a:solidFill>
                      <a:prstDash val="solid"/>
                      <a:round/>
                      <a:headEnd len="sm" w="sm" type="none"/>
                      <a:tailEnd len="sm" w="sm" type="none"/>
                    </a:lnR>
                    <a:lnT cap="flat" cmpd="sng" w="9525">
                      <a:solidFill>
                        <a:srgbClr val="9A2F3E"/>
                      </a:solidFill>
                      <a:prstDash val="solid"/>
                      <a:round/>
                      <a:headEnd len="sm" w="sm" type="none"/>
                      <a:tailEnd len="sm" w="sm" type="none"/>
                    </a:lnT>
                    <a:lnB cap="flat" cmpd="sng" w="9525">
                      <a:solidFill>
                        <a:srgbClr val="9A2F3E"/>
                      </a:solidFill>
                      <a:prstDash val="solid"/>
                      <a:round/>
                      <a:headEnd len="sm" w="sm" type="none"/>
                      <a:tailEnd len="sm" w="sm" type="none"/>
                    </a:lnB>
                    <a:solidFill>
                      <a:srgbClr val="FFFFFF"/>
                    </a:solidFill>
                  </a:tcPr>
                </a:tc>
              </a:tr>
              <a:tr h="92330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9525">
                      <a:solidFill>
                        <a:srgbClr val="9A2F3E"/>
                      </a:solidFill>
                      <a:prstDash val="solid"/>
                      <a:round/>
                      <a:headEnd len="sm" w="sm" type="none"/>
                      <a:tailEnd len="sm" w="sm" type="none"/>
                    </a:lnL>
                    <a:lnR cap="flat" cmpd="sng" w="9525">
                      <a:solidFill>
                        <a:srgbClr val="9A2F3E"/>
                      </a:solidFill>
                      <a:prstDash val="solid"/>
                      <a:round/>
                      <a:headEnd len="sm" w="sm" type="none"/>
                      <a:tailEnd len="sm" w="sm" type="none"/>
                    </a:lnR>
                    <a:lnT cap="flat" cmpd="sng" w="9525">
                      <a:solidFill>
                        <a:srgbClr val="9A2F3E"/>
                      </a:solidFill>
                      <a:prstDash val="solid"/>
                      <a:round/>
                      <a:headEnd len="sm" w="sm" type="none"/>
                      <a:tailEnd len="sm" w="sm" type="none"/>
                    </a:lnT>
                    <a:lnB cap="flat" cmpd="sng" w="9525">
                      <a:solidFill>
                        <a:srgbClr val="9A2F3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9525">
                      <a:solidFill>
                        <a:srgbClr val="9A2F3E"/>
                      </a:solidFill>
                      <a:prstDash val="solid"/>
                      <a:round/>
                      <a:headEnd len="sm" w="sm" type="none"/>
                      <a:tailEnd len="sm" w="sm" type="none"/>
                    </a:lnL>
                    <a:lnR cap="flat" cmpd="sng" w="9525">
                      <a:solidFill>
                        <a:srgbClr val="9A2F3E"/>
                      </a:solidFill>
                      <a:prstDash val="solid"/>
                      <a:round/>
                      <a:headEnd len="sm" w="sm" type="none"/>
                      <a:tailEnd len="sm" w="sm" type="none"/>
                    </a:lnR>
                    <a:lnT cap="flat" cmpd="sng" w="9525">
                      <a:solidFill>
                        <a:srgbClr val="9A2F3E"/>
                      </a:solidFill>
                      <a:prstDash val="solid"/>
                      <a:round/>
                      <a:headEnd len="sm" w="sm" type="none"/>
                      <a:tailEnd len="sm" w="sm" type="none"/>
                    </a:lnT>
                    <a:lnB cap="flat" cmpd="sng" w="9525">
                      <a:solidFill>
                        <a:srgbClr val="9A2F3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9525">
                      <a:solidFill>
                        <a:srgbClr val="9A2F3E"/>
                      </a:solidFill>
                      <a:prstDash val="solid"/>
                      <a:round/>
                      <a:headEnd len="sm" w="sm" type="none"/>
                      <a:tailEnd len="sm" w="sm" type="none"/>
                    </a:lnL>
                    <a:lnR cap="flat" cmpd="sng" w="9525">
                      <a:solidFill>
                        <a:srgbClr val="9A2F3E"/>
                      </a:solidFill>
                      <a:prstDash val="solid"/>
                      <a:round/>
                      <a:headEnd len="sm" w="sm" type="none"/>
                      <a:tailEnd len="sm" w="sm" type="none"/>
                    </a:lnR>
                    <a:lnT cap="flat" cmpd="sng" w="9525">
                      <a:solidFill>
                        <a:srgbClr val="9A2F3E"/>
                      </a:solidFill>
                      <a:prstDash val="solid"/>
                      <a:round/>
                      <a:headEnd len="sm" w="sm" type="none"/>
                      <a:tailEnd len="sm" w="sm" type="none"/>
                    </a:lnT>
                    <a:lnB cap="flat" cmpd="sng" w="9525">
                      <a:solidFill>
                        <a:srgbClr val="9A2F3E"/>
                      </a:solidFill>
                      <a:prstDash val="solid"/>
                      <a:round/>
                      <a:headEnd len="sm" w="sm" type="none"/>
                      <a:tailEnd len="sm" w="sm" type="none"/>
                    </a:lnB>
                    <a:solidFill>
                      <a:srgbClr val="FFFFFF"/>
                    </a:solidFill>
                  </a:tcPr>
                </a:tc>
              </a:tr>
              <a:tr h="92330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9525">
                      <a:solidFill>
                        <a:srgbClr val="9A2F3E"/>
                      </a:solidFill>
                      <a:prstDash val="solid"/>
                      <a:round/>
                      <a:headEnd len="sm" w="sm" type="none"/>
                      <a:tailEnd len="sm" w="sm" type="none"/>
                    </a:lnL>
                    <a:lnR cap="flat" cmpd="sng" w="9525">
                      <a:solidFill>
                        <a:srgbClr val="9A2F3E"/>
                      </a:solidFill>
                      <a:prstDash val="solid"/>
                      <a:round/>
                      <a:headEnd len="sm" w="sm" type="none"/>
                      <a:tailEnd len="sm" w="sm" type="none"/>
                    </a:lnR>
                    <a:lnT cap="flat" cmpd="sng" w="9525">
                      <a:solidFill>
                        <a:srgbClr val="9A2F3E"/>
                      </a:solidFill>
                      <a:prstDash val="solid"/>
                      <a:round/>
                      <a:headEnd len="sm" w="sm" type="none"/>
                      <a:tailEnd len="sm" w="sm" type="none"/>
                    </a:lnT>
                    <a:lnB cap="flat" cmpd="sng" w="9525">
                      <a:solidFill>
                        <a:srgbClr val="9A2F3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9525">
                      <a:solidFill>
                        <a:srgbClr val="9A2F3E"/>
                      </a:solidFill>
                      <a:prstDash val="solid"/>
                      <a:round/>
                      <a:headEnd len="sm" w="sm" type="none"/>
                      <a:tailEnd len="sm" w="sm" type="none"/>
                    </a:lnL>
                    <a:lnR cap="flat" cmpd="sng" w="9525">
                      <a:solidFill>
                        <a:srgbClr val="9A2F3E"/>
                      </a:solidFill>
                      <a:prstDash val="solid"/>
                      <a:round/>
                      <a:headEnd len="sm" w="sm" type="none"/>
                      <a:tailEnd len="sm" w="sm" type="none"/>
                    </a:lnR>
                    <a:lnT cap="flat" cmpd="sng" w="9525">
                      <a:solidFill>
                        <a:srgbClr val="9A2F3E"/>
                      </a:solidFill>
                      <a:prstDash val="solid"/>
                      <a:round/>
                      <a:headEnd len="sm" w="sm" type="none"/>
                      <a:tailEnd len="sm" w="sm" type="none"/>
                    </a:lnT>
                    <a:lnB cap="flat" cmpd="sng" w="9525">
                      <a:solidFill>
                        <a:srgbClr val="9A2F3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9525">
                      <a:solidFill>
                        <a:srgbClr val="9A2F3E"/>
                      </a:solidFill>
                      <a:prstDash val="solid"/>
                      <a:round/>
                      <a:headEnd len="sm" w="sm" type="none"/>
                      <a:tailEnd len="sm" w="sm" type="none"/>
                    </a:lnL>
                    <a:lnR cap="flat" cmpd="sng" w="9525">
                      <a:solidFill>
                        <a:srgbClr val="9A2F3E"/>
                      </a:solidFill>
                      <a:prstDash val="solid"/>
                      <a:round/>
                      <a:headEnd len="sm" w="sm" type="none"/>
                      <a:tailEnd len="sm" w="sm" type="none"/>
                    </a:lnR>
                    <a:lnT cap="flat" cmpd="sng" w="9525">
                      <a:solidFill>
                        <a:srgbClr val="9A2F3E"/>
                      </a:solidFill>
                      <a:prstDash val="solid"/>
                      <a:round/>
                      <a:headEnd len="sm" w="sm" type="none"/>
                      <a:tailEnd len="sm" w="sm" type="none"/>
                    </a:lnT>
                    <a:lnB cap="flat" cmpd="sng" w="9525">
                      <a:solidFill>
                        <a:srgbClr val="9A2F3E"/>
                      </a:solidFill>
                      <a:prstDash val="solid"/>
                      <a:round/>
                      <a:headEnd len="sm" w="sm" type="none"/>
                      <a:tailEnd len="sm" w="sm" type="none"/>
                    </a:lnB>
                    <a:solidFill>
                      <a:srgbClr val="FFFFFF"/>
                    </a:solidFill>
                  </a:tcPr>
                </a:tc>
              </a:tr>
            </a:tbl>
          </a:graphicData>
        </a:graphic>
      </p:graphicFrame>
      <p:sp>
        <p:nvSpPr>
          <p:cNvPr id="162" name="Google Shape;162;p29"/>
          <p:cNvSpPr txBox="1"/>
          <p:nvPr/>
        </p:nvSpPr>
        <p:spPr>
          <a:xfrm>
            <a:off x="731125" y="3302425"/>
            <a:ext cx="1769400" cy="745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Caveat"/>
                <a:ea typeface="Caveat"/>
                <a:cs typeface="Caveat"/>
                <a:sym typeface="Caveat"/>
              </a:rPr>
              <a:t>I changed my material from wood to earplug foam.</a:t>
            </a:r>
            <a:endParaRPr b="1" i="0" sz="1800" u="none" cap="none" strike="noStrike">
              <a:solidFill>
                <a:srgbClr val="000000"/>
              </a:solidFill>
              <a:latin typeface="Caveat"/>
              <a:ea typeface="Caveat"/>
              <a:cs typeface="Caveat"/>
              <a:sym typeface="Caveat"/>
            </a:endParaRPr>
          </a:p>
        </p:txBody>
      </p:sp>
      <p:sp>
        <p:nvSpPr>
          <p:cNvPr id="163" name="Google Shape;163;p29"/>
          <p:cNvSpPr txBox="1"/>
          <p:nvPr/>
        </p:nvSpPr>
        <p:spPr>
          <a:xfrm>
            <a:off x="2691500" y="3302425"/>
            <a:ext cx="2835000" cy="745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Caveat"/>
                <a:ea typeface="Caveat"/>
                <a:cs typeface="Caveat"/>
                <a:sym typeface="Caveat"/>
              </a:rPr>
              <a:t>Fo</a:t>
            </a:r>
            <a:r>
              <a:rPr b="1" i="0" lang="en" sz="1800" u="none" cap="none" strike="noStrike">
                <a:solidFill>
                  <a:schemeClr val="dk1"/>
                </a:solidFill>
                <a:latin typeface="Caveat"/>
                <a:ea typeface="Caveat"/>
                <a:cs typeface="Caveat"/>
                <a:sym typeface="Caveat"/>
              </a:rPr>
              <a:t>am deforms more and can be shaped to spread out the contact force over a greater area.</a:t>
            </a:r>
            <a:endParaRPr b="1" i="0" sz="1800" u="none" cap="none" strike="noStrike">
              <a:solidFill>
                <a:schemeClr val="dk1"/>
              </a:solidFill>
              <a:latin typeface="Caveat"/>
              <a:ea typeface="Caveat"/>
              <a:cs typeface="Caveat"/>
              <a:sym typeface="Caveat"/>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Caveat"/>
              <a:ea typeface="Caveat"/>
              <a:cs typeface="Caveat"/>
              <a:sym typeface="Caveat"/>
            </a:endParaRPr>
          </a:p>
        </p:txBody>
      </p:sp>
      <p:sp>
        <p:nvSpPr>
          <p:cNvPr id="164" name="Google Shape;164;p29"/>
          <p:cNvSpPr txBox="1"/>
          <p:nvPr/>
        </p:nvSpPr>
        <p:spPr>
          <a:xfrm>
            <a:off x="5591175" y="3302425"/>
            <a:ext cx="2720700" cy="745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Caveat"/>
                <a:ea typeface="Caveat"/>
                <a:cs typeface="Caveat"/>
                <a:sym typeface="Caveat"/>
              </a:rPr>
              <a:t>Foam is less durable and may not last as long. Foam is harder to work with but easier to store.</a:t>
            </a:r>
            <a:endParaRPr b="1" i="0" sz="1800" u="none" cap="none" strike="noStrike">
              <a:solidFill>
                <a:srgbClr val="000000"/>
              </a:solidFill>
              <a:latin typeface="Caveat"/>
              <a:ea typeface="Caveat"/>
              <a:cs typeface="Caveat"/>
              <a:sym typeface="Caveat"/>
            </a:endParaRPr>
          </a:p>
        </p:txBody>
      </p:sp>
      <p:sp>
        <p:nvSpPr>
          <p:cNvPr id="165" name="Google Shape;165;p29"/>
          <p:cNvSpPr txBox="1"/>
          <p:nvPr/>
        </p:nvSpPr>
        <p:spPr>
          <a:xfrm>
            <a:off x="1511175" y="1698525"/>
            <a:ext cx="4411500" cy="762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1000"/>
              </a:spcAft>
              <a:buClr>
                <a:srgbClr val="000000"/>
              </a:buClr>
              <a:buSzPts val="3000"/>
              <a:buFont typeface="Arial"/>
              <a:buNone/>
            </a:pPr>
            <a:r>
              <a:rPr b="0" i="0" lang="en" sz="3000" u="none" cap="none" strike="noStrike">
                <a:solidFill>
                  <a:srgbClr val="9A2F3E"/>
                </a:solidFill>
                <a:latin typeface="Boogaloo"/>
                <a:ea typeface="Boogaloo"/>
                <a:cs typeface="Boogaloo"/>
                <a:sym typeface="Boogaloo"/>
              </a:rPr>
              <a:t>Whole-Class Example</a:t>
            </a:r>
            <a:endParaRPr b="0" i="0" sz="3000" u="none" cap="none" strike="noStrike">
              <a:solidFill>
                <a:srgbClr val="000000"/>
              </a:solidFill>
              <a:latin typeface="Arial"/>
              <a:ea typeface="Arial"/>
              <a:cs typeface="Arial"/>
              <a:sym typeface="Arial"/>
            </a:endParaRPr>
          </a:p>
        </p:txBody>
      </p:sp>
      <p:sp>
        <p:nvSpPr>
          <p:cNvPr id="166" name="Google Shape;166;p29"/>
          <p:cNvSpPr/>
          <p:nvPr/>
        </p:nvSpPr>
        <p:spPr>
          <a:xfrm>
            <a:off x="457200" y="548640"/>
            <a:ext cx="8229600" cy="685800"/>
          </a:xfrm>
          <a:prstGeom prst="rect">
            <a:avLst/>
          </a:prstGeom>
          <a:solidFill>
            <a:srgbClr val="9A2F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rgbClr val="FFFFFF"/>
                </a:solidFill>
                <a:latin typeface="Boogaloo"/>
                <a:ea typeface="Boogaloo"/>
                <a:cs typeface="Boogaloo"/>
                <a:sym typeface="Boogaloo"/>
              </a:rPr>
              <a:t>Revising Designs</a:t>
            </a:r>
            <a:endParaRPr b="0" i="0" sz="3200" u="none" cap="none" strike="noStrike">
              <a:solidFill>
                <a:srgbClr val="FFFFFF"/>
              </a:solidFill>
              <a:latin typeface="Boogaloo"/>
              <a:ea typeface="Boogaloo"/>
              <a:cs typeface="Boogaloo"/>
              <a:sym typeface="Boogaloo"/>
            </a:endParaRPr>
          </a:p>
        </p:txBody>
      </p:sp>
      <p:pic>
        <p:nvPicPr>
          <p:cNvPr descr="With your class icon" id="167" name="Google Shape;167;p29"/>
          <p:cNvPicPr preferRelativeResize="0"/>
          <p:nvPr/>
        </p:nvPicPr>
        <p:blipFill rotWithShape="1">
          <a:blip r:embed="rId3">
            <a:alphaModFix/>
          </a:blip>
          <a:srcRect b="0" l="0" r="0" t="0"/>
          <a:stretch/>
        </p:blipFill>
        <p:spPr>
          <a:xfrm>
            <a:off x="759625" y="1736625"/>
            <a:ext cx="750389" cy="7620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71" name="Shape 171"/>
        <p:cNvGrpSpPr/>
        <p:nvPr/>
      </p:nvGrpSpPr>
      <p:grpSpPr>
        <a:xfrm>
          <a:off x="0" y="0"/>
          <a:ext cx="0" cy="0"/>
          <a:chOff x="0" y="0"/>
          <a:chExt cx="0" cy="0"/>
        </a:xfrm>
      </p:grpSpPr>
      <p:sp>
        <p:nvSpPr>
          <p:cNvPr id="172" name="Google Shape;172;p30"/>
          <p:cNvSpPr/>
          <p:nvPr/>
        </p:nvSpPr>
        <p:spPr>
          <a:xfrm>
            <a:off x="457200" y="548640"/>
            <a:ext cx="8229600" cy="685800"/>
          </a:xfrm>
          <a:prstGeom prst="rect">
            <a:avLst/>
          </a:prstGeom>
          <a:solidFill>
            <a:srgbClr val="9A2F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rgbClr val="FFFFFF"/>
                </a:solidFill>
                <a:latin typeface="Boogaloo"/>
                <a:ea typeface="Boogaloo"/>
                <a:cs typeface="Boogaloo"/>
                <a:sym typeface="Boogaloo"/>
              </a:rPr>
              <a:t>Discuss Trade-offs</a:t>
            </a:r>
            <a:endParaRPr b="0" i="0" sz="3200" u="none" cap="none" strike="noStrike">
              <a:solidFill>
                <a:srgbClr val="FFFFFF"/>
              </a:solidFill>
              <a:latin typeface="Boogaloo"/>
              <a:ea typeface="Boogaloo"/>
              <a:cs typeface="Boogaloo"/>
              <a:sym typeface="Boogaloo"/>
            </a:endParaRPr>
          </a:p>
        </p:txBody>
      </p:sp>
      <p:sp>
        <p:nvSpPr>
          <p:cNvPr id="173" name="Google Shape;173;p30"/>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800" u="none" cap="none" strike="noStrike">
                <a:solidFill>
                  <a:srgbClr val="9A2F3E"/>
                </a:solidFill>
                <a:latin typeface="Boogaloo"/>
                <a:ea typeface="Boogaloo"/>
                <a:cs typeface="Boogaloo"/>
                <a:sym typeface="Boogaloo"/>
              </a:rPr>
              <a:t>Slide G</a:t>
            </a:r>
            <a:endParaRPr b="0" i="0" sz="1800" u="none" cap="none" strike="noStrike">
              <a:solidFill>
                <a:srgbClr val="9A2F3E"/>
              </a:solidFill>
              <a:latin typeface="Boogaloo"/>
              <a:ea typeface="Boogaloo"/>
              <a:cs typeface="Boogaloo"/>
              <a:sym typeface="Boogaloo"/>
            </a:endParaRPr>
          </a:p>
        </p:txBody>
      </p:sp>
      <p:sp>
        <p:nvSpPr>
          <p:cNvPr id="174" name="Google Shape;174;p30"/>
          <p:cNvSpPr/>
          <p:nvPr/>
        </p:nvSpPr>
        <p:spPr>
          <a:xfrm>
            <a:off x="457200" y="1447750"/>
            <a:ext cx="3840000" cy="5005200"/>
          </a:xfrm>
          <a:prstGeom prst="rect">
            <a:avLst/>
          </a:prstGeom>
          <a:solidFill>
            <a:srgbClr val="F5EDEF"/>
          </a:solidFill>
          <a:ln cap="flat" cmpd="sng" w="19050">
            <a:solidFill>
              <a:srgbClr val="9A2F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p30"/>
          <p:cNvSpPr txBox="1"/>
          <p:nvPr/>
        </p:nvSpPr>
        <p:spPr>
          <a:xfrm>
            <a:off x="662375" y="2654450"/>
            <a:ext cx="3719100" cy="2876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000000"/>
                </a:solidFill>
                <a:latin typeface="Cabin Condensed"/>
                <a:ea typeface="Cabin Condensed"/>
                <a:cs typeface="Cabin Condensed"/>
                <a:sym typeface="Cabin Condensed"/>
              </a:rPr>
              <a:t>Take a look at this kneepad design to the right.  </a:t>
            </a:r>
            <a:endParaRPr b="0" i="0" sz="2400" u="none" cap="none" strike="noStrike">
              <a:solidFill>
                <a:srgbClr val="000000"/>
              </a:solidFill>
              <a:latin typeface="Cabin Condensed"/>
              <a:ea typeface="Cabin Condensed"/>
              <a:cs typeface="Cabin Condensed"/>
              <a:sym typeface="Cabin Condensed"/>
            </a:endParaRPr>
          </a:p>
          <a:p>
            <a:pPr indent="-381000" lvl="0" marL="457200" marR="0" rtl="0" algn="l">
              <a:lnSpc>
                <a:spcPct val="100000"/>
              </a:lnSpc>
              <a:spcBef>
                <a:spcPts val="1000"/>
              </a:spcBef>
              <a:spcAft>
                <a:spcPts val="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What are some constraints that would apply to this protective device?</a:t>
            </a:r>
            <a:endParaRPr b="0" i="0" sz="2400" u="none" cap="none" strike="noStrike">
              <a:solidFill>
                <a:srgbClr val="9A2F3E"/>
              </a:solidFill>
              <a:latin typeface="Cabin Condensed"/>
              <a:ea typeface="Cabin Condensed"/>
              <a:cs typeface="Cabin Condensed"/>
              <a:sym typeface="Cabin Condensed"/>
            </a:endParaRPr>
          </a:p>
          <a:p>
            <a:pPr indent="-381000" lvl="0" marL="457200" marR="0" rtl="0" algn="l">
              <a:lnSpc>
                <a:spcPct val="100000"/>
              </a:lnSpc>
              <a:spcBef>
                <a:spcPts val="1000"/>
              </a:spcBef>
              <a:spcAft>
                <a:spcPts val="100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Are there any constraints that the design would have that are more important than others?</a:t>
            </a:r>
            <a:endParaRPr b="0" i="0" sz="2400" u="none" cap="none" strike="noStrike">
              <a:solidFill>
                <a:srgbClr val="9A2F3E"/>
              </a:solidFill>
              <a:latin typeface="Cabin Condensed"/>
              <a:ea typeface="Cabin Condensed"/>
              <a:cs typeface="Cabin Condensed"/>
              <a:sym typeface="Cabin Condensed"/>
            </a:endParaRPr>
          </a:p>
        </p:txBody>
      </p:sp>
      <p:pic>
        <p:nvPicPr>
          <p:cNvPr descr="Turn and talk icon" id="176" name="Google Shape;176;p30"/>
          <p:cNvPicPr preferRelativeResize="0"/>
          <p:nvPr/>
        </p:nvPicPr>
        <p:blipFill rotWithShape="1">
          <a:blip r:embed="rId3">
            <a:alphaModFix/>
          </a:blip>
          <a:srcRect b="0" l="139" r="137" t="0"/>
          <a:stretch/>
        </p:blipFill>
        <p:spPr>
          <a:xfrm>
            <a:off x="652175" y="1616500"/>
            <a:ext cx="1007372" cy="836538"/>
          </a:xfrm>
          <a:prstGeom prst="rect">
            <a:avLst/>
          </a:prstGeom>
          <a:noFill/>
          <a:ln>
            <a:noFill/>
          </a:ln>
        </p:spPr>
      </p:pic>
      <p:sp>
        <p:nvSpPr>
          <p:cNvPr id="177" name="Google Shape;177;p30"/>
          <p:cNvSpPr/>
          <p:nvPr/>
        </p:nvSpPr>
        <p:spPr>
          <a:xfrm>
            <a:off x="4673275" y="1447750"/>
            <a:ext cx="4013400" cy="5005200"/>
          </a:xfrm>
          <a:prstGeom prst="rect">
            <a:avLst/>
          </a:prstGeom>
          <a:solidFill>
            <a:srgbClr val="F5EDEF"/>
          </a:solidFill>
          <a:ln cap="flat" cmpd="sng" w="19050">
            <a:solidFill>
              <a:srgbClr val="9A2F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30"/>
          <p:cNvSpPr txBox="1"/>
          <p:nvPr/>
        </p:nvSpPr>
        <p:spPr>
          <a:xfrm>
            <a:off x="1782300" y="1615675"/>
            <a:ext cx="2232300" cy="685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0" i="0" lang="en" sz="3000" u="none" cap="none" strike="noStrike">
                <a:solidFill>
                  <a:srgbClr val="9A2F3E"/>
                </a:solidFill>
                <a:latin typeface="Boogaloo"/>
                <a:ea typeface="Boogaloo"/>
                <a:cs typeface="Boogaloo"/>
                <a:sym typeface="Boogaloo"/>
              </a:rPr>
              <a:t>Turn and Talk</a:t>
            </a:r>
            <a:endParaRPr b="0" i="0" sz="3000" u="none" cap="none" strike="noStrike">
              <a:solidFill>
                <a:srgbClr val="9A2F3E"/>
              </a:solidFill>
              <a:latin typeface="Boogaloo"/>
              <a:ea typeface="Boogaloo"/>
              <a:cs typeface="Boogaloo"/>
              <a:sym typeface="Boogaloo"/>
            </a:endParaRPr>
          </a:p>
          <a:p>
            <a:pPr indent="0" lvl="0" marL="0" marR="0" rtl="0" algn="l">
              <a:lnSpc>
                <a:spcPct val="100000"/>
              </a:lnSpc>
              <a:spcBef>
                <a:spcPts val="1000"/>
              </a:spcBef>
              <a:spcAft>
                <a:spcPts val="0"/>
              </a:spcAft>
              <a:buClr>
                <a:srgbClr val="000000"/>
              </a:buClr>
              <a:buSzPts val="1400"/>
              <a:buFont typeface="Arial"/>
              <a:buNone/>
            </a:pPr>
            <a:r>
              <a:t/>
            </a:r>
            <a:endParaRPr b="0" i="0" sz="1400" u="none" cap="none" strike="noStrike">
              <a:solidFill>
                <a:srgbClr val="000000"/>
              </a:solidFill>
              <a:latin typeface="Boogaloo"/>
              <a:ea typeface="Boogaloo"/>
              <a:cs typeface="Boogaloo"/>
              <a:sym typeface="Boogaloo"/>
            </a:endParaRPr>
          </a:p>
        </p:txBody>
      </p:sp>
      <p:sp>
        <p:nvSpPr>
          <p:cNvPr id="179" name="Google Shape;179;p30"/>
          <p:cNvSpPr txBox="1"/>
          <p:nvPr/>
        </p:nvSpPr>
        <p:spPr>
          <a:xfrm flipH="1" rot="187576">
            <a:off x="6993168" y="5339981"/>
            <a:ext cx="1958314" cy="1379640"/>
          </a:xfrm>
          <a:prstGeom prst="rect">
            <a:avLst/>
          </a:prstGeom>
          <a:solidFill>
            <a:srgbClr val="FFFFFF"/>
          </a:solidFill>
          <a:ln cap="flat" cmpd="sng" w="9525">
            <a:solidFill>
              <a:srgbClr val="9A2F3E"/>
            </a:solidFill>
            <a:prstDash val="solid"/>
            <a:round/>
            <a:headEnd len="sm" w="sm" type="none"/>
            <a:tailEnd len="sm" w="sm" type="none"/>
          </a:ln>
          <a:effectLst>
            <a:outerShdw blurRad="57150" rotWithShape="0" algn="bl" dir="5400000" dist="19050">
              <a:srgbClr val="000000">
                <a:alpha val="49019"/>
              </a:srgbClr>
            </a:outerShdw>
          </a:effectLst>
        </p:spPr>
        <p:txBody>
          <a:bodyPr anchorCtr="0" anchor="t" bIns="91425" lIns="91425" spcFirstLastPara="1" rIns="91425" wrap="square" tIns="91425">
            <a:noAutofit/>
          </a:bodyPr>
          <a:lstStyle/>
          <a:p>
            <a:pPr indent="-355600" lvl="0" marL="457200" marR="0" rtl="0" algn="l">
              <a:lnSpc>
                <a:spcPct val="100000"/>
              </a:lnSpc>
              <a:spcBef>
                <a:spcPts val="0"/>
              </a:spcBef>
              <a:spcAft>
                <a:spcPts val="0"/>
              </a:spcAft>
              <a:buClr>
                <a:srgbClr val="9A2F3E"/>
              </a:buClr>
              <a:buSzPts val="2000"/>
              <a:buFont typeface="Cabin Condensed"/>
              <a:buChar char="➔"/>
            </a:pPr>
            <a:r>
              <a:rPr b="1" i="0" lang="en" sz="2000" u="none" cap="none" strike="noStrike">
                <a:solidFill>
                  <a:srgbClr val="980000"/>
                </a:solidFill>
                <a:latin typeface="Cabin Condensed"/>
                <a:ea typeface="Cabin Condensed"/>
                <a:cs typeface="Cabin Condensed"/>
                <a:sym typeface="Cabin Condensed"/>
              </a:rPr>
              <a:t>Be prepared to share your ideas with the whole class</a:t>
            </a:r>
            <a:r>
              <a:rPr b="0" i="0" lang="en" sz="2000" u="none" cap="none" strike="noStrike">
                <a:solidFill>
                  <a:srgbClr val="980000"/>
                </a:solidFill>
                <a:latin typeface="Cabin Condensed"/>
                <a:ea typeface="Cabin Condensed"/>
                <a:cs typeface="Cabin Condensed"/>
                <a:sym typeface="Cabin Condensed"/>
              </a:rPr>
              <a:t>.</a:t>
            </a:r>
            <a:endParaRPr b="0" i="0" sz="2000" u="none" cap="none" strike="noStrike">
              <a:solidFill>
                <a:srgbClr val="9A2F3E"/>
              </a:solidFill>
              <a:latin typeface="Cabin Condensed"/>
              <a:ea typeface="Cabin Condensed"/>
              <a:cs typeface="Cabin Condensed"/>
              <a:sym typeface="Cabin Condensed"/>
            </a:endParaRPr>
          </a:p>
        </p:txBody>
      </p:sp>
      <p:pic>
        <p:nvPicPr>
          <p:cNvPr descr="A close-up of a person's knee wearing a white elastic knee pad on a light-colored wooden indoor court. The knee pad appears to be slightly worn, and the background shows the smooth surface of the court." id="180" name="Google Shape;180;p30"/>
          <p:cNvPicPr preferRelativeResize="0"/>
          <p:nvPr/>
        </p:nvPicPr>
        <p:blipFill rotWithShape="1">
          <a:blip r:embed="rId4">
            <a:alphaModFix/>
          </a:blip>
          <a:srcRect b="0" l="0" r="0" t="0"/>
          <a:stretch/>
        </p:blipFill>
        <p:spPr>
          <a:xfrm>
            <a:off x="4977825" y="1512623"/>
            <a:ext cx="3116449" cy="36665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84" name="Shape 184"/>
        <p:cNvGrpSpPr/>
        <p:nvPr/>
      </p:nvGrpSpPr>
      <p:grpSpPr>
        <a:xfrm>
          <a:off x="0" y="0"/>
          <a:ext cx="0" cy="0"/>
          <a:chOff x="0" y="0"/>
          <a:chExt cx="0" cy="0"/>
        </a:xfrm>
      </p:grpSpPr>
      <p:sp>
        <p:nvSpPr>
          <p:cNvPr id="185" name="Google Shape;185;p31"/>
          <p:cNvSpPr/>
          <p:nvPr/>
        </p:nvSpPr>
        <p:spPr>
          <a:xfrm>
            <a:off x="457200" y="548640"/>
            <a:ext cx="8229600" cy="685800"/>
          </a:xfrm>
          <a:prstGeom prst="rect">
            <a:avLst/>
          </a:prstGeom>
          <a:solidFill>
            <a:srgbClr val="9A2F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rgbClr val="FFFFFF"/>
                </a:solidFill>
                <a:latin typeface="Boogaloo"/>
                <a:ea typeface="Boogaloo"/>
                <a:cs typeface="Boogaloo"/>
                <a:sym typeface="Boogaloo"/>
              </a:rPr>
              <a:t>Getting Design Feedback from Others</a:t>
            </a:r>
            <a:endParaRPr b="0" i="0" sz="3200" u="none" cap="none" strike="noStrike">
              <a:solidFill>
                <a:srgbClr val="FFFFFF"/>
              </a:solidFill>
              <a:latin typeface="Boogaloo"/>
              <a:ea typeface="Boogaloo"/>
              <a:cs typeface="Boogaloo"/>
              <a:sym typeface="Boogaloo"/>
            </a:endParaRPr>
          </a:p>
        </p:txBody>
      </p:sp>
      <p:sp>
        <p:nvSpPr>
          <p:cNvPr id="186" name="Google Shape;186;p31"/>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800" u="none" cap="none" strike="noStrike">
                <a:solidFill>
                  <a:srgbClr val="9A2F3E"/>
                </a:solidFill>
                <a:latin typeface="Boogaloo"/>
                <a:ea typeface="Boogaloo"/>
                <a:cs typeface="Boogaloo"/>
                <a:sym typeface="Boogaloo"/>
              </a:rPr>
              <a:t>Slide H</a:t>
            </a:r>
            <a:endParaRPr b="0" i="0" sz="1800" u="none" cap="none" strike="noStrike">
              <a:solidFill>
                <a:srgbClr val="9A2F3E"/>
              </a:solidFill>
              <a:latin typeface="Boogaloo"/>
              <a:ea typeface="Boogaloo"/>
              <a:cs typeface="Boogaloo"/>
              <a:sym typeface="Boogaloo"/>
            </a:endParaRPr>
          </a:p>
        </p:txBody>
      </p:sp>
      <p:sp>
        <p:nvSpPr>
          <p:cNvPr id="187" name="Google Shape;187;p31"/>
          <p:cNvSpPr/>
          <p:nvPr/>
        </p:nvSpPr>
        <p:spPr>
          <a:xfrm>
            <a:off x="457150" y="1600200"/>
            <a:ext cx="8229600" cy="4958100"/>
          </a:xfrm>
          <a:prstGeom prst="rect">
            <a:avLst/>
          </a:prstGeom>
          <a:solidFill>
            <a:srgbClr val="F5EDEF"/>
          </a:solidFill>
          <a:ln cap="flat" cmpd="sng" w="19050">
            <a:solidFill>
              <a:srgbClr val="9A2F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31"/>
          <p:cNvSpPr txBox="1"/>
          <p:nvPr/>
        </p:nvSpPr>
        <p:spPr>
          <a:xfrm>
            <a:off x="1097850" y="3086100"/>
            <a:ext cx="7015200" cy="2243100"/>
          </a:xfrm>
          <a:prstGeom prst="rect">
            <a:avLst/>
          </a:prstGeom>
          <a:noFill/>
          <a:ln>
            <a:noFill/>
          </a:ln>
        </p:spPr>
        <p:txBody>
          <a:bodyPr anchorCtr="0" anchor="t" bIns="91425" lIns="91425" spcFirstLastPara="1" rIns="91425" wrap="square" tIns="91425">
            <a:noAutofit/>
          </a:bodyPr>
          <a:lstStyle/>
          <a:p>
            <a:pPr indent="-381000" lvl="0" marL="457200" marR="0" rtl="0" algn="l">
              <a:lnSpc>
                <a:spcPct val="100000"/>
              </a:lnSpc>
              <a:spcBef>
                <a:spcPts val="0"/>
              </a:spcBef>
              <a:spcAft>
                <a:spcPts val="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If we were to think about trade-offs for our devices, who would we need to consult to make sure we were making an informed decision about what was important? </a:t>
            </a:r>
            <a:endParaRPr b="0" i="0" sz="2400" u="none" cap="none" strike="noStrike">
              <a:solidFill>
                <a:srgbClr val="9A2F3E"/>
              </a:solidFill>
              <a:latin typeface="Cabin Condensed"/>
              <a:ea typeface="Cabin Condensed"/>
              <a:cs typeface="Cabin Condensed"/>
              <a:sym typeface="Cabin Condensed"/>
            </a:endParaRPr>
          </a:p>
          <a:p>
            <a:pPr indent="-381000" lvl="0" marL="457200" marR="0" rtl="0" algn="l">
              <a:lnSpc>
                <a:spcPct val="100000"/>
              </a:lnSpc>
              <a:spcBef>
                <a:spcPts val="1000"/>
              </a:spcBef>
              <a:spcAft>
                <a:spcPts val="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Why would we need to consult and consider the feedback of others in the first place? </a:t>
            </a:r>
            <a:endParaRPr b="0" i="0" sz="2400" u="none" cap="none" strike="noStrike">
              <a:solidFill>
                <a:srgbClr val="9A2F3E"/>
              </a:solidFill>
              <a:latin typeface="Cabin Condensed"/>
              <a:ea typeface="Cabin Condensed"/>
              <a:cs typeface="Cabin Condensed"/>
              <a:sym typeface="Cabin Condensed"/>
            </a:endParaRPr>
          </a:p>
          <a:p>
            <a:pPr indent="0" lvl="0" marL="0" marR="0" rtl="0" algn="l">
              <a:lnSpc>
                <a:spcPct val="100000"/>
              </a:lnSpc>
              <a:spcBef>
                <a:spcPts val="100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 name="Google Shape;189;p31"/>
          <p:cNvSpPr txBox="1"/>
          <p:nvPr/>
        </p:nvSpPr>
        <p:spPr>
          <a:xfrm>
            <a:off x="2399700" y="1931675"/>
            <a:ext cx="4411500" cy="762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1000"/>
              </a:spcAft>
              <a:buClr>
                <a:srgbClr val="000000"/>
              </a:buClr>
              <a:buSzPts val="3000"/>
              <a:buFont typeface="Arial"/>
              <a:buNone/>
            </a:pPr>
            <a:r>
              <a:rPr b="0" i="0" lang="en" sz="3000" u="none" cap="none" strike="noStrike">
                <a:solidFill>
                  <a:srgbClr val="9A2F3E"/>
                </a:solidFill>
                <a:latin typeface="Boogaloo"/>
                <a:ea typeface="Boogaloo"/>
                <a:cs typeface="Boogaloo"/>
                <a:sym typeface="Boogaloo"/>
              </a:rPr>
              <a:t>Turn and Talk</a:t>
            </a:r>
            <a:endParaRPr b="0" i="0" sz="3000" u="none" cap="none" strike="noStrike">
              <a:solidFill>
                <a:srgbClr val="000000"/>
              </a:solidFill>
              <a:latin typeface="Arial"/>
              <a:ea typeface="Arial"/>
              <a:cs typeface="Arial"/>
              <a:sym typeface="Arial"/>
            </a:endParaRPr>
          </a:p>
        </p:txBody>
      </p:sp>
      <p:pic>
        <p:nvPicPr>
          <p:cNvPr descr="Turn and talk icon" id="190" name="Google Shape;190;p31"/>
          <p:cNvPicPr preferRelativeResize="0"/>
          <p:nvPr/>
        </p:nvPicPr>
        <p:blipFill rotWithShape="1">
          <a:blip r:embed="rId3">
            <a:alphaModFix/>
          </a:blip>
          <a:srcRect b="0" l="0" r="0" t="0"/>
          <a:stretch/>
        </p:blipFill>
        <p:spPr>
          <a:xfrm>
            <a:off x="1147605" y="1855313"/>
            <a:ext cx="1142495" cy="944462"/>
          </a:xfrm>
          <a:prstGeom prst="rect">
            <a:avLst/>
          </a:prstGeom>
          <a:noFill/>
          <a:ln>
            <a:noFill/>
          </a:ln>
        </p:spPr>
      </p:pic>
      <p:sp>
        <p:nvSpPr>
          <p:cNvPr id="191" name="Google Shape;191;p31"/>
          <p:cNvSpPr txBox="1"/>
          <p:nvPr/>
        </p:nvSpPr>
        <p:spPr>
          <a:xfrm flipH="1" rot="-204504">
            <a:off x="6317548" y="5327403"/>
            <a:ext cx="2094104" cy="1361094"/>
          </a:xfrm>
          <a:prstGeom prst="rect">
            <a:avLst/>
          </a:prstGeom>
          <a:solidFill>
            <a:srgbClr val="FFFFFF"/>
          </a:solidFill>
          <a:ln cap="flat" cmpd="sng" w="9525">
            <a:solidFill>
              <a:srgbClr val="9A2F3E"/>
            </a:solidFill>
            <a:prstDash val="solid"/>
            <a:round/>
            <a:headEnd len="sm" w="sm" type="none"/>
            <a:tailEnd len="sm" w="sm" type="none"/>
          </a:ln>
          <a:effectLst>
            <a:outerShdw blurRad="57150" rotWithShape="0" algn="bl" dir="5400000" dist="19050">
              <a:srgbClr val="000000">
                <a:alpha val="49019"/>
              </a:srgbClr>
            </a:outerShdw>
          </a:effectLst>
        </p:spPr>
        <p:txBody>
          <a:bodyPr anchorCtr="0" anchor="t" bIns="91425" lIns="91425" spcFirstLastPara="1" rIns="91425" wrap="square" tIns="91425">
            <a:noAutofit/>
          </a:bodyPr>
          <a:lstStyle/>
          <a:p>
            <a:pPr indent="-355600" lvl="0" marL="457200" marR="0" rtl="0" algn="l">
              <a:lnSpc>
                <a:spcPct val="100000"/>
              </a:lnSpc>
              <a:spcBef>
                <a:spcPts val="0"/>
              </a:spcBef>
              <a:spcAft>
                <a:spcPts val="0"/>
              </a:spcAft>
              <a:buClr>
                <a:srgbClr val="9A2F3E"/>
              </a:buClr>
              <a:buSzPts val="2000"/>
              <a:buFont typeface="Cabin Condensed"/>
              <a:buChar char="➔"/>
            </a:pPr>
            <a:r>
              <a:rPr b="1" i="0" lang="en" sz="2000" u="none" cap="none" strike="noStrike">
                <a:solidFill>
                  <a:srgbClr val="980000"/>
                </a:solidFill>
                <a:latin typeface="Cabin Condensed"/>
                <a:ea typeface="Cabin Condensed"/>
                <a:cs typeface="Cabin Condensed"/>
                <a:sym typeface="Cabin Condensed"/>
              </a:rPr>
              <a:t>Be prepared to share your ideas with the whole class</a:t>
            </a:r>
            <a:r>
              <a:rPr b="0" i="0" lang="en" sz="2000" u="none" cap="none" strike="noStrike">
                <a:solidFill>
                  <a:srgbClr val="980000"/>
                </a:solidFill>
                <a:latin typeface="Cabin Condensed"/>
                <a:ea typeface="Cabin Condensed"/>
                <a:cs typeface="Cabin Condensed"/>
                <a:sym typeface="Cabin Condensed"/>
              </a:rPr>
              <a:t>.</a:t>
            </a:r>
            <a:endParaRPr b="0" i="0" sz="2000" u="none" cap="none" strike="noStrike">
              <a:solidFill>
                <a:srgbClr val="9A2F3E"/>
              </a:solidFill>
              <a:latin typeface="Cabin Condensed"/>
              <a:ea typeface="Cabin Condensed"/>
              <a:cs typeface="Cabin Condensed"/>
              <a:sym typeface="Cabin Condense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95" name="Shape 195"/>
        <p:cNvGrpSpPr/>
        <p:nvPr/>
      </p:nvGrpSpPr>
      <p:grpSpPr>
        <a:xfrm>
          <a:off x="0" y="0"/>
          <a:ext cx="0" cy="0"/>
          <a:chOff x="0" y="0"/>
          <a:chExt cx="0" cy="0"/>
        </a:xfrm>
      </p:grpSpPr>
      <p:sp>
        <p:nvSpPr>
          <p:cNvPr id="196" name="Google Shape;196;p32"/>
          <p:cNvSpPr/>
          <p:nvPr/>
        </p:nvSpPr>
        <p:spPr>
          <a:xfrm>
            <a:off x="457200" y="548640"/>
            <a:ext cx="8229600" cy="685800"/>
          </a:xfrm>
          <a:prstGeom prst="rect">
            <a:avLst/>
          </a:prstGeom>
          <a:solidFill>
            <a:srgbClr val="9A2F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rgbClr val="FFFFFF"/>
                </a:solidFill>
                <a:latin typeface="Boogaloo"/>
                <a:ea typeface="Boogaloo"/>
                <a:cs typeface="Boogaloo"/>
                <a:sym typeface="Boogaloo"/>
              </a:rPr>
              <a:t>Eliciting Feedback</a:t>
            </a:r>
            <a:endParaRPr b="0" i="0" sz="3200" u="none" cap="none" strike="noStrike">
              <a:solidFill>
                <a:srgbClr val="FFFFFF"/>
              </a:solidFill>
              <a:latin typeface="Boogaloo"/>
              <a:ea typeface="Boogaloo"/>
              <a:cs typeface="Boogaloo"/>
              <a:sym typeface="Boogaloo"/>
            </a:endParaRPr>
          </a:p>
        </p:txBody>
      </p:sp>
      <p:sp>
        <p:nvSpPr>
          <p:cNvPr id="197" name="Google Shape;197;p32"/>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800" u="none" cap="none" strike="noStrike">
                <a:solidFill>
                  <a:srgbClr val="9A2F3E"/>
                </a:solidFill>
                <a:latin typeface="Boogaloo"/>
                <a:ea typeface="Boogaloo"/>
                <a:cs typeface="Boogaloo"/>
                <a:sym typeface="Boogaloo"/>
              </a:rPr>
              <a:t>Slide I</a:t>
            </a:r>
            <a:endParaRPr b="0" i="0" sz="1800" u="none" cap="none" strike="noStrike">
              <a:solidFill>
                <a:srgbClr val="9A2F3E"/>
              </a:solidFill>
              <a:latin typeface="Boogaloo"/>
              <a:ea typeface="Boogaloo"/>
              <a:cs typeface="Boogaloo"/>
              <a:sym typeface="Boogaloo"/>
            </a:endParaRPr>
          </a:p>
        </p:txBody>
      </p:sp>
      <p:sp>
        <p:nvSpPr>
          <p:cNvPr id="198" name="Google Shape;198;p32"/>
          <p:cNvSpPr/>
          <p:nvPr/>
        </p:nvSpPr>
        <p:spPr>
          <a:xfrm>
            <a:off x="457150" y="1377350"/>
            <a:ext cx="8229600" cy="5181000"/>
          </a:xfrm>
          <a:prstGeom prst="rect">
            <a:avLst/>
          </a:prstGeom>
          <a:solidFill>
            <a:srgbClr val="F5EDEF"/>
          </a:solidFill>
          <a:ln cap="flat" cmpd="sng" w="19050">
            <a:solidFill>
              <a:srgbClr val="9A2F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32"/>
          <p:cNvSpPr txBox="1"/>
          <p:nvPr/>
        </p:nvSpPr>
        <p:spPr>
          <a:xfrm>
            <a:off x="520850" y="2879200"/>
            <a:ext cx="8106600" cy="35229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800"/>
              <a:buFont typeface="Arial"/>
              <a:buNone/>
            </a:pPr>
            <a:r>
              <a:t/>
            </a:r>
            <a:endParaRPr b="0" i="0" sz="2800" u="none" cap="none" strike="noStrike">
              <a:solidFill>
                <a:srgbClr val="000000"/>
              </a:solidFill>
              <a:latin typeface="Cabin Condensed"/>
              <a:ea typeface="Cabin Condensed"/>
              <a:cs typeface="Cabin Condensed"/>
              <a:sym typeface="Cabin Condensed"/>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p32"/>
          <p:cNvSpPr txBox="1"/>
          <p:nvPr/>
        </p:nvSpPr>
        <p:spPr>
          <a:xfrm>
            <a:off x="628775" y="3004475"/>
            <a:ext cx="1489500" cy="762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1000"/>
              </a:spcAft>
              <a:buClr>
                <a:srgbClr val="000000"/>
              </a:buClr>
              <a:buSzPts val="3000"/>
              <a:buFont typeface="Arial"/>
              <a:buNone/>
            </a:pPr>
            <a:r>
              <a:rPr b="0" i="0" lang="en" sz="3000" u="none" cap="none" strike="noStrike">
                <a:solidFill>
                  <a:srgbClr val="9A2F3E"/>
                </a:solidFill>
                <a:latin typeface="Boogaloo"/>
                <a:ea typeface="Boogaloo"/>
                <a:cs typeface="Boogaloo"/>
                <a:sym typeface="Boogaloo"/>
              </a:rPr>
              <a:t>Feedback Form, Step 1</a:t>
            </a:r>
            <a:endParaRPr b="0" i="0" sz="800" u="none" cap="none" strike="noStrike">
              <a:solidFill>
                <a:srgbClr val="000000"/>
              </a:solidFill>
              <a:latin typeface="Arial"/>
              <a:ea typeface="Arial"/>
              <a:cs typeface="Arial"/>
              <a:sym typeface="Arial"/>
            </a:endParaRPr>
          </a:p>
        </p:txBody>
      </p:sp>
      <p:pic>
        <p:nvPicPr>
          <p:cNvPr descr="With your class icon" id="201" name="Google Shape;201;p32"/>
          <p:cNvPicPr preferRelativeResize="0"/>
          <p:nvPr/>
        </p:nvPicPr>
        <p:blipFill rotWithShape="1">
          <a:blip r:embed="rId3">
            <a:alphaModFix/>
          </a:blip>
          <a:srcRect b="0" l="0" r="0" t="0"/>
          <a:stretch/>
        </p:blipFill>
        <p:spPr>
          <a:xfrm>
            <a:off x="773187" y="1805487"/>
            <a:ext cx="955613" cy="970388"/>
          </a:xfrm>
          <a:prstGeom prst="rect">
            <a:avLst/>
          </a:prstGeom>
          <a:noFill/>
          <a:ln>
            <a:noFill/>
          </a:ln>
        </p:spPr>
      </p:pic>
      <p:pic>
        <p:nvPicPr>
          <p:cNvPr descr="A screenshot of the decision tree from a handout. Top question asks about existing protective devices in use. Options lead to fields for listing devices or defining a new devices purpose. Includes red text boxes with suggestions for writing scripts for stakeholder queries." id="202" name="Google Shape;202;p32"/>
          <p:cNvPicPr preferRelativeResize="0"/>
          <p:nvPr/>
        </p:nvPicPr>
        <p:blipFill rotWithShape="1">
          <a:blip r:embed="rId4">
            <a:alphaModFix/>
          </a:blip>
          <a:srcRect b="0" l="0" r="0" t="0"/>
          <a:stretch/>
        </p:blipFill>
        <p:spPr>
          <a:xfrm>
            <a:off x="2334888" y="1410375"/>
            <a:ext cx="5857875" cy="51149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206" name="Shape 206"/>
        <p:cNvGrpSpPr/>
        <p:nvPr/>
      </p:nvGrpSpPr>
      <p:grpSpPr>
        <a:xfrm>
          <a:off x="0" y="0"/>
          <a:ext cx="0" cy="0"/>
          <a:chOff x="0" y="0"/>
          <a:chExt cx="0" cy="0"/>
        </a:xfrm>
      </p:grpSpPr>
      <p:sp>
        <p:nvSpPr>
          <p:cNvPr id="207" name="Google Shape;207;p33"/>
          <p:cNvSpPr/>
          <p:nvPr/>
        </p:nvSpPr>
        <p:spPr>
          <a:xfrm>
            <a:off x="457200" y="548640"/>
            <a:ext cx="8229600" cy="685800"/>
          </a:xfrm>
          <a:prstGeom prst="rect">
            <a:avLst/>
          </a:prstGeom>
          <a:solidFill>
            <a:srgbClr val="9A2F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rgbClr val="FFFFFF"/>
                </a:solidFill>
                <a:latin typeface="Boogaloo"/>
                <a:ea typeface="Boogaloo"/>
                <a:cs typeface="Boogaloo"/>
                <a:sym typeface="Boogaloo"/>
              </a:rPr>
              <a:t>Eliciting Feedback</a:t>
            </a:r>
            <a:endParaRPr b="0" i="0" sz="3200" u="none" cap="none" strike="noStrike">
              <a:solidFill>
                <a:srgbClr val="FFFFFF"/>
              </a:solidFill>
              <a:latin typeface="Boogaloo"/>
              <a:ea typeface="Boogaloo"/>
              <a:cs typeface="Boogaloo"/>
              <a:sym typeface="Boogaloo"/>
            </a:endParaRPr>
          </a:p>
        </p:txBody>
      </p:sp>
      <p:sp>
        <p:nvSpPr>
          <p:cNvPr id="208" name="Google Shape;208;p33"/>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800" u="none" cap="none" strike="noStrike">
                <a:solidFill>
                  <a:srgbClr val="9A2F3E"/>
                </a:solidFill>
                <a:latin typeface="Boogaloo"/>
                <a:ea typeface="Boogaloo"/>
                <a:cs typeface="Boogaloo"/>
                <a:sym typeface="Boogaloo"/>
              </a:rPr>
              <a:t>Slide J</a:t>
            </a:r>
            <a:endParaRPr b="0" i="0" sz="1800" u="none" cap="none" strike="noStrike">
              <a:solidFill>
                <a:srgbClr val="9A2F3E"/>
              </a:solidFill>
              <a:latin typeface="Boogaloo"/>
              <a:ea typeface="Boogaloo"/>
              <a:cs typeface="Boogaloo"/>
              <a:sym typeface="Boogaloo"/>
            </a:endParaRPr>
          </a:p>
        </p:txBody>
      </p:sp>
      <p:sp>
        <p:nvSpPr>
          <p:cNvPr id="209" name="Google Shape;209;p33"/>
          <p:cNvSpPr/>
          <p:nvPr/>
        </p:nvSpPr>
        <p:spPr>
          <a:xfrm>
            <a:off x="457150" y="1528775"/>
            <a:ext cx="8229600" cy="5029500"/>
          </a:xfrm>
          <a:prstGeom prst="rect">
            <a:avLst/>
          </a:prstGeom>
          <a:solidFill>
            <a:srgbClr val="F5EDEF"/>
          </a:solidFill>
          <a:ln cap="flat" cmpd="sng" w="19050">
            <a:solidFill>
              <a:srgbClr val="9A2F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p33"/>
          <p:cNvSpPr txBox="1"/>
          <p:nvPr/>
        </p:nvSpPr>
        <p:spPr>
          <a:xfrm>
            <a:off x="1779675" y="1789488"/>
            <a:ext cx="4411500" cy="762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1000"/>
              </a:spcAft>
              <a:buClr>
                <a:srgbClr val="000000"/>
              </a:buClr>
              <a:buSzPts val="3000"/>
              <a:buFont typeface="Arial"/>
              <a:buNone/>
            </a:pPr>
            <a:r>
              <a:rPr b="0" i="0" lang="en" sz="3000" u="none" cap="none" strike="noStrike">
                <a:solidFill>
                  <a:srgbClr val="9A2F3E"/>
                </a:solidFill>
                <a:latin typeface="Boogaloo"/>
                <a:ea typeface="Boogaloo"/>
                <a:cs typeface="Boogaloo"/>
                <a:sym typeface="Boogaloo"/>
              </a:rPr>
              <a:t>Feedback Form, Step 2</a:t>
            </a:r>
            <a:endParaRPr b="0" i="0" sz="3000" u="none" cap="none" strike="noStrike">
              <a:solidFill>
                <a:srgbClr val="000000"/>
              </a:solidFill>
              <a:latin typeface="Arial"/>
              <a:ea typeface="Arial"/>
              <a:cs typeface="Arial"/>
              <a:sym typeface="Arial"/>
            </a:endParaRPr>
          </a:p>
        </p:txBody>
      </p:sp>
      <p:pic>
        <p:nvPicPr>
          <p:cNvPr descr="With your class icon" id="211" name="Google Shape;211;p33"/>
          <p:cNvPicPr preferRelativeResize="0"/>
          <p:nvPr/>
        </p:nvPicPr>
        <p:blipFill rotWithShape="1">
          <a:blip r:embed="rId3">
            <a:alphaModFix/>
          </a:blip>
          <a:srcRect b="0" l="0" r="0" t="0"/>
          <a:stretch/>
        </p:blipFill>
        <p:spPr>
          <a:xfrm>
            <a:off x="863000" y="1789501"/>
            <a:ext cx="833511" cy="846400"/>
          </a:xfrm>
          <a:prstGeom prst="rect">
            <a:avLst/>
          </a:prstGeom>
          <a:noFill/>
          <a:ln>
            <a:noFill/>
          </a:ln>
        </p:spPr>
      </p:pic>
      <p:pic>
        <p:nvPicPr>
          <p:cNvPr descr="Table to record trade-offs and why you decided to make this tradeoff." id="212" name="Google Shape;212;p33"/>
          <p:cNvPicPr preferRelativeResize="0"/>
          <p:nvPr/>
        </p:nvPicPr>
        <p:blipFill rotWithShape="1">
          <a:blip r:embed="rId4">
            <a:alphaModFix/>
          </a:blip>
          <a:srcRect b="0" l="0" r="0" t="0"/>
          <a:stretch/>
        </p:blipFill>
        <p:spPr>
          <a:xfrm>
            <a:off x="775804" y="3098404"/>
            <a:ext cx="7586150" cy="32257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216" name="Shape 216"/>
        <p:cNvGrpSpPr/>
        <p:nvPr/>
      </p:nvGrpSpPr>
      <p:grpSpPr>
        <a:xfrm>
          <a:off x="0" y="0"/>
          <a:ext cx="0" cy="0"/>
          <a:chOff x="0" y="0"/>
          <a:chExt cx="0" cy="0"/>
        </a:xfrm>
      </p:grpSpPr>
      <p:sp>
        <p:nvSpPr>
          <p:cNvPr id="217" name="Google Shape;217;p34"/>
          <p:cNvSpPr/>
          <p:nvPr/>
        </p:nvSpPr>
        <p:spPr>
          <a:xfrm>
            <a:off x="457200" y="548640"/>
            <a:ext cx="8229600" cy="685800"/>
          </a:xfrm>
          <a:prstGeom prst="rect">
            <a:avLst/>
          </a:prstGeom>
          <a:solidFill>
            <a:srgbClr val="9A2F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rgbClr val="FFFFFF"/>
                </a:solidFill>
                <a:latin typeface="Boogaloo"/>
                <a:ea typeface="Boogaloo"/>
                <a:cs typeface="Boogaloo"/>
                <a:sym typeface="Boogaloo"/>
              </a:rPr>
              <a:t>Engineer’s Feedback Process</a:t>
            </a:r>
            <a:endParaRPr b="0" i="0" sz="3200" u="none" cap="none" strike="noStrike">
              <a:solidFill>
                <a:srgbClr val="FFFFFF"/>
              </a:solidFill>
              <a:latin typeface="Boogaloo"/>
              <a:ea typeface="Boogaloo"/>
              <a:cs typeface="Boogaloo"/>
              <a:sym typeface="Boogaloo"/>
            </a:endParaRPr>
          </a:p>
        </p:txBody>
      </p:sp>
      <p:sp>
        <p:nvSpPr>
          <p:cNvPr id="218" name="Google Shape;218;p34"/>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800" u="none" cap="none" strike="noStrike">
                <a:solidFill>
                  <a:srgbClr val="9A2F3E"/>
                </a:solidFill>
                <a:latin typeface="Boogaloo"/>
                <a:ea typeface="Boogaloo"/>
                <a:cs typeface="Boogaloo"/>
                <a:sym typeface="Boogaloo"/>
              </a:rPr>
              <a:t>Slide K</a:t>
            </a:r>
            <a:endParaRPr b="0" i="0" sz="1800" u="none" cap="none" strike="noStrike">
              <a:solidFill>
                <a:srgbClr val="9A2F3E"/>
              </a:solidFill>
              <a:latin typeface="Boogaloo"/>
              <a:ea typeface="Boogaloo"/>
              <a:cs typeface="Boogaloo"/>
              <a:sym typeface="Boogaloo"/>
            </a:endParaRPr>
          </a:p>
        </p:txBody>
      </p:sp>
      <p:sp>
        <p:nvSpPr>
          <p:cNvPr id="219" name="Google Shape;219;p34"/>
          <p:cNvSpPr/>
          <p:nvPr/>
        </p:nvSpPr>
        <p:spPr>
          <a:xfrm>
            <a:off x="457150" y="1453550"/>
            <a:ext cx="8229600" cy="5181000"/>
          </a:xfrm>
          <a:prstGeom prst="rect">
            <a:avLst/>
          </a:prstGeom>
          <a:solidFill>
            <a:srgbClr val="F5EDEF"/>
          </a:solidFill>
          <a:ln cap="flat" cmpd="sng" w="19050">
            <a:solidFill>
              <a:srgbClr val="9A2F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p34"/>
          <p:cNvSpPr txBox="1"/>
          <p:nvPr/>
        </p:nvSpPr>
        <p:spPr>
          <a:xfrm>
            <a:off x="520850" y="2955400"/>
            <a:ext cx="8106600" cy="35229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800"/>
              <a:buFont typeface="Arial"/>
              <a:buNone/>
            </a:pPr>
            <a:r>
              <a:t/>
            </a:r>
            <a:endParaRPr b="0" i="0" sz="2800" u="none" cap="none" strike="noStrike">
              <a:solidFill>
                <a:srgbClr val="000000"/>
              </a:solidFill>
              <a:latin typeface="Cabin Condensed"/>
              <a:ea typeface="Cabin Condensed"/>
              <a:cs typeface="Cabin Condensed"/>
              <a:sym typeface="Cabin Condensed"/>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p34"/>
          <p:cNvSpPr txBox="1"/>
          <p:nvPr/>
        </p:nvSpPr>
        <p:spPr>
          <a:xfrm>
            <a:off x="1932100" y="1675825"/>
            <a:ext cx="4411500" cy="762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1000"/>
              </a:spcAft>
              <a:buClr>
                <a:srgbClr val="000000"/>
              </a:buClr>
              <a:buSzPts val="3000"/>
              <a:buFont typeface="Arial"/>
              <a:buNone/>
            </a:pPr>
            <a:r>
              <a:rPr b="0" i="0" lang="en" sz="3000" u="none" cap="none" strike="noStrike">
                <a:solidFill>
                  <a:srgbClr val="9A2F3E"/>
                </a:solidFill>
                <a:latin typeface="Boogaloo"/>
                <a:ea typeface="Boogaloo"/>
                <a:cs typeface="Boogaloo"/>
                <a:sym typeface="Boogaloo"/>
              </a:rPr>
              <a:t>Market Research</a:t>
            </a:r>
            <a:endParaRPr b="0" i="0" sz="3000" u="none" cap="none" strike="noStrike">
              <a:solidFill>
                <a:srgbClr val="000000"/>
              </a:solidFill>
              <a:latin typeface="Arial"/>
              <a:ea typeface="Arial"/>
              <a:cs typeface="Arial"/>
              <a:sym typeface="Arial"/>
            </a:endParaRPr>
          </a:p>
        </p:txBody>
      </p:sp>
      <p:sp>
        <p:nvSpPr>
          <p:cNvPr id="222" name="Google Shape;222;p34"/>
          <p:cNvSpPr txBox="1"/>
          <p:nvPr/>
        </p:nvSpPr>
        <p:spPr>
          <a:xfrm>
            <a:off x="671050" y="3345500"/>
            <a:ext cx="4321500" cy="2536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9A2F3E"/>
                </a:solidFill>
                <a:latin typeface="Cabin Condensed"/>
                <a:ea typeface="Cabin Condensed"/>
                <a:cs typeface="Cabin Condensed"/>
                <a:sym typeface="Cabin Condensed"/>
              </a:rPr>
              <a:t>These are some ways that engineers can conduct market research:</a:t>
            </a:r>
            <a:endParaRPr b="0" i="0" sz="2400" u="none" cap="none" strike="noStrike">
              <a:solidFill>
                <a:srgbClr val="9A2F3E"/>
              </a:solidFill>
              <a:latin typeface="Cabin Condensed"/>
              <a:ea typeface="Cabin Condensed"/>
              <a:cs typeface="Cabin Condensed"/>
              <a:sym typeface="Cabin Condensed"/>
            </a:endParaRPr>
          </a:p>
          <a:p>
            <a:pPr indent="-266700" lvl="0" marL="342900" marR="0" rtl="0" algn="l">
              <a:lnSpc>
                <a:spcPct val="100000"/>
              </a:lnSpc>
              <a:spcBef>
                <a:spcPts val="1000"/>
              </a:spcBef>
              <a:spcAft>
                <a:spcPts val="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using focus groups</a:t>
            </a:r>
            <a:endParaRPr b="0" i="0" sz="2400" u="none" cap="none" strike="noStrike">
              <a:solidFill>
                <a:srgbClr val="9A2F3E"/>
              </a:solidFill>
              <a:latin typeface="Cabin Condensed"/>
              <a:ea typeface="Cabin Condensed"/>
              <a:cs typeface="Cabin Condensed"/>
              <a:sym typeface="Cabin Condensed"/>
            </a:endParaRPr>
          </a:p>
          <a:p>
            <a:pPr indent="-266700" lvl="0" marL="342900" marR="0" rtl="0" algn="l">
              <a:lnSpc>
                <a:spcPct val="100000"/>
              </a:lnSpc>
              <a:spcBef>
                <a:spcPts val="1000"/>
              </a:spcBef>
              <a:spcAft>
                <a:spcPts val="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reviewing previously collected stakeholder attitudes and ideas</a:t>
            </a:r>
            <a:endParaRPr b="0" i="0" sz="2400" u="none" cap="none" strike="noStrike">
              <a:solidFill>
                <a:srgbClr val="9A2F3E"/>
              </a:solidFill>
              <a:latin typeface="Cabin Condensed"/>
              <a:ea typeface="Cabin Condensed"/>
              <a:cs typeface="Cabin Condensed"/>
              <a:sym typeface="Cabin Condensed"/>
            </a:endParaRPr>
          </a:p>
          <a:p>
            <a:pPr indent="-266700" lvl="0" marL="342900" marR="0" rtl="0" algn="l">
              <a:lnSpc>
                <a:spcPct val="100000"/>
              </a:lnSpc>
              <a:spcBef>
                <a:spcPts val="1000"/>
              </a:spcBef>
              <a:spcAft>
                <a:spcPts val="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conducting product polls</a:t>
            </a:r>
            <a:endParaRPr b="0" i="0" sz="2400" u="none" cap="none" strike="noStrike">
              <a:solidFill>
                <a:srgbClr val="9A2F3E"/>
              </a:solidFill>
              <a:latin typeface="Cabin Condensed"/>
              <a:ea typeface="Cabin Condensed"/>
              <a:cs typeface="Cabin Condensed"/>
              <a:sym typeface="Cabin Condensed"/>
            </a:endParaRPr>
          </a:p>
          <a:p>
            <a:pPr indent="-266700" lvl="0" marL="342900" marR="0" rtl="0" algn="l">
              <a:lnSpc>
                <a:spcPct val="100000"/>
              </a:lnSpc>
              <a:spcBef>
                <a:spcPts val="1000"/>
              </a:spcBef>
              <a:spcAft>
                <a:spcPts val="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asking consumers directly</a:t>
            </a:r>
            <a:endParaRPr b="0" i="0" sz="2400" u="none" cap="none" strike="noStrike">
              <a:solidFill>
                <a:srgbClr val="9A2F3E"/>
              </a:solidFill>
              <a:latin typeface="Cabin Condensed"/>
              <a:ea typeface="Cabin Condensed"/>
              <a:cs typeface="Cabin Condensed"/>
              <a:sym typeface="Cabin Condensed"/>
            </a:endParaRPr>
          </a:p>
          <a:p>
            <a:pPr indent="0" lvl="0" marL="0" marR="0" rtl="0" algn="l">
              <a:lnSpc>
                <a:spcPct val="100000"/>
              </a:lnSpc>
              <a:spcBef>
                <a:spcPts val="100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 group of four people are gathered around a table for a meeting. They are looking at a laptop screen and sitting in a bright, open office space. There are mugs and office supplies on the table, and a sign reading Operations is on the wall." id="223" name="Google Shape;223;p34"/>
          <p:cNvPicPr preferRelativeResize="0"/>
          <p:nvPr/>
        </p:nvPicPr>
        <p:blipFill rotWithShape="1">
          <a:blip r:embed="rId3">
            <a:alphaModFix/>
          </a:blip>
          <a:srcRect b="0" l="0" r="0" t="0"/>
          <a:stretch/>
        </p:blipFill>
        <p:spPr>
          <a:xfrm>
            <a:off x="4940875" y="3564999"/>
            <a:ext cx="3540326" cy="2358374"/>
          </a:xfrm>
          <a:prstGeom prst="rect">
            <a:avLst/>
          </a:prstGeom>
          <a:noFill/>
          <a:ln>
            <a:noFill/>
          </a:ln>
        </p:spPr>
      </p:pic>
      <p:sp>
        <p:nvSpPr>
          <p:cNvPr id="224" name="Google Shape;224;p34"/>
          <p:cNvSpPr txBox="1"/>
          <p:nvPr/>
        </p:nvSpPr>
        <p:spPr>
          <a:xfrm>
            <a:off x="643400" y="2480475"/>
            <a:ext cx="7837800" cy="891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0" i="0" lang="en" sz="2400" u="none" cap="none" strike="noStrike">
                <a:solidFill>
                  <a:schemeClr val="dk1"/>
                </a:solidFill>
                <a:latin typeface="Cabin Condensed"/>
                <a:ea typeface="Cabin Condensed"/>
                <a:cs typeface="Cabin Condensed"/>
                <a:sym typeface="Cabin Condensed"/>
              </a:rPr>
              <a:t>When designing a device, engineers get feedback from stakeholders.  This process is called </a:t>
            </a:r>
            <a:r>
              <a:rPr b="0" i="1" lang="en" sz="2400" u="none" cap="none" strike="noStrike">
                <a:solidFill>
                  <a:schemeClr val="dk1"/>
                </a:solidFill>
                <a:latin typeface="Cabin Condensed"/>
                <a:ea typeface="Cabin Condensed"/>
                <a:cs typeface="Cabin Condensed"/>
                <a:sym typeface="Cabin Condensed"/>
              </a:rPr>
              <a:t>market research</a:t>
            </a:r>
            <a:r>
              <a:rPr b="0" i="0" lang="en" sz="2400" u="none" cap="none" strike="noStrike">
                <a:solidFill>
                  <a:schemeClr val="dk1"/>
                </a:solidFill>
                <a:latin typeface="Cabin Condensed"/>
                <a:ea typeface="Cabin Condensed"/>
                <a:cs typeface="Cabin Condensed"/>
                <a:sym typeface="Cabin Condensed"/>
              </a:rPr>
              <a:t>.</a:t>
            </a:r>
            <a:endParaRPr b="0" i="0" sz="1400" u="none" cap="none" strike="noStrike">
              <a:solidFill>
                <a:srgbClr val="000000"/>
              </a:solidFill>
              <a:latin typeface="Boogaloo"/>
              <a:ea typeface="Boogaloo"/>
              <a:cs typeface="Boogaloo"/>
              <a:sym typeface="Boogaloo"/>
            </a:endParaRPr>
          </a:p>
        </p:txBody>
      </p:sp>
      <p:pic>
        <p:nvPicPr>
          <p:cNvPr descr="With your class icon" id="225" name="Google Shape;225;p34"/>
          <p:cNvPicPr preferRelativeResize="0"/>
          <p:nvPr/>
        </p:nvPicPr>
        <p:blipFill rotWithShape="1">
          <a:blip r:embed="rId4">
            <a:alphaModFix/>
          </a:blip>
          <a:srcRect b="0" l="0" r="0" t="0"/>
          <a:stretch/>
        </p:blipFill>
        <p:spPr>
          <a:xfrm>
            <a:off x="789075" y="1615425"/>
            <a:ext cx="878320" cy="8919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229" name="Shape 229"/>
        <p:cNvGrpSpPr/>
        <p:nvPr/>
      </p:nvGrpSpPr>
      <p:grpSpPr>
        <a:xfrm>
          <a:off x="0" y="0"/>
          <a:ext cx="0" cy="0"/>
          <a:chOff x="0" y="0"/>
          <a:chExt cx="0" cy="0"/>
        </a:xfrm>
      </p:grpSpPr>
      <p:sp>
        <p:nvSpPr>
          <p:cNvPr id="230" name="Google Shape;230;p35"/>
          <p:cNvSpPr/>
          <p:nvPr/>
        </p:nvSpPr>
        <p:spPr>
          <a:xfrm>
            <a:off x="457200" y="548640"/>
            <a:ext cx="8229600" cy="685800"/>
          </a:xfrm>
          <a:prstGeom prst="rect">
            <a:avLst/>
          </a:prstGeom>
          <a:solidFill>
            <a:srgbClr val="9A2F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rgbClr val="FFFFFF"/>
                </a:solidFill>
                <a:latin typeface="Boogaloo"/>
                <a:ea typeface="Boogaloo"/>
                <a:cs typeface="Boogaloo"/>
                <a:sym typeface="Boogaloo"/>
              </a:rPr>
              <a:t>Sharing Feedback</a:t>
            </a:r>
            <a:endParaRPr b="0" i="0" sz="3200" u="none" cap="none" strike="noStrike">
              <a:solidFill>
                <a:srgbClr val="FFFFFF"/>
              </a:solidFill>
              <a:latin typeface="Boogaloo"/>
              <a:ea typeface="Boogaloo"/>
              <a:cs typeface="Boogaloo"/>
              <a:sym typeface="Boogaloo"/>
            </a:endParaRPr>
          </a:p>
        </p:txBody>
      </p:sp>
      <p:sp>
        <p:nvSpPr>
          <p:cNvPr id="231" name="Google Shape;231;p35"/>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800" u="none" cap="none" strike="noStrike">
                <a:solidFill>
                  <a:srgbClr val="9A2F3E"/>
                </a:solidFill>
                <a:latin typeface="Boogaloo"/>
                <a:ea typeface="Boogaloo"/>
                <a:cs typeface="Boogaloo"/>
                <a:sym typeface="Boogaloo"/>
              </a:rPr>
              <a:t>Slide L</a:t>
            </a:r>
            <a:endParaRPr b="0" i="0" sz="1800" u="none" cap="none" strike="noStrike">
              <a:solidFill>
                <a:srgbClr val="9A2F3E"/>
              </a:solidFill>
              <a:latin typeface="Boogaloo"/>
              <a:ea typeface="Boogaloo"/>
              <a:cs typeface="Boogaloo"/>
              <a:sym typeface="Boogaloo"/>
            </a:endParaRPr>
          </a:p>
        </p:txBody>
      </p:sp>
      <p:sp>
        <p:nvSpPr>
          <p:cNvPr id="232" name="Google Shape;232;p35"/>
          <p:cNvSpPr/>
          <p:nvPr/>
        </p:nvSpPr>
        <p:spPr>
          <a:xfrm>
            <a:off x="457150" y="1591663"/>
            <a:ext cx="8229600" cy="4603200"/>
          </a:xfrm>
          <a:prstGeom prst="rect">
            <a:avLst/>
          </a:prstGeom>
          <a:solidFill>
            <a:srgbClr val="F5EDEF"/>
          </a:solidFill>
          <a:ln cap="flat" cmpd="sng" w="19050">
            <a:solidFill>
              <a:srgbClr val="9A2F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p35"/>
          <p:cNvSpPr txBox="1"/>
          <p:nvPr/>
        </p:nvSpPr>
        <p:spPr>
          <a:xfrm>
            <a:off x="822450" y="4251224"/>
            <a:ext cx="7499100" cy="1495500"/>
          </a:xfrm>
          <a:prstGeom prst="rect">
            <a:avLst/>
          </a:prstGeom>
          <a:noFill/>
          <a:ln>
            <a:noFill/>
          </a:ln>
        </p:spPr>
        <p:txBody>
          <a:bodyPr anchorCtr="0" anchor="t" bIns="91425" lIns="91425" spcFirstLastPara="1" rIns="91425" wrap="square" tIns="91425">
            <a:noAutofit/>
          </a:bodyPr>
          <a:lstStyle/>
          <a:p>
            <a:pPr indent="-381000" lvl="0" marL="457200" marR="0" rtl="0" algn="l">
              <a:lnSpc>
                <a:spcPct val="100000"/>
              </a:lnSpc>
              <a:spcBef>
                <a:spcPts val="0"/>
              </a:spcBef>
              <a:spcAft>
                <a:spcPts val="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What trade-offs or ideas did your stakeholder give you?</a:t>
            </a:r>
            <a:endParaRPr b="0" i="0" sz="2400" u="none" cap="none" strike="noStrike">
              <a:solidFill>
                <a:srgbClr val="9A2F3E"/>
              </a:solidFill>
              <a:latin typeface="Cabin Condensed"/>
              <a:ea typeface="Cabin Condensed"/>
              <a:cs typeface="Cabin Condensed"/>
              <a:sym typeface="Cabin Condensed"/>
            </a:endParaRPr>
          </a:p>
          <a:p>
            <a:pPr indent="-381000" lvl="0" marL="457200" marR="0" rtl="0" algn="l">
              <a:lnSpc>
                <a:spcPct val="100000"/>
              </a:lnSpc>
              <a:spcBef>
                <a:spcPts val="1000"/>
              </a:spcBef>
              <a:spcAft>
                <a:spcPts val="100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What feedback are you considering and not considering for the redesign of your device? Why?</a:t>
            </a:r>
            <a:endParaRPr b="0" i="0" sz="1400" u="none" cap="none" strike="noStrike">
              <a:solidFill>
                <a:srgbClr val="000000"/>
              </a:solidFill>
              <a:latin typeface="Arial"/>
              <a:ea typeface="Arial"/>
              <a:cs typeface="Arial"/>
              <a:sym typeface="Arial"/>
            </a:endParaRPr>
          </a:p>
        </p:txBody>
      </p:sp>
      <p:sp>
        <p:nvSpPr>
          <p:cNvPr id="234" name="Google Shape;234;p35"/>
          <p:cNvSpPr txBox="1"/>
          <p:nvPr/>
        </p:nvSpPr>
        <p:spPr>
          <a:xfrm>
            <a:off x="2127525" y="1942725"/>
            <a:ext cx="4411500" cy="762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1000"/>
              </a:spcAft>
              <a:buClr>
                <a:srgbClr val="000000"/>
              </a:buClr>
              <a:buSzPts val="3000"/>
              <a:buFont typeface="Arial"/>
              <a:buNone/>
            </a:pPr>
            <a:r>
              <a:rPr b="0" i="0" lang="en" sz="3000" u="none" cap="none" strike="noStrike">
                <a:solidFill>
                  <a:srgbClr val="9A2F3E"/>
                </a:solidFill>
                <a:latin typeface="Boogaloo"/>
                <a:ea typeface="Boogaloo"/>
                <a:cs typeface="Boogaloo"/>
                <a:sym typeface="Boogaloo"/>
              </a:rPr>
              <a:t>With a Partner</a:t>
            </a:r>
            <a:endParaRPr b="0" i="0" sz="800" u="none" cap="none" strike="noStrike">
              <a:solidFill>
                <a:srgbClr val="000000"/>
              </a:solidFill>
              <a:latin typeface="Arial"/>
              <a:ea typeface="Arial"/>
              <a:cs typeface="Arial"/>
              <a:sym typeface="Arial"/>
            </a:endParaRPr>
          </a:p>
        </p:txBody>
      </p:sp>
      <p:sp>
        <p:nvSpPr>
          <p:cNvPr id="235" name="Google Shape;235;p35"/>
          <p:cNvSpPr txBox="1"/>
          <p:nvPr/>
        </p:nvSpPr>
        <p:spPr>
          <a:xfrm>
            <a:off x="1005225" y="3135500"/>
            <a:ext cx="6578100" cy="928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0" i="0" lang="en" sz="2400" u="none" cap="none" strike="noStrike">
                <a:solidFill>
                  <a:schemeClr val="dk1"/>
                </a:solidFill>
                <a:latin typeface="Cabin Condensed"/>
                <a:ea typeface="Cabin Condensed"/>
                <a:cs typeface="Cabin Condensed"/>
                <a:sym typeface="Cabin Condensed"/>
              </a:rPr>
              <a:t>Share your feedback with a partner. Use the questions below to help guide your discussion.</a:t>
            </a:r>
            <a:endParaRPr b="0" i="0" sz="1400" u="none" cap="none" strike="noStrike">
              <a:solidFill>
                <a:srgbClr val="000000"/>
              </a:solidFill>
              <a:latin typeface="Boogaloo"/>
              <a:ea typeface="Boogaloo"/>
              <a:cs typeface="Boogaloo"/>
              <a:sym typeface="Boogaloo"/>
            </a:endParaRPr>
          </a:p>
        </p:txBody>
      </p:sp>
      <p:pic>
        <p:nvPicPr>
          <p:cNvPr descr="With a partner icon" id="236" name="Google Shape;236;p35"/>
          <p:cNvPicPr preferRelativeResize="0"/>
          <p:nvPr/>
        </p:nvPicPr>
        <p:blipFill rotWithShape="1">
          <a:blip r:embed="rId3">
            <a:alphaModFix/>
          </a:blip>
          <a:srcRect b="0" l="0" r="0" t="0"/>
          <a:stretch/>
        </p:blipFill>
        <p:spPr>
          <a:xfrm>
            <a:off x="1147849" y="1878600"/>
            <a:ext cx="911351" cy="10677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240" name="Shape 240"/>
        <p:cNvGrpSpPr/>
        <p:nvPr/>
      </p:nvGrpSpPr>
      <p:grpSpPr>
        <a:xfrm>
          <a:off x="0" y="0"/>
          <a:ext cx="0" cy="0"/>
          <a:chOff x="0" y="0"/>
          <a:chExt cx="0" cy="0"/>
        </a:xfrm>
      </p:grpSpPr>
      <p:sp>
        <p:nvSpPr>
          <p:cNvPr id="241" name="Google Shape;241;p36"/>
          <p:cNvSpPr/>
          <p:nvPr/>
        </p:nvSpPr>
        <p:spPr>
          <a:xfrm>
            <a:off x="457200" y="548640"/>
            <a:ext cx="8229600" cy="685800"/>
          </a:xfrm>
          <a:prstGeom prst="rect">
            <a:avLst/>
          </a:prstGeom>
          <a:solidFill>
            <a:srgbClr val="9A2F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rgbClr val="FFFFFF"/>
                </a:solidFill>
                <a:latin typeface="Boogaloo"/>
                <a:ea typeface="Boogaloo"/>
                <a:cs typeface="Boogaloo"/>
                <a:sym typeface="Boogaloo"/>
              </a:rPr>
              <a:t>Eliciting Feedback</a:t>
            </a:r>
            <a:endParaRPr b="0" i="0" sz="3200" u="none" cap="none" strike="noStrike">
              <a:solidFill>
                <a:srgbClr val="FFFFFF"/>
              </a:solidFill>
              <a:latin typeface="Boogaloo"/>
              <a:ea typeface="Boogaloo"/>
              <a:cs typeface="Boogaloo"/>
              <a:sym typeface="Boogaloo"/>
            </a:endParaRPr>
          </a:p>
        </p:txBody>
      </p:sp>
      <p:sp>
        <p:nvSpPr>
          <p:cNvPr id="242" name="Google Shape;242;p36"/>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800" u="none" cap="none" strike="noStrike">
                <a:solidFill>
                  <a:srgbClr val="9A2F3E"/>
                </a:solidFill>
                <a:latin typeface="Boogaloo"/>
                <a:ea typeface="Boogaloo"/>
                <a:cs typeface="Boogaloo"/>
                <a:sym typeface="Boogaloo"/>
              </a:rPr>
              <a:t>Slide M</a:t>
            </a:r>
            <a:endParaRPr b="0" i="0" sz="1800" u="none" cap="none" strike="noStrike">
              <a:solidFill>
                <a:srgbClr val="9A2F3E"/>
              </a:solidFill>
              <a:latin typeface="Boogaloo"/>
              <a:ea typeface="Boogaloo"/>
              <a:cs typeface="Boogaloo"/>
              <a:sym typeface="Boogaloo"/>
            </a:endParaRPr>
          </a:p>
        </p:txBody>
      </p:sp>
      <p:sp>
        <p:nvSpPr>
          <p:cNvPr id="243" name="Google Shape;243;p36"/>
          <p:cNvSpPr/>
          <p:nvPr/>
        </p:nvSpPr>
        <p:spPr>
          <a:xfrm>
            <a:off x="457150" y="1377350"/>
            <a:ext cx="8229600" cy="5181000"/>
          </a:xfrm>
          <a:prstGeom prst="rect">
            <a:avLst/>
          </a:prstGeom>
          <a:solidFill>
            <a:srgbClr val="F5EDEF"/>
          </a:solidFill>
          <a:ln cap="flat" cmpd="sng" w="19050">
            <a:solidFill>
              <a:srgbClr val="9A2F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 name="Google Shape;244;p36"/>
          <p:cNvSpPr txBox="1"/>
          <p:nvPr/>
        </p:nvSpPr>
        <p:spPr>
          <a:xfrm>
            <a:off x="520850" y="2879200"/>
            <a:ext cx="8106600" cy="35229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800"/>
              <a:buFont typeface="Arial"/>
              <a:buNone/>
            </a:pPr>
            <a:r>
              <a:t/>
            </a:r>
            <a:endParaRPr b="0" i="0" sz="2800" u="none" cap="none" strike="noStrike">
              <a:solidFill>
                <a:srgbClr val="000000"/>
              </a:solidFill>
              <a:latin typeface="Cabin Condensed"/>
              <a:ea typeface="Cabin Condensed"/>
              <a:cs typeface="Cabin Condensed"/>
              <a:sym typeface="Cabin Condensed"/>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 name="Google Shape;245;p36"/>
          <p:cNvSpPr txBox="1"/>
          <p:nvPr/>
        </p:nvSpPr>
        <p:spPr>
          <a:xfrm>
            <a:off x="1075550" y="1487625"/>
            <a:ext cx="4411500" cy="762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1000"/>
              </a:spcAft>
              <a:buClr>
                <a:srgbClr val="000000"/>
              </a:buClr>
              <a:buSzPts val="3600"/>
              <a:buFont typeface="Arial"/>
              <a:buNone/>
            </a:pPr>
            <a:r>
              <a:rPr b="0" i="0" lang="en" sz="3600" u="none" cap="none" strike="noStrike">
                <a:solidFill>
                  <a:srgbClr val="9A2F3E"/>
                </a:solidFill>
                <a:latin typeface="Boogaloo"/>
                <a:ea typeface="Boogaloo"/>
                <a:cs typeface="Boogaloo"/>
                <a:sym typeface="Boogaloo"/>
              </a:rPr>
              <a:t>Using Our Decision Matrix</a:t>
            </a:r>
            <a:endParaRPr b="0" i="0" sz="1400" u="none" cap="none" strike="noStrike">
              <a:solidFill>
                <a:srgbClr val="000000"/>
              </a:solidFill>
              <a:latin typeface="Arial"/>
              <a:ea typeface="Arial"/>
              <a:cs typeface="Arial"/>
              <a:sym typeface="Arial"/>
            </a:endParaRPr>
          </a:p>
        </p:txBody>
      </p:sp>
      <p:pic>
        <p:nvPicPr>
          <p:cNvPr descr="Screenshot of the decision matrix table with columns for material choice, seven considerations, and total points. Rows are for scoring criteria from 1 to 5. A key explains scoring, with 5 points for meeting criteria and 1 point for not meeting them." id="246" name="Google Shape;246;p36"/>
          <p:cNvPicPr preferRelativeResize="0"/>
          <p:nvPr/>
        </p:nvPicPr>
        <p:blipFill rotWithShape="1">
          <a:blip r:embed="rId3">
            <a:alphaModFix/>
          </a:blip>
          <a:srcRect b="0" l="0" r="0" t="0"/>
          <a:stretch/>
        </p:blipFill>
        <p:spPr>
          <a:xfrm>
            <a:off x="751975" y="2164725"/>
            <a:ext cx="7369349" cy="423737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250" name="Shape 250"/>
        <p:cNvGrpSpPr/>
        <p:nvPr/>
      </p:nvGrpSpPr>
      <p:grpSpPr>
        <a:xfrm>
          <a:off x="0" y="0"/>
          <a:ext cx="0" cy="0"/>
          <a:chOff x="0" y="0"/>
          <a:chExt cx="0" cy="0"/>
        </a:xfrm>
      </p:grpSpPr>
      <p:sp>
        <p:nvSpPr>
          <p:cNvPr id="251" name="Google Shape;251;p37"/>
          <p:cNvSpPr/>
          <p:nvPr/>
        </p:nvSpPr>
        <p:spPr>
          <a:xfrm>
            <a:off x="457200" y="548640"/>
            <a:ext cx="8229600" cy="685800"/>
          </a:xfrm>
          <a:prstGeom prst="rect">
            <a:avLst/>
          </a:prstGeom>
          <a:solidFill>
            <a:srgbClr val="9A2F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rgbClr val="FFFFFF"/>
                </a:solidFill>
                <a:latin typeface="Boogaloo"/>
                <a:ea typeface="Boogaloo"/>
                <a:cs typeface="Boogaloo"/>
                <a:sym typeface="Boogaloo"/>
              </a:rPr>
              <a:t>Reliability of Data</a:t>
            </a:r>
            <a:endParaRPr b="0" i="0" sz="3200" u="none" cap="none" strike="noStrike">
              <a:solidFill>
                <a:srgbClr val="FFFFFF"/>
              </a:solidFill>
              <a:latin typeface="Boogaloo"/>
              <a:ea typeface="Boogaloo"/>
              <a:cs typeface="Boogaloo"/>
              <a:sym typeface="Boogaloo"/>
            </a:endParaRPr>
          </a:p>
        </p:txBody>
      </p:sp>
      <p:sp>
        <p:nvSpPr>
          <p:cNvPr id="252" name="Google Shape;252;p37"/>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800" u="none" cap="none" strike="noStrike">
                <a:solidFill>
                  <a:srgbClr val="9A2F3E"/>
                </a:solidFill>
                <a:latin typeface="Boogaloo"/>
                <a:ea typeface="Boogaloo"/>
                <a:cs typeface="Boogaloo"/>
                <a:sym typeface="Boogaloo"/>
              </a:rPr>
              <a:t>Slide N</a:t>
            </a:r>
            <a:endParaRPr b="0" i="0" sz="1800" u="none" cap="none" strike="noStrike">
              <a:solidFill>
                <a:srgbClr val="9A2F3E"/>
              </a:solidFill>
              <a:latin typeface="Boogaloo"/>
              <a:ea typeface="Boogaloo"/>
              <a:cs typeface="Boogaloo"/>
              <a:sym typeface="Boogaloo"/>
            </a:endParaRPr>
          </a:p>
        </p:txBody>
      </p:sp>
      <p:sp>
        <p:nvSpPr>
          <p:cNvPr id="253" name="Google Shape;253;p37"/>
          <p:cNvSpPr/>
          <p:nvPr/>
        </p:nvSpPr>
        <p:spPr>
          <a:xfrm>
            <a:off x="457200" y="1385850"/>
            <a:ext cx="3840000" cy="5257800"/>
          </a:xfrm>
          <a:prstGeom prst="rect">
            <a:avLst/>
          </a:prstGeom>
          <a:solidFill>
            <a:srgbClr val="F5EDEF"/>
          </a:solidFill>
          <a:ln cap="flat" cmpd="sng" w="19050">
            <a:solidFill>
              <a:srgbClr val="9A2F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 name="Google Shape;254;p37"/>
          <p:cNvSpPr txBox="1"/>
          <p:nvPr/>
        </p:nvSpPr>
        <p:spPr>
          <a:xfrm>
            <a:off x="626825" y="2771775"/>
            <a:ext cx="3606000" cy="3407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000000"/>
                </a:solidFill>
                <a:latin typeface="Cabin Condensed"/>
                <a:ea typeface="Cabin Condensed"/>
                <a:cs typeface="Cabin Condensed"/>
                <a:sym typeface="Cabin Condensed"/>
              </a:rPr>
              <a:t>We have some materials data from researchers at the Michigan State University (MSU) School of Packaging. </a:t>
            </a:r>
            <a:endParaRPr b="0" i="0" sz="2400" u="none" cap="none" strike="noStrike">
              <a:solidFill>
                <a:srgbClr val="000000"/>
              </a:solidFill>
              <a:latin typeface="Cabin Condensed"/>
              <a:ea typeface="Cabin Condensed"/>
              <a:cs typeface="Cabin Condensed"/>
              <a:sym typeface="Cabin Condensed"/>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bin Condensed"/>
              <a:ea typeface="Cabin Condensed"/>
              <a:cs typeface="Cabin Condensed"/>
              <a:sym typeface="Cabin Condensed"/>
            </a:endParaRPr>
          </a:p>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000000"/>
                </a:solidFill>
                <a:latin typeface="Cabin Condensed"/>
                <a:ea typeface="Cabin Condensed"/>
                <a:cs typeface="Cabin Condensed"/>
                <a:sym typeface="Cabin Condensed"/>
              </a:rPr>
              <a:t>They used a Life Cycle Analysis (LCA) program to assess our materials from Lesson 11. They also used research data to compile additional categories.</a:t>
            </a:r>
            <a:endParaRPr b="0" i="0" sz="2400" u="none" cap="none" strike="noStrike">
              <a:solidFill>
                <a:srgbClr val="000000"/>
              </a:solidFill>
              <a:latin typeface="Cabin Condensed"/>
              <a:ea typeface="Cabin Condensed"/>
              <a:cs typeface="Cabin Condensed"/>
              <a:sym typeface="Cabin Condensed"/>
            </a:endParaRPr>
          </a:p>
        </p:txBody>
      </p:sp>
      <p:sp>
        <p:nvSpPr>
          <p:cNvPr id="255" name="Google Shape;255;p37"/>
          <p:cNvSpPr/>
          <p:nvPr/>
        </p:nvSpPr>
        <p:spPr>
          <a:xfrm>
            <a:off x="4673275" y="1385850"/>
            <a:ext cx="4013400" cy="5257800"/>
          </a:xfrm>
          <a:prstGeom prst="rect">
            <a:avLst/>
          </a:prstGeom>
          <a:solidFill>
            <a:srgbClr val="F5EDEF"/>
          </a:solidFill>
          <a:ln cap="flat" cmpd="sng" w="19050">
            <a:solidFill>
              <a:srgbClr val="9A2F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 name="Google Shape;256;p37"/>
          <p:cNvSpPr txBox="1"/>
          <p:nvPr/>
        </p:nvSpPr>
        <p:spPr>
          <a:xfrm>
            <a:off x="1698500" y="1522375"/>
            <a:ext cx="2229300" cy="685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1000"/>
              </a:spcAft>
              <a:buClr>
                <a:srgbClr val="000000"/>
              </a:buClr>
              <a:buSzPts val="3000"/>
              <a:buFont typeface="Arial"/>
              <a:buNone/>
            </a:pPr>
            <a:r>
              <a:rPr b="0" i="0" lang="en" sz="3000" u="none" cap="none" strike="noStrike">
                <a:solidFill>
                  <a:srgbClr val="9A2F3E"/>
                </a:solidFill>
                <a:latin typeface="Boogaloo"/>
                <a:ea typeface="Boogaloo"/>
                <a:cs typeface="Boogaloo"/>
                <a:sym typeface="Boogaloo"/>
              </a:rPr>
              <a:t>Reliable Data Sources</a:t>
            </a:r>
            <a:endParaRPr b="0" i="0" sz="3000" u="none" cap="none" strike="noStrike">
              <a:solidFill>
                <a:srgbClr val="000000"/>
              </a:solidFill>
              <a:latin typeface="Boogaloo"/>
              <a:ea typeface="Boogaloo"/>
              <a:cs typeface="Boogaloo"/>
              <a:sym typeface="Boogaloo"/>
            </a:endParaRPr>
          </a:p>
        </p:txBody>
      </p:sp>
      <p:sp>
        <p:nvSpPr>
          <p:cNvPr id="257" name="Google Shape;257;p37"/>
          <p:cNvSpPr txBox="1"/>
          <p:nvPr/>
        </p:nvSpPr>
        <p:spPr>
          <a:xfrm>
            <a:off x="4737725" y="1385838"/>
            <a:ext cx="3840000" cy="4498800"/>
          </a:xfrm>
          <a:prstGeom prst="rect">
            <a:avLst/>
          </a:prstGeom>
          <a:noFill/>
          <a:ln>
            <a:noFill/>
          </a:ln>
        </p:spPr>
        <p:txBody>
          <a:bodyPr anchorCtr="0" anchor="t" bIns="91425" lIns="91425" spcFirstLastPara="1" rIns="91425" wrap="square" tIns="91425">
            <a:noAutofit/>
          </a:bodyPr>
          <a:lstStyle/>
          <a:p>
            <a:pPr indent="-381000" lvl="0" marL="457200" marR="0" rtl="0" algn="l">
              <a:lnSpc>
                <a:spcPct val="100000"/>
              </a:lnSpc>
              <a:spcBef>
                <a:spcPts val="0"/>
              </a:spcBef>
              <a:spcAft>
                <a:spcPts val="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Force reduction</a:t>
            </a:r>
            <a:endParaRPr b="0" i="0" sz="2400" u="none" cap="none" strike="noStrike">
              <a:solidFill>
                <a:srgbClr val="9A2F3E"/>
              </a:solidFill>
              <a:latin typeface="Cabin Condensed"/>
              <a:ea typeface="Cabin Condensed"/>
              <a:cs typeface="Cabin Condensed"/>
              <a:sym typeface="Cabin Condensed"/>
            </a:endParaRPr>
          </a:p>
          <a:p>
            <a:pPr indent="-381000" lvl="0" marL="457200" marR="0" rtl="0" algn="l">
              <a:lnSpc>
                <a:spcPct val="100000"/>
              </a:lnSpc>
              <a:spcBef>
                <a:spcPts val="1000"/>
              </a:spcBef>
              <a:spcAft>
                <a:spcPts val="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Reusable</a:t>
            </a:r>
            <a:endParaRPr b="0" i="0" sz="2400" u="none" cap="none" strike="noStrike">
              <a:solidFill>
                <a:srgbClr val="9A2F3E"/>
              </a:solidFill>
              <a:latin typeface="Cabin Condensed"/>
              <a:ea typeface="Cabin Condensed"/>
              <a:cs typeface="Cabin Condensed"/>
              <a:sym typeface="Cabin Condensed"/>
            </a:endParaRPr>
          </a:p>
          <a:p>
            <a:pPr indent="-381000" lvl="0" marL="457200" marR="0" rtl="0" algn="l">
              <a:lnSpc>
                <a:spcPct val="100000"/>
              </a:lnSpc>
              <a:spcBef>
                <a:spcPts val="1000"/>
              </a:spcBef>
              <a:spcAft>
                <a:spcPts val="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Robust</a:t>
            </a:r>
            <a:endParaRPr b="0" i="0" sz="2400" u="none" cap="none" strike="noStrike">
              <a:solidFill>
                <a:srgbClr val="9A2F3E"/>
              </a:solidFill>
              <a:latin typeface="Cabin Condensed"/>
              <a:ea typeface="Cabin Condensed"/>
              <a:cs typeface="Cabin Condensed"/>
              <a:sym typeface="Cabin Condensed"/>
            </a:endParaRPr>
          </a:p>
          <a:p>
            <a:pPr indent="-381000" lvl="0" marL="457200" marR="0" rtl="0" algn="l">
              <a:lnSpc>
                <a:spcPct val="100000"/>
              </a:lnSpc>
              <a:spcBef>
                <a:spcPts val="1000"/>
              </a:spcBef>
              <a:spcAft>
                <a:spcPts val="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Recyclable</a:t>
            </a:r>
            <a:endParaRPr b="0" i="0" sz="2400" u="none" cap="none" strike="noStrike">
              <a:solidFill>
                <a:srgbClr val="9A2F3E"/>
              </a:solidFill>
              <a:latin typeface="Cabin Condensed"/>
              <a:ea typeface="Cabin Condensed"/>
              <a:cs typeface="Cabin Condensed"/>
              <a:sym typeface="Cabin Condensed"/>
            </a:endParaRPr>
          </a:p>
          <a:p>
            <a:pPr indent="-381000" lvl="0" marL="457200" marR="0" rtl="0" algn="l">
              <a:lnSpc>
                <a:spcPct val="100000"/>
              </a:lnSpc>
              <a:spcBef>
                <a:spcPts val="1000"/>
              </a:spcBef>
              <a:spcAft>
                <a:spcPts val="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Biodegradable</a:t>
            </a:r>
            <a:endParaRPr b="0" i="0" sz="2400" u="none" cap="none" strike="noStrike">
              <a:solidFill>
                <a:srgbClr val="9A2F3E"/>
              </a:solidFill>
              <a:latin typeface="Cabin Condensed"/>
              <a:ea typeface="Cabin Condensed"/>
              <a:cs typeface="Cabin Condensed"/>
              <a:sym typeface="Cabin Condensed"/>
            </a:endParaRPr>
          </a:p>
          <a:p>
            <a:pPr indent="-381000" lvl="0" marL="457200" marR="0" rtl="0" algn="l">
              <a:lnSpc>
                <a:spcPct val="100000"/>
              </a:lnSpc>
              <a:spcBef>
                <a:spcPts val="1000"/>
              </a:spcBef>
              <a:spcAft>
                <a:spcPts val="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Material cost</a:t>
            </a:r>
            <a:endParaRPr b="0" i="0" sz="2400" u="none" cap="none" strike="noStrike">
              <a:solidFill>
                <a:srgbClr val="9A2F3E"/>
              </a:solidFill>
              <a:latin typeface="Cabin Condensed"/>
              <a:ea typeface="Cabin Condensed"/>
              <a:cs typeface="Cabin Condensed"/>
              <a:sym typeface="Cabin Condensed"/>
            </a:endParaRPr>
          </a:p>
          <a:p>
            <a:pPr indent="-381000" lvl="0" marL="457200" marR="0" rtl="0" algn="l">
              <a:lnSpc>
                <a:spcPct val="100000"/>
              </a:lnSpc>
              <a:spcBef>
                <a:spcPts val="1000"/>
              </a:spcBef>
              <a:spcAft>
                <a:spcPts val="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Cost to work with the material in a design</a:t>
            </a:r>
            <a:endParaRPr b="0" i="0" sz="2400" u="none" cap="none" strike="noStrike">
              <a:solidFill>
                <a:srgbClr val="9A2F3E"/>
              </a:solidFill>
              <a:latin typeface="Cabin Condensed"/>
              <a:ea typeface="Cabin Condensed"/>
              <a:cs typeface="Cabin Condensed"/>
              <a:sym typeface="Cabin Condensed"/>
            </a:endParaRPr>
          </a:p>
          <a:p>
            <a:pPr indent="-381000" lvl="0" marL="457200" marR="0" rtl="0" algn="l">
              <a:lnSpc>
                <a:spcPct val="100000"/>
              </a:lnSpc>
              <a:spcBef>
                <a:spcPts val="1000"/>
              </a:spcBef>
              <a:spcAft>
                <a:spcPts val="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Water used for production</a:t>
            </a:r>
            <a:endParaRPr b="0" i="0" sz="2400" u="none" cap="none" strike="noStrike">
              <a:solidFill>
                <a:srgbClr val="9A2F3E"/>
              </a:solidFill>
              <a:latin typeface="Cabin Condensed"/>
              <a:ea typeface="Cabin Condensed"/>
              <a:cs typeface="Cabin Condensed"/>
              <a:sym typeface="Cabin Condensed"/>
            </a:endParaRPr>
          </a:p>
          <a:p>
            <a:pPr indent="-381000" lvl="0" marL="457200" marR="0" rtl="0" algn="l">
              <a:lnSpc>
                <a:spcPct val="100000"/>
              </a:lnSpc>
              <a:spcBef>
                <a:spcPts val="1000"/>
              </a:spcBef>
              <a:spcAft>
                <a:spcPts val="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Does not contribute to climate change</a:t>
            </a:r>
            <a:endParaRPr b="1" i="0" sz="2400" u="none" cap="none" strike="noStrike">
              <a:solidFill>
                <a:srgbClr val="9A2F3E"/>
              </a:solidFill>
              <a:latin typeface="Cabin Condensed"/>
              <a:ea typeface="Cabin Condensed"/>
              <a:cs typeface="Cabin Condensed"/>
              <a:sym typeface="Cabin Condensed"/>
            </a:endParaRPr>
          </a:p>
          <a:p>
            <a:pPr indent="0" lvl="0" marL="0" marR="0" rtl="0" algn="l">
              <a:lnSpc>
                <a:spcPct val="100000"/>
              </a:lnSpc>
              <a:spcBef>
                <a:spcPts val="1000"/>
              </a:spcBef>
              <a:spcAft>
                <a:spcPts val="0"/>
              </a:spcAft>
              <a:buClr>
                <a:srgbClr val="000000"/>
              </a:buClr>
              <a:buSzPts val="1400"/>
              <a:buFont typeface="Arial"/>
              <a:buNone/>
            </a:pPr>
            <a:r>
              <a:t/>
            </a:r>
            <a:endParaRPr b="0" i="0" sz="1400" u="none" cap="none" strike="noStrike">
              <a:solidFill>
                <a:srgbClr val="000000"/>
              </a:solidFill>
              <a:latin typeface="Boogaloo"/>
              <a:ea typeface="Boogaloo"/>
              <a:cs typeface="Boogaloo"/>
              <a:sym typeface="Boogaloo"/>
            </a:endParaRPr>
          </a:p>
        </p:txBody>
      </p:sp>
      <p:pic>
        <p:nvPicPr>
          <p:cNvPr descr="With your class icon" id="258" name="Google Shape;258;p37"/>
          <p:cNvPicPr preferRelativeResize="0"/>
          <p:nvPr/>
        </p:nvPicPr>
        <p:blipFill rotWithShape="1">
          <a:blip r:embed="rId3">
            <a:alphaModFix/>
          </a:blip>
          <a:srcRect b="0" l="0" r="0" t="0"/>
          <a:stretch/>
        </p:blipFill>
        <p:spPr>
          <a:xfrm>
            <a:off x="723614" y="1659239"/>
            <a:ext cx="839011" cy="851988"/>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262" name="Shape 262"/>
        <p:cNvGrpSpPr/>
        <p:nvPr/>
      </p:nvGrpSpPr>
      <p:grpSpPr>
        <a:xfrm>
          <a:off x="0" y="0"/>
          <a:ext cx="0" cy="0"/>
          <a:chOff x="0" y="0"/>
          <a:chExt cx="0" cy="0"/>
        </a:xfrm>
      </p:grpSpPr>
      <p:sp>
        <p:nvSpPr>
          <p:cNvPr id="263" name="Google Shape;263;p38"/>
          <p:cNvSpPr/>
          <p:nvPr/>
        </p:nvSpPr>
        <p:spPr>
          <a:xfrm>
            <a:off x="457200" y="548640"/>
            <a:ext cx="8229600" cy="685800"/>
          </a:xfrm>
          <a:prstGeom prst="rect">
            <a:avLst/>
          </a:prstGeom>
          <a:solidFill>
            <a:srgbClr val="9A2F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rgbClr val="FFFFFF"/>
                </a:solidFill>
                <a:latin typeface="Boogaloo"/>
                <a:ea typeface="Boogaloo"/>
                <a:cs typeface="Boogaloo"/>
                <a:sym typeface="Boogaloo"/>
              </a:rPr>
              <a:t>Understanding Data</a:t>
            </a:r>
            <a:endParaRPr b="0" i="0" sz="3200" u="none" cap="none" strike="noStrike">
              <a:solidFill>
                <a:srgbClr val="FFFFFF"/>
              </a:solidFill>
              <a:latin typeface="Boogaloo"/>
              <a:ea typeface="Boogaloo"/>
              <a:cs typeface="Boogaloo"/>
              <a:sym typeface="Boogaloo"/>
            </a:endParaRPr>
          </a:p>
        </p:txBody>
      </p:sp>
      <p:sp>
        <p:nvSpPr>
          <p:cNvPr id="264" name="Google Shape;264;p38"/>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800" u="none" cap="none" strike="noStrike">
                <a:solidFill>
                  <a:srgbClr val="9A2F3E"/>
                </a:solidFill>
                <a:latin typeface="Boogaloo"/>
                <a:ea typeface="Boogaloo"/>
                <a:cs typeface="Boogaloo"/>
                <a:sym typeface="Boogaloo"/>
              </a:rPr>
              <a:t>Slide O</a:t>
            </a:r>
            <a:endParaRPr b="0" i="0" sz="1800" u="none" cap="none" strike="noStrike">
              <a:solidFill>
                <a:srgbClr val="9A2F3E"/>
              </a:solidFill>
              <a:latin typeface="Boogaloo"/>
              <a:ea typeface="Boogaloo"/>
              <a:cs typeface="Boogaloo"/>
              <a:sym typeface="Boogaloo"/>
            </a:endParaRPr>
          </a:p>
        </p:txBody>
      </p:sp>
      <p:sp>
        <p:nvSpPr>
          <p:cNvPr id="265" name="Google Shape;265;p38"/>
          <p:cNvSpPr/>
          <p:nvPr/>
        </p:nvSpPr>
        <p:spPr>
          <a:xfrm>
            <a:off x="457150" y="1377350"/>
            <a:ext cx="8229600" cy="5181000"/>
          </a:xfrm>
          <a:prstGeom prst="rect">
            <a:avLst/>
          </a:prstGeom>
          <a:solidFill>
            <a:srgbClr val="F5EDEF"/>
          </a:solidFill>
          <a:ln cap="flat" cmpd="sng" w="19050">
            <a:solidFill>
              <a:srgbClr val="9A2F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p38"/>
          <p:cNvSpPr txBox="1"/>
          <p:nvPr/>
        </p:nvSpPr>
        <p:spPr>
          <a:xfrm>
            <a:off x="520850" y="2879200"/>
            <a:ext cx="8106600" cy="35229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800"/>
              <a:buFont typeface="Arial"/>
              <a:buNone/>
            </a:pPr>
            <a:r>
              <a:t/>
            </a:r>
            <a:endParaRPr b="0" i="0" sz="2800" u="none" cap="none" strike="noStrike">
              <a:solidFill>
                <a:srgbClr val="000000"/>
              </a:solidFill>
              <a:latin typeface="Cabin Condensed"/>
              <a:ea typeface="Cabin Condensed"/>
              <a:cs typeface="Cabin Condensed"/>
              <a:sym typeface="Cabin Condensed"/>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 name="Google Shape;267;p38"/>
          <p:cNvSpPr txBox="1"/>
          <p:nvPr/>
        </p:nvSpPr>
        <p:spPr>
          <a:xfrm>
            <a:off x="745750" y="1560750"/>
            <a:ext cx="4317300" cy="762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1000"/>
              </a:spcAft>
              <a:buClr>
                <a:srgbClr val="000000"/>
              </a:buClr>
              <a:buSzPts val="3000"/>
              <a:buFont typeface="Arial"/>
              <a:buNone/>
            </a:pPr>
            <a:r>
              <a:rPr b="0" i="0" lang="en" sz="3000" u="none" cap="none" strike="noStrike">
                <a:solidFill>
                  <a:srgbClr val="9A2F3E"/>
                </a:solidFill>
                <a:latin typeface="Boogaloo"/>
                <a:ea typeface="Boogaloo"/>
                <a:cs typeface="Boogaloo"/>
                <a:sym typeface="Boogaloo"/>
              </a:rPr>
              <a:t>Our 5-Point Scale</a:t>
            </a:r>
            <a:endParaRPr b="0" i="0" sz="800" u="none" cap="none" strike="noStrike">
              <a:solidFill>
                <a:srgbClr val="000000"/>
              </a:solidFill>
              <a:latin typeface="Arial"/>
              <a:ea typeface="Arial"/>
              <a:cs typeface="Arial"/>
              <a:sym typeface="Arial"/>
            </a:endParaRPr>
          </a:p>
        </p:txBody>
      </p:sp>
      <p:sp>
        <p:nvSpPr>
          <p:cNvPr id="268" name="Google Shape;268;p38"/>
          <p:cNvSpPr txBox="1"/>
          <p:nvPr/>
        </p:nvSpPr>
        <p:spPr>
          <a:xfrm>
            <a:off x="745750" y="2266500"/>
            <a:ext cx="3719100" cy="3933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000000"/>
                </a:solidFill>
                <a:latin typeface="Cabin Condensed"/>
                <a:ea typeface="Cabin Condensed"/>
                <a:cs typeface="Cabin Condensed"/>
                <a:sym typeface="Cabin Condensed"/>
              </a:rPr>
              <a:t>We will be using a 5-point scale, just as we used in our Natural Hazards unit.</a:t>
            </a:r>
            <a:endParaRPr b="0" i="0" sz="2400" u="none" cap="none" strike="noStrike">
              <a:solidFill>
                <a:srgbClr val="000000"/>
              </a:solidFill>
              <a:latin typeface="Cabin Condensed"/>
              <a:ea typeface="Cabin Condensed"/>
              <a:cs typeface="Cabin Condensed"/>
              <a:sym typeface="Cabin Condensed"/>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bin Condensed"/>
              <a:ea typeface="Cabin Condensed"/>
              <a:cs typeface="Cabin Condensed"/>
              <a:sym typeface="Cabin Condensed"/>
            </a:endParaRPr>
          </a:p>
          <a:p>
            <a:pPr indent="-381000" lvl="0" marL="457200" marR="0" rtl="0" algn="l">
              <a:lnSpc>
                <a:spcPct val="100000"/>
              </a:lnSpc>
              <a:spcBef>
                <a:spcPts val="0"/>
              </a:spcBef>
              <a:spcAft>
                <a:spcPts val="0"/>
              </a:spcAft>
              <a:buClr>
                <a:srgbClr val="000000"/>
              </a:buClr>
              <a:buSzPts val="2400"/>
              <a:buFont typeface="Boogaloo"/>
              <a:buChar char="●"/>
            </a:pPr>
            <a:r>
              <a:rPr b="0" i="0" lang="en" sz="2400" u="none" cap="none" strike="noStrike">
                <a:solidFill>
                  <a:srgbClr val="000000"/>
                </a:solidFill>
                <a:latin typeface="Cabin Condensed"/>
                <a:ea typeface="Cabin Condensed"/>
                <a:cs typeface="Cabin Condensed"/>
                <a:sym typeface="Cabin Condensed"/>
              </a:rPr>
              <a:t>5 points means that the design </a:t>
            </a:r>
            <a:r>
              <a:rPr b="1" i="0" lang="en" sz="2400" u="none" cap="none" strike="noStrike">
                <a:solidFill>
                  <a:srgbClr val="000000"/>
                </a:solidFill>
                <a:latin typeface="Cabin Condensed"/>
                <a:ea typeface="Cabin Condensed"/>
                <a:cs typeface="Cabin Condensed"/>
                <a:sym typeface="Cabin Condensed"/>
              </a:rPr>
              <a:t>meets </a:t>
            </a:r>
            <a:r>
              <a:rPr b="0" i="0" lang="en" sz="2400" u="none" cap="none" strike="noStrike">
                <a:solidFill>
                  <a:srgbClr val="000000"/>
                </a:solidFill>
                <a:latin typeface="Cabin Condensed"/>
                <a:ea typeface="Cabin Condensed"/>
                <a:cs typeface="Cabin Condensed"/>
                <a:sym typeface="Cabin Condensed"/>
              </a:rPr>
              <a:t>the criterion or constraint very well.</a:t>
            </a:r>
            <a:endParaRPr b="0" i="0" sz="2400" u="none" cap="none" strike="noStrike">
              <a:solidFill>
                <a:srgbClr val="000000"/>
              </a:solidFill>
              <a:latin typeface="Cabin Condensed"/>
              <a:ea typeface="Cabin Condensed"/>
              <a:cs typeface="Cabin Condensed"/>
              <a:sym typeface="Cabin Condensed"/>
            </a:endParaRPr>
          </a:p>
          <a:p>
            <a:pPr indent="-381000" lvl="0" marL="457200" marR="0" rtl="0" algn="l">
              <a:lnSpc>
                <a:spcPct val="100000"/>
              </a:lnSpc>
              <a:spcBef>
                <a:spcPts val="1000"/>
              </a:spcBef>
              <a:spcAft>
                <a:spcPts val="0"/>
              </a:spcAft>
              <a:buClr>
                <a:srgbClr val="000000"/>
              </a:buClr>
              <a:buSzPts val="2400"/>
              <a:buFont typeface="Boogaloo"/>
              <a:buChar char="●"/>
            </a:pPr>
            <a:r>
              <a:rPr b="0" i="0" lang="en" sz="2400" u="none" cap="none" strike="noStrike">
                <a:solidFill>
                  <a:srgbClr val="000000"/>
                </a:solidFill>
                <a:latin typeface="Cabin Condensed"/>
                <a:ea typeface="Cabin Condensed"/>
                <a:cs typeface="Cabin Condensed"/>
                <a:sym typeface="Cabin Condensed"/>
              </a:rPr>
              <a:t>1 point means that the material </a:t>
            </a:r>
            <a:r>
              <a:rPr b="1" i="0" lang="en" sz="2400" u="none" cap="none" strike="noStrike">
                <a:solidFill>
                  <a:srgbClr val="000000"/>
                </a:solidFill>
                <a:latin typeface="Cabin Condensed"/>
                <a:ea typeface="Cabin Condensed"/>
                <a:cs typeface="Cabin Condensed"/>
                <a:sym typeface="Cabin Condensed"/>
              </a:rPr>
              <a:t>does not meet</a:t>
            </a:r>
            <a:r>
              <a:rPr b="0" i="0" lang="en" sz="2400" u="none" cap="none" strike="noStrike">
                <a:solidFill>
                  <a:srgbClr val="000000"/>
                </a:solidFill>
                <a:latin typeface="Cabin Condensed"/>
                <a:ea typeface="Cabin Condensed"/>
                <a:cs typeface="Cabin Condensed"/>
                <a:sym typeface="Cabin Condensed"/>
              </a:rPr>
              <a:t> the criterion or constraint.</a:t>
            </a:r>
            <a:endParaRPr b="0" i="0" sz="2400" u="none" cap="none" strike="noStrike">
              <a:solidFill>
                <a:srgbClr val="000000"/>
              </a:solidFill>
              <a:latin typeface="Cabin Condensed"/>
              <a:ea typeface="Cabin Condensed"/>
              <a:cs typeface="Cabin Condensed"/>
              <a:sym typeface="Cabin Condensed"/>
            </a:endParaRPr>
          </a:p>
        </p:txBody>
      </p:sp>
      <p:sp>
        <p:nvSpPr>
          <p:cNvPr id="269" name="Google Shape;269;p38"/>
          <p:cNvSpPr txBox="1"/>
          <p:nvPr/>
        </p:nvSpPr>
        <p:spPr>
          <a:xfrm>
            <a:off x="5096875" y="4330575"/>
            <a:ext cx="1492500" cy="1301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Boogaloo"/>
                <a:ea typeface="Boogaloo"/>
                <a:cs typeface="Boogaloo"/>
                <a:sym typeface="Boogaloo"/>
              </a:rPr>
              <a:t>This material is incredibly reusable and could withstand multiple impacts.</a:t>
            </a:r>
            <a:endParaRPr b="0" i="0" sz="1800" u="none" cap="none" strike="noStrike">
              <a:solidFill>
                <a:srgbClr val="000000"/>
              </a:solidFill>
              <a:latin typeface="Boogaloo"/>
              <a:ea typeface="Boogaloo"/>
              <a:cs typeface="Boogaloo"/>
              <a:sym typeface="Boogaloo"/>
            </a:endParaRPr>
          </a:p>
        </p:txBody>
      </p:sp>
      <p:pic>
        <p:nvPicPr>
          <p:cNvPr descr="screenshot of a decision matrix with two categories. One category has 5 dots, representing a high rating for that criteria, and the other category has only one dot. " id="270" name="Google Shape;270;p38"/>
          <p:cNvPicPr preferRelativeResize="0"/>
          <p:nvPr/>
        </p:nvPicPr>
        <p:blipFill rotWithShape="1">
          <a:blip r:embed="rId3">
            <a:alphaModFix/>
          </a:blip>
          <a:srcRect b="0" l="0" r="0" t="11275"/>
          <a:stretch/>
        </p:blipFill>
        <p:spPr>
          <a:xfrm>
            <a:off x="5284575" y="2131813"/>
            <a:ext cx="2828925" cy="1301400"/>
          </a:xfrm>
          <a:prstGeom prst="rect">
            <a:avLst/>
          </a:prstGeom>
          <a:noFill/>
          <a:ln>
            <a:noFill/>
          </a:ln>
        </p:spPr>
      </p:pic>
      <p:sp>
        <p:nvSpPr>
          <p:cNvPr id="271" name="Google Shape;271;p38"/>
          <p:cNvSpPr txBox="1"/>
          <p:nvPr/>
        </p:nvSpPr>
        <p:spPr>
          <a:xfrm>
            <a:off x="6738900" y="4330575"/>
            <a:ext cx="1374600" cy="1301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Boogaloo"/>
                <a:ea typeface="Boogaloo"/>
                <a:cs typeface="Boogaloo"/>
                <a:sym typeface="Boogaloo"/>
              </a:rPr>
              <a:t>This material is not robust at all. It could not protect a heavy item.</a:t>
            </a:r>
            <a:endParaRPr b="0" i="0" sz="1800" u="none" cap="none" strike="noStrike">
              <a:solidFill>
                <a:srgbClr val="000000"/>
              </a:solidFill>
              <a:latin typeface="Boogaloo"/>
              <a:ea typeface="Boogaloo"/>
              <a:cs typeface="Boogaloo"/>
              <a:sym typeface="Boogaloo"/>
            </a:endParaRPr>
          </a:p>
        </p:txBody>
      </p:sp>
      <p:cxnSp>
        <p:nvCxnSpPr>
          <p:cNvPr id="272" name="Google Shape;272;p38"/>
          <p:cNvCxnSpPr/>
          <p:nvPr/>
        </p:nvCxnSpPr>
        <p:spPr>
          <a:xfrm rot="10800000">
            <a:off x="5892900" y="3260725"/>
            <a:ext cx="0" cy="1155300"/>
          </a:xfrm>
          <a:prstGeom prst="straightConnector1">
            <a:avLst/>
          </a:prstGeom>
          <a:noFill/>
          <a:ln cap="flat" cmpd="sng" w="28575">
            <a:solidFill>
              <a:srgbClr val="000000"/>
            </a:solidFill>
            <a:prstDash val="solid"/>
            <a:round/>
            <a:headEnd len="sm" w="sm" type="none"/>
            <a:tailEnd len="med" w="med" type="triangle"/>
          </a:ln>
        </p:spPr>
      </p:cxnSp>
      <p:cxnSp>
        <p:nvCxnSpPr>
          <p:cNvPr id="273" name="Google Shape;273;p38"/>
          <p:cNvCxnSpPr/>
          <p:nvPr/>
        </p:nvCxnSpPr>
        <p:spPr>
          <a:xfrm rot="10800000">
            <a:off x="7171250" y="3270000"/>
            <a:ext cx="0" cy="1155300"/>
          </a:xfrm>
          <a:prstGeom prst="straightConnector1">
            <a:avLst/>
          </a:prstGeom>
          <a:noFill/>
          <a:ln cap="flat" cmpd="sng" w="28575">
            <a:solidFill>
              <a:srgbClr val="000000"/>
            </a:solidFill>
            <a:prstDash val="solid"/>
            <a:round/>
            <a:headEnd len="sm" w="sm" type="none"/>
            <a:tailEnd len="med" w="med" type="triangl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277" name="Shape 277"/>
        <p:cNvGrpSpPr/>
        <p:nvPr/>
      </p:nvGrpSpPr>
      <p:grpSpPr>
        <a:xfrm>
          <a:off x="0" y="0"/>
          <a:ext cx="0" cy="0"/>
          <a:chOff x="0" y="0"/>
          <a:chExt cx="0" cy="0"/>
        </a:xfrm>
      </p:grpSpPr>
      <p:sp>
        <p:nvSpPr>
          <p:cNvPr id="278" name="Google Shape;278;p39"/>
          <p:cNvSpPr/>
          <p:nvPr/>
        </p:nvSpPr>
        <p:spPr>
          <a:xfrm>
            <a:off x="457200" y="548640"/>
            <a:ext cx="8229600" cy="685800"/>
          </a:xfrm>
          <a:prstGeom prst="rect">
            <a:avLst/>
          </a:prstGeom>
          <a:solidFill>
            <a:srgbClr val="9A2F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rgbClr val="FFFFFF"/>
                </a:solidFill>
                <a:latin typeface="Boogaloo"/>
                <a:ea typeface="Boogaloo"/>
                <a:cs typeface="Boogaloo"/>
                <a:sym typeface="Boogaloo"/>
              </a:rPr>
              <a:t>Using Data to Analyze Material Choices</a:t>
            </a:r>
            <a:endParaRPr b="0" i="0" sz="3200" u="none" cap="none" strike="noStrike">
              <a:solidFill>
                <a:srgbClr val="FFFFFF"/>
              </a:solidFill>
              <a:latin typeface="Boogaloo"/>
              <a:ea typeface="Boogaloo"/>
              <a:cs typeface="Boogaloo"/>
              <a:sym typeface="Boogaloo"/>
            </a:endParaRPr>
          </a:p>
        </p:txBody>
      </p:sp>
      <p:sp>
        <p:nvSpPr>
          <p:cNvPr id="279" name="Google Shape;279;p39"/>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800" u="none" cap="none" strike="noStrike">
                <a:solidFill>
                  <a:srgbClr val="9A2F3E"/>
                </a:solidFill>
                <a:latin typeface="Boogaloo"/>
                <a:ea typeface="Boogaloo"/>
                <a:cs typeface="Boogaloo"/>
                <a:sym typeface="Boogaloo"/>
              </a:rPr>
              <a:t>Slide P</a:t>
            </a:r>
            <a:endParaRPr b="0" i="0" sz="1800" u="none" cap="none" strike="noStrike">
              <a:solidFill>
                <a:srgbClr val="9A2F3E"/>
              </a:solidFill>
              <a:latin typeface="Boogaloo"/>
              <a:ea typeface="Boogaloo"/>
              <a:cs typeface="Boogaloo"/>
              <a:sym typeface="Boogaloo"/>
            </a:endParaRPr>
          </a:p>
        </p:txBody>
      </p:sp>
      <p:sp>
        <p:nvSpPr>
          <p:cNvPr id="280" name="Google Shape;280;p39"/>
          <p:cNvSpPr/>
          <p:nvPr/>
        </p:nvSpPr>
        <p:spPr>
          <a:xfrm>
            <a:off x="457150" y="1377350"/>
            <a:ext cx="8229600" cy="5181000"/>
          </a:xfrm>
          <a:prstGeom prst="rect">
            <a:avLst/>
          </a:prstGeom>
          <a:solidFill>
            <a:srgbClr val="F5EDEF"/>
          </a:solidFill>
          <a:ln cap="flat" cmpd="sng" w="19050">
            <a:solidFill>
              <a:srgbClr val="9A2F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 name="Google Shape;281;p39"/>
          <p:cNvSpPr txBox="1"/>
          <p:nvPr/>
        </p:nvSpPr>
        <p:spPr>
          <a:xfrm>
            <a:off x="520850" y="2879200"/>
            <a:ext cx="8106600" cy="35229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800"/>
              <a:buFont typeface="Arial"/>
              <a:buNone/>
            </a:pPr>
            <a:r>
              <a:t/>
            </a:r>
            <a:endParaRPr b="0" i="0" sz="2800" u="none" cap="none" strike="noStrike">
              <a:solidFill>
                <a:srgbClr val="000000"/>
              </a:solidFill>
              <a:latin typeface="Cabin Condensed"/>
              <a:ea typeface="Cabin Condensed"/>
              <a:cs typeface="Cabin Condensed"/>
              <a:sym typeface="Cabin Condensed"/>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 name="Google Shape;282;p39"/>
          <p:cNvSpPr txBox="1"/>
          <p:nvPr/>
        </p:nvSpPr>
        <p:spPr>
          <a:xfrm>
            <a:off x="651500" y="1560750"/>
            <a:ext cx="7449300" cy="762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1000"/>
              </a:spcAft>
              <a:buClr>
                <a:srgbClr val="000000"/>
              </a:buClr>
              <a:buSzPts val="3000"/>
              <a:buFont typeface="Arial"/>
              <a:buNone/>
            </a:pPr>
            <a:r>
              <a:rPr b="0" i="0" lang="en" sz="3000" u="none" cap="none" strike="noStrike">
                <a:solidFill>
                  <a:srgbClr val="9A2F3E"/>
                </a:solidFill>
                <a:latin typeface="Boogaloo"/>
                <a:ea typeface="Boogaloo"/>
                <a:cs typeface="Boogaloo"/>
                <a:sym typeface="Boogaloo"/>
              </a:rPr>
              <a:t>Transferring Ratings to Our Matrix</a:t>
            </a:r>
            <a:endParaRPr b="0" i="0" sz="800" u="none" cap="none" strike="noStrike">
              <a:solidFill>
                <a:srgbClr val="000000"/>
              </a:solidFill>
              <a:latin typeface="Arial"/>
              <a:ea typeface="Arial"/>
              <a:cs typeface="Arial"/>
              <a:sym typeface="Arial"/>
            </a:endParaRPr>
          </a:p>
        </p:txBody>
      </p:sp>
      <p:sp>
        <p:nvSpPr>
          <p:cNvPr id="283" name="Google Shape;283;p39"/>
          <p:cNvSpPr txBox="1"/>
          <p:nvPr/>
        </p:nvSpPr>
        <p:spPr>
          <a:xfrm>
            <a:off x="651500" y="2266500"/>
            <a:ext cx="7875300" cy="3933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000000"/>
                </a:solidFill>
                <a:latin typeface="Cabin Condensed"/>
                <a:ea typeface="Cabin Condensed"/>
                <a:cs typeface="Cabin Condensed"/>
                <a:sym typeface="Cabin Condensed"/>
              </a:rPr>
              <a:t>Look at your chosen considerations for each material.</a:t>
            </a:r>
            <a:endParaRPr b="0" i="0" sz="2400" u="none" cap="none" strike="noStrike">
              <a:solidFill>
                <a:srgbClr val="000000"/>
              </a:solidFill>
              <a:latin typeface="Cabin Condensed"/>
              <a:ea typeface="Cabin Condensed"/>
              <a:cs typeface="Cabin Condensed"/>
              <a:sym typeface="Cabin Condensed"/>
            </a:endParaRPr>
          </a:p>
          <a:p>
            <a:pPr indent="-381000" lvl="0" marL="457200" marR="0" rtl="0" algn="l">
              <a:lnSpc>
                <a:spcPct val="100000"/>
              </a:lnSpc>
              <a:spcBef>
                <a:spcPts val="1000"/>
              </a:spcBef>
              <a:spcAft>
                <a:spcPts val="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Spend some time transferring over the consideration ratings from the MSU matrix to your decision matrix for those materials.</a:t>
            </a:r>
            <a:endParaRPr b="0" i="0" sz="2400" u="none" cap="none" strike="noStrike">
              <a:solidFill>
                <a:srgbClr val="9A2F3E"/>
              </a:solidFill>
              <a:latin typeface="Cabin Condensed"/>
              <a:ea typeface="Cabin Condensed"/>
              <a:cs typeface="Cabin Condensed"/>
              <a:sym typeface="Cabin Condensed"/>
            </a:endParaRPr>
          </a:p>
          <a:p>
            <a:pPr indent="-381000" lvl="0" marL="457200" marR="0" rtl="0" algn="l">
              <a:lnSpc>
                <a:spcPct val="100000"/>
              </a:lnSpc>
              <a:spcBef>
                <a:spcPts val="1000"/>
              </a:spcBef>
              <a:spcAft>
                <a:spcPts val="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If the material does not exist on the MSU sheet, think about how the material would meet the considerations </a:t>
            </a:r>
            <a:r>
              <a:rPr b="0" i="1" lang="en" sz="2400" u="none" cap="none" strike="noStrike">
                <a:solidFill>
                  <a:srgbClr val="9A2F3E"/>
                </a:solidFill>
                <a:latin typeface="Cabin Condensed"/>
                <a:ea typeface="Cabin Condensed"/>
                <a:cs typeface="Cabin Condensed"/>
                <a:sym typeface="Cabin Condensed"/>
              </a:rPr>
              <a:t>compared </a:t>
            </a:r>
            <a:r>
              <a:rPr b="0" i="0" lang="en" sz="2400" u="none" cap="none" strike="noStrike">
                <a:solidFill>
                  <a:srgbClr val="9A2F3E"/>
                </a:solidFill>
                <a:latin typeface="Cabin Condensed"/>
                <a:ea typeface="Cabin Condensed"/>
                <a:cs typeface="Cabin Condensed"/>
                <a:sym typeface="Cabin Condensed"/>
              </a:rPr>
              <a:t>to the current analyzed rankings.</a:t>
            </a:r>
            <a:endParaRPr b="0" i="0" sz="2400" u="none" cap="none" strike="noStrike">
              <a:solidFill>
                <a:srgbClr val="9A2F3E"/>
              </a:solidFill>
              <a:latin typeface="Cabin Condensed"/>
              <a:ea typeface="Cabin Condensed"/>
              <a:cs typeface="Cabin Condensed"/>
              <a:sym typeface="Cabin Condensed"/>
            </a:endParaRPr>
          </a:p>
          <a:p>
            <a:pPr indent="-381000" lvl="0" marL="457200" marR="0" rtl="0" algn="l">
              <a:lnSpc>
                <a:spcPct val="100000"/>
              </a:lnSpc>
              <a:spcBef>
                <a:spcPts val="1000"/>
              </a:spcBef>
              <a:spcAft>
                <a:spcPts val="100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If you have to create your own rating, ask a partner to check your newly developed rating to see that it makes sense compared to the other materials and considerations.</a:t>
            </a:r>
            <a:endParaRPr b="0" i="0" sz="2400" u="none" cap="none" strike="noStrike">
              <a:solidFill>
                <a:srgbClr val="9A2F3E"/>
              </a:solidFill>
              <a:latin typeface="Cabin Condensed"/>
              <a:ea typeface="Cabin Condensed"/>
              <a:cs typeface="Cabin Condensed"/>
              <a:sym typeface="Cabin Condense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287" name="Shape 287"/>
        <p:cNvGrpSpPr/>
        <p:nvPr/>
      </p:nvGrpSpPr>
      <p:grpSpPr>
        <a:xfrm>
          <a:off x="0" y="0"/>
          <a:ext cx="0" cy="0"/>
          <a:chOff x="0" y="0"/>
          <a:chExt cx="0" cy="0"/>
        </a:xfrm>
      </p:grpSpPr>
      <p:sp>
        <p:nvSpPr>
          <p:cNvPr id="288" name="Google Shape;288;p40"/>
          <p:cNvSpPr/>
          <p:nvPr/>
        </p:nvSpPr>
        <p:spPr>
          <a:xfrm>
            <a:off x="457200" y="548640"/>
            <a:ext cx="8229600" cy="685800"/>
          </a:xfrm>
          <a:prstGeom prst="rect">
            <a:avLst/>
          </a:prstGeom>
          <a:solidFill>
            <a:srgbClr val="9A2F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chemeClr val="lt1"/>
                </a:solidFill>
                <a:latin typeface="Boogaloo"/>
                <a:ea typeface="Boogaloo"/>
                <a:cs typeface="Boogaloo"/>
                <a:sym typeface="Boogaloo"/>
              </a:rPr>
              <a:t>Using Data to Analyze Material Choices</a:t>
            </a:r>
            <a:endParaRPr b="0" i="0" sz="3200" u="none" cap="none" strike="noStrike">
              <a:solidFill>
                <a:srgbClr val="FFFFFF"/>
              </a:solidFill>
              <a:latin typeface="Boogaloo"/>
              <a:ea typeface="Boogaloo"/>
              <a:cs typeface="Boogaloo"/>
              <a:sym typeface="Boogaloo"/>
            </a:endParaRPr>
          </a:p>
        </p:txBody>
      </p:sp>
      <p:sp>
        <p:nvSpPr>
          <p:cNvPr id="289" name="Google Shape;289;p40"/>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800" u="none" cap="none" strike="noStrike">
                <a:solidFill>
                  <a:srgbClr val="9A2F3E"/>
                </a:solidFill>
                <a:latin typeface="Boogaloo"/>
                <a:ea typeface="Boogaloo"/>
                <a:cs typeface="Boogaloo"/>
                <a:sym typeface="Boogaloo"/>
              </a:rPr>
              <a:t>Slide Q</a:t>
            </a:r>
            <a:endParaRPr b="0" i="0" sz="1800" u="none" cap="none" strike="noStrike">
              <a:solidFill>
                <a:srgbClr val="9A2F3E"/>
              </a:solidFill>
              <a:latin typeface="Boogaloo"/>
              <a:ea typeface="Boogaloo"/>
              <a:cs typeface="Boogaloo"/>
              <a:sym typeface="Boogaloo"/>
            </a:endParaRPr>
          </a:p>
        </p:txBody>
      </p:sp>
      <p:sp>
        <p:nvSpPr>
          <p:cNvPr id="290" name="Google Shape;290;p40"/>
          <p:cNvSpPr/>
          <p:nvPr/>
        </p:nvSpPr>
        <p:spPr>
          <a:xfrm>
            <a:off x="457150" y="1585925"/>
            <a:ext cx="8229600" cy="4900800"/>
          </a:xfrm>
          <a:prstGeom prst="rect">
            <a:avLst/>
          </a:prstGeom>
          <a:solidFill>
            <a:srgbClr val="F5EDEF"/>
          </a:solidFill>
          <a:ln cap="flat" cmpd="sng" w="19050">
            <a:solidFill>
              <a:srgbClr val="9A2F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 name="Google Shape;291;p40"/>
          <p:cNvSpPr txBox="1"/>
          <p:nvPr/>
        </p:nvSpPr>
        <p:spPr>
          <a:xfrm>
            <a:off x="1140725" y="2955400"/>
            <a:ext cx="6343500" cy="2664300"/>
          </a:xfrm>
          <a:prstGeom prst="rect">
            <a:avLst/>
          </a:prstGeom>
          <a:noFill/>
          <a:ln>
            <a:noFill/>
          </a:ln>
        </p:spPr>
        <p:txBody>
          <a:bodyPr anchorCtr="0" anchor="t" bIns="91425" lIns="91425" spcFirstLastPara="1" rIns="91425" wrap="square" tIns="91425">
            <a:noAutofit/>
          </a:bodyPr>
          <a:lstStyle/>
          <a:p>
            <a:pPr indent="-381000" lvl="0" marL="457200" marR="0" rtl="0" algn="l">
              <a:lnSpc>
                <a:spcPct val="100000"/>
              </a:lnSpc>
              <a:spcBef>
                <a:spcPts val="0"/>
              </a:spcBef>
              <a:spcAft>
                <a:spcPts val="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Use your “Total points” column to total up the ratings for the materials in your particular design.</a:t>
            </a:r>
            <a:endParaRPr b="0" i="0" sz="2400" u="none" cap="none" strike="noStrike">
              <a:solidFill>
                <a:srgbClr val="9A2F3E"/>
              </a:solidFill>
              <a:latin typeface="Cabin Condensed"/>
              <a:ea typeface="Cabin Condensed"/>
              <a:cs typeface="Cabin Condensed"/>
              <a:sym typeface="Cabin Condensed"/>
            </a:endParaRPr>
          </a:p>
          <a:p>
            <a:pPr indent="-381000" lvl="0" marL="457200" marR="0" rtl="0" algn="l">
              <a:lnSpc>
                <a:spcPct val="100000"/>
              </a:lnSpc>
              <a:spcBef>
                <a:spcPts val="1000"/>
              </a:spcBef>
              <a:spcAft>
                <a:spcPts val="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If we were to look at the ratings and select the best material based upon which material has the highest overall rating, would that be the best material for the design? Why or why not?</a:t>
            </a:r>
            <a:endParaRPr b="0" i="0" sz="2400" u="none" cap="none" strike="noStrike">
              <a:solidFill>
                <a:srgbClr val="9A2F3E"/>
              </a:solidFill>
              <a:latin typeface="Cabin Condensed"/>
              <a:ea typeface="Cabin Condensed"/>
              <a:cs typeface="Cabin Condensed"/>
              <a:sym typeface="Cabin Condensed"/>
            </a:endParaRPr>
          </a:p>
          <a:p>
            <a:pPr indent="0" lvl="0" marL="0" marR="0" rtl="0" algn="l">
              <a:lnSpc>
                <a:spcPct val="100000"/>
              </a:lnSpc>
              <a:spcBef>
                <a:spcPts val="100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p40"/>
          <p:cNvSpPr txBox="1"/>
          <p:nvPr/>
        </p:nvSpPr>
        <p:spPr>
          <a:xfrm>
            <a:off x="2106725" y="1923750"/>
            <a:ext cx="4411500" cy="762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1000"/>
              </a:spcAft>
              <a:buClr>
                <a:srgbClr val="000000"/>
              </a:buClr>
              <a:buSzPts val="3000"/>
              <a:buFont typeface="Arial"/>
              <a:buNone/>
            </a:pPr>
            <a:r>
              <a:rPr b="0" i="0" lang="en" sz="3000" u="none" cap="none" strike="noStrike">
                <a:solidFill>
                  <a:srgbClr val="9A2F3E"/>
                </a:solidFill>
                <a:latin typeface="Boogaloo"/>
                <a:ea typeface="Boogaloo"/>
                <a:cs typeface="Boogaloo"/>
                <a:sym typeface="Boogaloo"/>
              </a:rPr>
              <a:t>Turn and Talk</a:t>
            </a:r>
            <a:endParaRPr b="0" i="0" sz="800" u="none" cap="none" strike="noStrike">
              <a:solidFill>
                <a:srgbClr val="000000"/>
              </a:solidFill>
              <a:latin typeface="Arial"/>
              <a:ea typeface="Arial"/>
              <a:cs typeface="Arial"/>
              <a:sym typeface="Arial"/>
            </a:endParaRPr>
          </a:p>
        </p:txBody>
      </p:sp>
      <p:pic>
        <p:nvPicPr>
          <p:cNvPr descr="Turn and talk icon" id="293" name="Google Shape;293;p40"/>
          <p:cNvPicPr preferRelativeResize="0"/>
          <p:nvPr/>
        </p:nvPicPr>
        <p:blipFill rotWithShape="1">
          <a:blip r:embed="rId3">
            <a:alphaModFix/>
          </a:blip>
          <a:srcRect b="0" l="0" r="0" t="0"/>
          <a:stretch/>
        </p:blipFill>
        <p:spPr>
          <a:xfrm>
            <a:off x="897825" y="1851725"/>
            <a:ext cx="1089900" cy="901000"/>
          </a:xfrm>
          <a:prstGeom prst="rect">
            <a:avLst/>
          </a:prstGeom>
          <a:noFill/>
          <a:ln>
            <a:noFill/>
          </a:ln>
        </p:spPr>
      </p:pic>
      <p:sp>
        <p:nvSpPr>
          <p:cNvPr id="294" name="Google Shape;294;p40"/>
          <p:cNvSpPr txBox="1"/>
          <p:nvPr/>
        </p:nvSpPr>
        <p:spPr>
          <a:xfrm flipH="1" rot="-204603">
            <a:off x="6753088" y="5166800"/>
            <a:ext cx="2037608" cy="1444650"/>
          </a:xfrm>
          <a:prstGeom prst="rect">
            <a:avLst/>
          </a:prstGeom>
          <a:solidFill>
            <a:srgbClr val="FFFFFF"/>
          </a:solidFill>
          <a:ln cap="flat" cmpd="sng" w="9525">
            <a:solidFill>
              <a:srgbClr val="9A2F3E"/>
            </a:solidFill>
            <a:prstDash val="solid"/>
            <a:round/>
            <a:headEnd len="sm" w="sm" type="none"/>
            <a:tailEnd len="sm" w="sm" type="none"/>
          </a:ln>
          <a:effectLst>
            <a:outerShdw blurRad="57150" rotWithShape="0" algn="bl" dir="5400000" dist="19050">
              <a:srgbClr val="000000">
                <a:alpha val="49019"/>
              </a:srgbClr>
            </a:outerShdw>
          </a:effectLst>
        </p:spPr>
        <p:txBody>
          <a:bodyPr anchorCtr="0" anchor="t" bIns="91425" lIns="91425" spcFirstLastPara="1" rIns="91425" wrap="square" tIns="91425">
            <a:noAutofit/>
          </a:bodyPr>
          <a:lstStyle/>
          <a:p>
            <a:pPr indent="-355600" lvl="0" marL="457200" marR="0" rtl="0" algn="l">
              <a:lnSpc>
                <a:spcPct val="100000"/>
              </a:lnSpc>
              <a:spcBef>
                <a:spcPts val="0"/>
              </a:spcBef>
              <a:spcAft>
                <a:spcPts val="0"/>
              </a:spcAft>
              <a:buClr>
                <a:srgbClr val="9A2F3E"/>
              </a:buClr>
              <a:buSzPts val="2000"/>
              <a:buFont typeface="Cabin Condensed"/>
              <a:buChar char="➔"/>
            </a:pPr>
            <a:r>
              <a:rPr b="1" i="0" lang="en" sz="2000" u="none" cap="none" strike="noStrike">
                <a:solidFill>
                  <a:srgbClr val="980000"/>
                </a:solidFill>
                <a:latin typeface="Cabin Condensed"/>
                <a:ea typeface="Cabin Condensed"/>
                <a:cs typeface="Cabin Condensed"/>
                <a:sym typeface="Cabin Condensed"/>
              </a:rPr>
              <a:t>Be prepared to share your ideas with the whole class</a:t>
            </a:r>
            <a:r>
              <a:rPr b="0" i="0" lang="en" sz="2000" u="none" cap="none" strike="noStrike">
                <a:solidFill>
                  <a:srgbClr val="980000"/>
                </a:solidFill>
                <a:latin typeface="Cabin Condensed"/>
                <a:ea typeface="Cabin Condensed"/>
                <a:cs typeface="Cabin Condensed"/>
                <a:sym typeface="Cabin Condensed"/>
              </a:rPr>
              <a:t>.</a:t>
            </a:r>
            <a:endParaRPr b="0" i="0" sz="2000" u="none" cap="none" strike="noStrike">
              <a:solidFill>
                <a:srgbClr val="9A2F3E"/>
              </a:solidFill>
              <a:latin typeface="Cabin Condensed"/>
              <a:ea typeface="Cabin Condensed"/>
              <a:cs typeface="Cabin Condensed"/>
              <a:sym typeface="Cabin Condense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298" name="Shape 298"/>
        <p:cNvGrpSpPr/>
        <p:nvPr/>
      </p:nvGrpSpPr>
      <p:grpSpPr>
        <a:xfrm>
          <a:off x="0" y="0"/>
          <a:ext cx="0" cy="0"/>
          <a:chOff x="0" y="0"/>
          <a:chExt cx="0" cy="0"/>
        </a:xfrm>
      </p:grpSpPr>
      <p:sp>
        <p:nvSpPr>
          <p:cNvPr id="299" name="Google Shape;299;p41"/>
          <p:cNvSpPr/>
          <p:nvPr/>
        </p:nvSpPr>
        <p:spPr>
          <a:xfrm>
            <a:off x="457200" y="548640"/>
            <a:ext cx="8229600" cy="685800"/>
          </a:xfrm>
          <a:prstGeom prst="rect">
            <a:avLst/>
          </a:prstGeom>
          <a:solidFill>
            <a:srgbClr val="9A2F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rgbClr val="FFFFFF"/>
                </a:solidFill>
                <a:latin typeface="Boogaloo"/>
                <a:ea typeface="Boogaloo"/>
                <a:cs typeface="Boogaloo"/>
                <a:sym typeface="Boogaloo"/>
              </a:rPr>
              <a:t>Establishing Consideration Rankings</a:t>
            </a:r>
            <a:endParaRPr b="0" i="0" sz="3200" u="none" cap="none" strike="noStrike">
              <a:solidFill>
                <a:srgbClr val="FFFFFF"/>
              </a:solidFill>
              <a:latin typeface="Boogaloo"/>
              <a:ea typeface="Boogaloo"/>
              <a:cs typeface="Boogaloo"/>
              <a:sym typeface="Boogaloo"/>
            </a:endParaRPr>
          </a:p>
        </p:txBody>
      </p:sp>
      <p:sp>
        <p:nvSpPr>
          <p:cNvPr id="300" name="Google Shape;300;p41"/>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800" u="none" cap="none" strike="noStrike">
                <a:solidFill>
                  <a:srgbClr val="9A2F3E"/>
                </a:solidFill>
                <a:latin typeface="Boogaloo"/>
                <a:ea typeface="Boogaloo"/>
                <a:cs typeface="Boogaloo"/>
                <a:sym typeface="Boogaloo"/>
              </a:rPr>
              <a:t>Slide R</a:t>
            </a:r>
            <a:endParaRPr b="0" i="0" sz="1800" u="none" cap="none" strike="noStrike">
              <a:solidFill>
                <a:srgbClr val="9A2F3E"/>
              </a:solidFill>
              <a:latin typeface="Boogaloo"/>
              <a:ea typeface="Boogaloo"/>
              <a:cs typeface="Boogaloo"/>
              <a:sym typeface="Boogaloo"/>
            </a:endParaRPr>
          </a:p>
        </p:txBody>
      </p:sp>
      <p:sp>
        <p:nvSpPr>
          <p:cNvPr id="301" name="Google Shape;301;p41"/>
          <p:cNvSpPr/>
          <p:nvPr/>
        </p:nvSpPr>
        <p:spPr>
          <a:xfrm>
            <a:off x="457150" y="1560750"/>
            <a:ext cx="8229600" cy="5073600"/>
          </a:xfrm>
          <a:prstGeom prst="rect">
            <a:avLst/>
          </a:prstGeom>
          <a:solidFill>
            <a:srgbClr val="F5EDEF"/>
          </a:solidFill>
          <a:ln cap="flat" cmpd="sng" w="19050">
            <a:solidFill>
              <a:srgbClr val="9A2F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 name="Google Shape;302;p41"/>
          <p:cNvSpPr txBox="1"/>
          <p:nvPr/>
        </p:nvSpPr>
        <p:spPr>
          <a:xfrm>
            <a:off x="520850" y="2879200"/>
            <a:ext cx="8106600" cy="35229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800"/>
              <a:buFont typeface="Arial"/>
              <a:buNone/>
            </a:pPr>
            <a:r>
              <a:t/>
            </a:r>
            <a:endParaRPr b="0" i="0" sz="2800" u="none" cap="none" strike="noStrike">
              <a:solidFill>
                <a:srgbClr val="000000"/>
              </a:solidFill>
              <a:latin typeface="Cabin Condensed"/>
              <a:ea typeface="Cabin Condensed"/>
              <a:cs typeface="Cabin Condensed"/>
              <a:sym typeface="Cabin Condensed"/>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 name="Google Shape;303;p41"/>
          <p:cNvSpPr txBox="1"/>
          <p:nvPr/>
        </p:nvSpPr>
        <p:spPr>
          <a:xfrm>
            <a:off x="651500" y="1636950"/>
            <a:ext cx="7771200" cy="685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1000"/>
              </a:spcAft>
              <a:buClr>
                <a:srgbClr val="000000"/>
              </a:buClr>
              <a:buSzPts val="3000"/>
              <a:buFont typeface="Arial"/>
              <a:buNone/>
            </a:pPr>
            <a:r>
              <a:rPr b="0" i="0" lang="en" sz="3000" u="none" cap="none" strike="noStrike">
                <a:solidFill>
                  <a:srgbClr val="9A2F3E"/>
                </a:solidFill>
                <a:latin typeface="Boogaloo"/>
                <a:ea typeface="Boogaloo"/>
                <a:cs typeface="Boogaloo"/>
                <a:sym typeface="Boogaloo"/>
              </a:rPr>
              <a:t>Primary, Secondary, and Tertiary Considerations</a:t>
            </a:r>
            <a:endParaRPr b="0" i="0" sz="3000" u="none" cap="none" strike="noStrike">
              <a:solidFill>
                <a:srgbClr val="000000"/>
              </a:solidFill>
              <a:latin typeface="Arial"/>
              <a:ea typeface="Arial"/>
              <a:cs typeface="Arial"/>
              <a:sym typeface="Arial"/>
            </a:endParaRPr>
          </a:p>
        </p:txBody>
      </p:sp>
      <p:sp>
        <p:nvSpPr>
          <p:cNvPr id="304" name="Google Shape;304;p41"/>
          <p:cNvSpPr txBox="1"/>
          <p:nvPr/>
        </p:nvSpPr>
        <p:spPr>
          <a:xfrm>
            <a:off x="745750" y="2266500"/>
            <a:ext cx="7392000" cy="3933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000000"/>
                </a:solidFill>
                <a:latin typeface="Cabin Condensed"/>
                <a:ea typeface="Cabin Condensed"/>
                <a:cs typeface="Cabin Condensed"/>
                <a:sym typeface="Cabin Condensed"/>
              </a:rPr>
              <a:t>Use the rankings below to help guide you as you classify your considerations as primary, secondary, or tertiary. Write “P”, “S”, or “T” above each “Consideration” column.</a:t>
            </a:r>
            <a:endParaRPr b="0" i="0" sz="2400" u="none" cap="none" strike="noStrike">
              <a:solidFill>
                <a:srgbClr val="000000"/>
              </a:solidFill>
              <a:latin typeface="Cabin Condensed"/>
              <a:ea typeface="Cabin Condensed"/>
              <a:cs typeface="Cabin Condensed"/>
              <a:sym typeface="Cabin Condensed"/>
            </a:endParaRPr>
          </a:p>
          <a:p>
            <a:pPr indent="-381000" lvl="0" marL="457200" marR="0" rtl="0" algn="l">
              <a:lnSpc>
                <a:spcPct val="100000"/>
              </a:lnSpc>
              <a:spcBef>
                <a:spcPts val="1000"/>
              </a:spcBef>
              <a:spcAft>
                <a:spcPts val="0"/>
              </a:spcAft>
              <a:buClr>
                <a:srgbClr val="9A2F3E"/>
              </a:buClr>
              <a:buSzPts val="2400"/>
              <a:buFont typeface="Cabin Condensed"/>
              <a:buChar char="●"/>
            </a:pPr>
            <a:r>
              <a:rPr b="1" i="0" lang="en" sz="2400" u="none" cap="none" strike="noStrike">
                <a:solidFill>
                  <a:srgbClr val="9A2F3E"/>
                </a:solidFill>
                <a:latin typeface="Cabin Condensed"/>
                <a:ea typeface="Cabin Condensed"/>
                <a:cs typeface="Cabin Condensed"/>
                <a:sym typeface="Cabin Condensed"/>
              </a:rPr>
              <a:t>Primary considerations -</a:t>
            </a:r>
            <a:r>
              <a:rPr b="0" i="0" lang="en" sz="2400" u="none" cap="none" strike="noStrike">
                <a:solidFill>
                  <a:srgbClr val="9A2F3E"/>
                </a:solidFill>
                <a:latin typeface="Cabin Condensed"/>
                <a:ea typeface="Cabin Condensed"/>
                <a:cs typeface="Cabin Condensed"/>
                <a:sym typeface="Cabin Condensed"/>
              </a:rPr>
              <a:t> the most important considerations for our designs</a:t>
            </a:r>
            <a:endParaRPr b="0" i="0" sz="2400" u="none" cap="none" strike="noStrike">
              <a:solidFill>
                <a:srgbClr val="9A2F3E"/>
              </a:solidFill>
              <a:latin typeface="Cabin Condensed"/>
              <a:ea typeface="Cabin Condensed"/>
              <a:cs typeface="Cabin Condensed"/>
              <a:sym typeface="Cabin Condensed"/>
            </a:endParaRPr>
          </a:p>
          <a:p>
            <a:pPr indent="-381000" lvl="0" marL="457200" marR="0" rtl="0" algn="l">
              <a:lnSpc>
                <a:spcPct val="100000"/>
              </a:lnSpc>
              <a:spcBef>
                <a:spcPts val="1000"/>
              </a:spcBef>
              <a:spcAft>
                <a:spcPts val="0"/>
              </a:spcAft>
              <a:buClr>
                <a:srgbClr val="9A2F3E"/>
              </a:buClr>
              <a:buSzPts val="2400"/>
              <a:buFont typeface="Cabin Condensed"/>
              <a:buChar char="●"/>
            </a:pPr>
            <a:r>
              <a:rPr b="1" i="0" lang="en" sz="2400" u="none" cap="none" strike="noStrike">
                <a:solidFill>
                  <a:srgbClr val="9A2F3E"/>
                </a:solidFill>
                <a:latin typeface="Cabin Condensed"/>
                <a:ea typeface="Cabin Condensed"/>
                <a:cs typeface="Cabin Condensed"/>
                <a:sym typeface="Cabin Condensed"/>
              </a:rPr>
              <a:t>Secondary considerations - </a:t>
            </a:r>
            <a:r>
              <a:rPr b="0" i="0" lang="en" sz="2400" u="none" cap="none" strike="noStrike">
                <a:solidFill>
                  <a:srgbClr val="9A2F3E"/>
                </a:solidFill>
                <a:latin typeface="Cabin Condensed"/>
                <a:ea typeface="Cabin Condensed"/>
                <a:cs typeface="Cabin Condensed"/>
                <a:sym typeface="Cabin Condensed"/>
              </a:rPr>
              <a:t>the considerations that are still important, but we have more flexibility meeting</a:t>
            </a:r>
            <a:endParaRPr b="0" i="0" sz="2400" u="none" cap="none" strike="noStrike">
              <a:solidFill>
                <a:srgbClr val="9A2F3E"/>
              </a:solidFill>
              <a:latin typeface="Cabin Condensed"/>
              <a:ea typeface="Cabin Condensed"/>
              <a:cs typeface="Cabin Condensed"/>
              <a:sym typeface="Cabin Condensed"/>
            </a:endParaRPr>
          </a:p>
          <a:p>
            <a:pPr indent="-381000" lvl="0" marL="457200" marR="0" rtl="0" algn="l">
              <a:lnSpc>
                <a:spcPct val="100000"/>
              </a:lnSpc>
              <a:spcBef>
                <a:spcPts val="1000"/>
              </a:spcBef>
              <a:spcAft>
                <a:spcPts val="1000"/>
              </a:spcAft>
              <a:buClr>
                <a:srgbClr val="9A2F3E"/>
              </a:buClr>
              <a:buSzPts val="2400"/>
              <a:buFont typeface="Cabin Condensed"/>
              <a:buChar char="●"/>
            </a:pPr>
            <a:r>
              <a:rPr b="1" i="0" lang="en" sz="2400" u="none" cap="none" strike="noStrike">
                <a:solidFill>
                  <a:srgbClr val="9A2F3E"/>
                </a:solidFill>
                <a:latin typeface="Cabin Condensed"/>
                <a:ea typeface="Cabin Condensed"/>
                <a:cs typeface="Cabin Condensed"/>
                <a:sym typeface="Cabin Condensed"/>
              </a:rPr>
              <a:t>Tertiary considerations -</a:t>
            </a:r>
            <a:r>
              <a:rPr b="0" i="0" lang="en" sz="2400" u="none" cap="none" strike="noStrike">
                <a:solidFill>
                  <a:srgbClr val="9A2F3E"/>
                </a:solidFill>
                <a:latin typeface="Cabin Condensed"/>
                <a:ea typeface="Cabin Condensed"/>
                <a:cs typeface="Cabin Condensed"/>
                <a:sym typeface="Cabin Condensed"/>
              </a:rPr>
              <a:t> the considerations that are the least important to the overall design but may still be seen as important to some stakeholders</a:t>
            </a:r>
            <a:endParaRPr b="0" i="0" sz="2400" u="none" cap="none" strike="noStrike">
              <a:solidFill>
                <a:srgbClr val="9A2F3E"/>
              </a:solidFill>
              <a:latin typeface="Cabin Condensed"/>
              <a:ea typeface="Cabin Condensed"/>
              <a:cs typeface="Cabin Condensed"/>
              <a:sym typeface="Cabin Condensed"/>
            </a:endParaRPr>
          </a:p>
        </p:txBody>
      </p:sp>
      <p:pic>
        <p:nvPicPr>
          <p:cNvPr descr="Assessment icon" id="305" name="Google Shape;305;p41"/>
          <p:cNvPicPr preferRelativeResize="0"/>
          <p:nvPr/>
        </p:nvPicPr>
        <p:blipFill rotWithShape="1">
          <a:blip r:embed="rId3">
            <a:alphaModFix/>
          </a:blip>
          <a:srcRect b="0" l="0" r="0" t="0"/>
          <a:stretch/>
        </p:blipFill>
        <p:spPr>
          <a:xfrm>
            <a:off x="8557986" y="74350"/>
            <a:ext cx="524988" cy="4743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309" name="Shape 309"/>
        <p:cNvGrpSpPr/>
        <p:nvPr/>
      </p:nvGrpSpPr>
      <p:grpSpPr>
        <a:xfrm>
          <a:off x="0" y="0"/>
          <a:ext cx="0" cy="0"/>
          <a:chOff x="0" y="0"/>
          <a:chExt cx="0" cy="0"/>
        </a:xfrm>
      </p:grpSpPr>
      <p:sp>
        <p:nvSpPr>
          <p:cNvPr id="310" name="Google Shape;310;p42"/>
          <p:cNvSpPr/>
          <p:nvPr/>
        </p:nvSpPr>
        <p:spPr>
          <a:xfrm>
            <a:off x="457200" y="548640"/>
            <a:ext cx="8229600" cy="685800"/>
          </a:xfrm>
          <a:prstGeom prst="rect">
            <a:avLst/>
          </a:prstGeom>
          <a:solidFill>
            <a:srgbClr val="9A2F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rgbClr val="FFFFFF"/>
                </a:solidFill>
                <a:latin typeface="Boogaloo"/>
                <a:ea typeface="Boogaloo"/>
                <a:cs typeface="Boogaloo"/>
                <a:sym typeface="Boogaloo"/>
              </a:rPr>
              <a:t>Interrater Reliability</a:t>
            </a:r>
            <a:endParaRPr b="0" i="0" sz="3200" u="none" cap="none" strike="noStrike">
              <a:solidFill>
                <a:srgbClr val="FFFFFF"/>
              </a:solidFill>
              <a:latin typeface="Boogaloo"/>
              <a:ea typeface="Boogaloo"/>
              <a:cs typeface="Boogaloo"/>
              <a:sym typeface="Boogaloo"/>
            </a:endParaRPr>
          </a:p>
        </p:txBody>
      </p:sp>
      <p:sp>
        <p:nvSpPr>
          <p:cNvPr id="311" name="Google Shape;311;p42"/>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800" u="none" cap="none" strike="noStrike">
                <a:solidFill>
                  <a:srgbClr val="9A2F3E"/>
                </a:solidFill>
                <a:latin typeface="Boogaloo"/>
                <a:ea typeface="Boogaloo"/>
                <a:cs typeface="Boogaloo"/>
                <a:sym typeface="Boogaloo"/>
              </a:rPr>
              <a:t>Slide S</a:t>
            </a:r>
            <a:endParaRPr b="0" i="0" sz="1800" u="none" cap="none" strike="noStrike">
              <a:solidFill>
                <a:srgbClr val="9A2F3E"/>
              </a:solidFill>
              <a:latin typeface="Boogaloo"/>
              <a:ea typeface="Boogaloo"/>
              <a:cs typeface="Boogaloo"/>
              <a:sym typeface="Boogaloo"/>
            </a:endParaRPr>
          </a:p>
        </p:txBody>
      </p:sp>
      <p:sp>
        <p:nvSpPr>
          <p:cNvPr id="312" name="Google Shape;312;p42"/>
          <p:cNvSpPr/>
          <p:nvPr/>
        </p:nvSpPr>
        <p:spPr>
          <a:xfrm>
            <a:off x="457150" y="1377350"/>
            <a:ext cx="8229600" cy="5181000"/>
          </a:xfrm>
          <a:prstGeom prst="rect">
            <a:avLst/>
          </a:prstGeom>
          <a:solidFill>
            <a:srgbClr val="F5EDEF"/>
          </a:solidFill>
          <a:ln cap="flat" cmpd="sng" w="19050">
            <a:solidFill>
              <a:srgbClr val="9A2F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 name="Google Shape;313;p42"/>
          <p:cNvSpPr txBox="1"/>
          <p:nvPr/>
        </p:nvSpPr>
        <p:spPr>
          <a:xfrm>
            <a:off x="520850" y="2879200"/>
            <a:ext cx="8106600" cy="35229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800"/>
              <a:buFont typeface="Arial"/>
              <a:buNone/>
            </a:pPr>
            <a:r>
              <a:t/>
            </a:r>
            <a:endParaRPr b="0" i="0" sz="2800" u="none" cap="none" strike="noStrike">
              <a:solidFill>
                <a:srgbClr val="000000"/>
              </a:solidFill>
              <a:latin typeface="Cabin Condensed"/>
              <a:ea typeface="Cabin Condensed"/>
              <a:cs typeface="Cabin Condensed"/>
              <a:sym typeface="Cabin Condensed"/>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 name="Google Shape;314;p42"/>
          <p:cNvSpPr txBox="1"/>
          <p:nvPr/>
        </p:nvSpPr>
        <p:spPr>
          <a:xfrm>
            <a:off x="1649025" y="1478550"/>
            <a:ext cx="2527200" cy="548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1000"/>
              </a:spcAft>
              <a:buClr>
                <a:srgbClr val="000000"/>
              </a:buClr>
              <a:buSzPts val="3000"/>
              <a:buFont typeface="Arial"/>
              <a:buNone/>
            </a:pPr>
            <a:r>
              <a:rPr b="0" i="0" lang="en" sz="3000" u="none" cap="none" strike="noStrike">
                <a:solidFill>
                  <a:srgbClr val="9A2F3E"/>
                </a:solidFill>
                <a:latin typeface="Boogaloo"/>
                <a:ea typeface="Boogaloo"/>
                <a:cs typeface="Boogaloo"/>
                <a:sym typeface="Boogaloo"/>
              </a:rPr>
              <a:t>With a Partner</a:t>
            </a:r>
            <a:endParaRPr b="0" i="0" sz="800" u="none" cap="none" strike="noStrike">
              <a:solidFill>
                <a:srgbClr val="000000"/>
              </a:solidFill>
              <a:latin typeface="Arial"/>
              <a:ea typeface="Arial"/>
              <a:cs typeface="Arial"/>
              <a:sym typeface="Arial"/>
            </a:endParaRPr>
          </a:p>
        </p:txBody>
      </p:sp>
      <p:sp>
        <p:nvSpPr>
          <p:cNvPr id="315" name="Google Shape;315;p42"/>
          <p:cNvSpPr txBox="1"/>
          <p:nvPr/>
        </p:nvSpPr>
        <p:spPr>
          <a:xfrm>
            <a:off x="628975" y="4071950"/>
            <a:ext cx="7958700" cy="2052300"/>
          </a:xfrm>
          <a:prstGeom prst="rect">
            <a:avLst/>
          </a:prstGeom>
          <a:noFill/>
          <a:ln>
            <a:noFill/>
          </a:ln>
        </p:spPr>
        <p:txBody>
          <a:bodyPr anchorCtr="0" anchor="t" bIns="91425" lIns="91425" spcFirstLastPara="1" rIns="91425" wrap="square" tIns="91425">
            <a:noAutofit/>
          </a:bodyPr>
          <a:lstStyle/>
          <a:p>
            <a:pPr indent="-266700" lvl="0" marL="285750" marR="0" rtl="0" algn="l">
              <a:lnSpc>
                <a:spcPct val="100000"/>
              </a:lnSpc>
              <a:spcBef>
                <a:spcPts val="0"/>
              </a:spcBef>
              <a:spcAft>
                <a:spcPts val="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Have a partner look at your ratings and see if they agree with your ratings. If they agree, keep the rating the same. If they do not agree, discuss why each of you would give a different rating. If needed, ask a third person to weigh in. Try to come to a consensus.</a:t>
            </a:r>
            <a:endParaRPr b="0" i="0" sz="2400" u="none" cap="none" strike="noStrike">
              <a:solidFill>
                <a:srgbClr val="9A2F3E"/>
              </a:solidFill>
              <a:latin typeface="Cabin Condensed"/>
              <a:ea typeface="Cabin Condensed"/>
              <a:cs typeface="Cabin Condensed"/>
              <a:sym typeface="Cabin Condensed"/>
            </a:endParaRPr>
          </a:p>
          <a:p>
            <a:pPr indent="-266700" lvl="0" marL="285750" marR="0" rtl="0" algn="l">
              <a:lnSpc>
                <a:spcPct val="100000"/>
              </a:lnSpc>
              <a:spcBef>
                <a:spcPts val="1000"/>
              </a:spcBef>
              <a:spcAft>
                <a:spcPts val="100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Give your partner feedback on any changes you would make to their ratings with your reasoning.</a:t>
            </a:r>
            <a:endParaRPr b="0" i="0" sz="2400" u="none" cap="none" strike="noStrike">
              <a:solidFill>
                <a:srgbClr val="9A2F3E"/>
              </a:solidFill>
              <a:latin typeface="Cabin Condensed"/>
              <a:ea typeface="Cabin Condensed"/>
              <a:cs typeface="Cabin Condensed"/>
              <a:sym typeface="Cabin Condensed"/>
            </a:endParaRPr>
          </a:p>
        </p:txBody>
      </p:sp>
      <p:pic>
        <p:nvPicPr>
          <p:cNvPr descr="With a partner icon" id="316" name="Google Shape;316;p42"/>
          <p:cNvPicPr preferRelativeResize="0"/>
          <p:nvPr/>
        </p:nvPicPr>
        <p:blipFill rotWithShape="1">
          <a:blip r:embed="rId3">
            <a:alphaModFix/>
          </a:blip>
          <a:srcRect b="0" l="0" r="0" t="0"/>
          <a:stretch/>
        </p:blipFill>
        <p:spPr>
          <a:xfrm>
            <a:off x="698290" y="1559762"/>
            <a:ext cx="837535" cy="981288"/>
          </a:xfrm>
          <a:prstGeom prst="rect">
            <a:avLst/>
          </a:prstGeom>
          <a:noFill/>
          <a:ln>
            <a:noFill/>
          </a:ln>
        </p:spPr>
      </p:pic>
      <p:sp>
        <p:nvSpPr>
          <p:cNvPr id="317" name="Google Shape;317;p42"/>
          <p:cNvSpPr txBox="1"/>
          <p:nvPr/>
        </p:nvSpPr>
        <p:spPr>
          <a:xfrm>
            <a:off x="1649025" y="2080863"/>
            <a:ext cx="6785700" cy="1833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0" i="0" lang="en" sz="2400" u="none" cap="none" strike="noStrike">
                <a:solidFill>
                  <a:schemeClr val="dk1"/>
                </a:solidFill>
                <a:latin typeface="Cabin Condensed"/>
                <a:ea typeface="Cabin Condensed"/>
                <a:cs typeface="Cabin Condensed"/>
                <a:sym typeface="Cabin Condensed"/>
              </a:rPr>
              <a:t>When engineers and other scientists have to rate objects or data, they call the process establishing </a:t>
            </a:r>
            <a:r>
              <a:rPr b="1" i="0" lang="en" sz="2400" u="none" cap="none" strike="noStrike">
                <a:solidFill>
                  <a:srgbClr val="9A2F3E"/>
                </a:solidFill>
                <a:latin typeface="Cabin Condensed"/>
                <a:ea typeface="Cabin Condensed"/>
                <a:cs typeface="Cabin Condensed"/>
                <a:sym typeface="Cabin Condensed"/>
              </a:rPr>
              <a:t>interrater reliability</a:t>
            </a:r>
            <a:r>
              <a:rPr b="0" i="0" lang="en" sz="2400" u="none" cap="none" strike="noStrike">
                <a:solidFill>
                  <a:schemeClr val="dk1"/>
                </a:solidFill>
                <a:latin typeface="Cabin Condensed"/>
                <a:ea typeface="Cabin Condensed"/>
                <a:cs typeface="Cabin Condensed"/>
                <a:sym typeface="Cabin Condensed"/>
              </a:rPr>
              <a:t>.  Let’s engage as scientists in checking our ratings with a partner. Follow the guidance below as you work with your partner to assess interrater reliability.</a:t>
            </a:r>
            <a:endParaRPr b="0" i="0" sz="2400" u="none" cap="none" strike="noStrike">
              <a:solidFill>
                <a:schemeClr val="dk1"/>
              </a:solidFill>
              <a:latin typeface="Cabin Condensed"/>
              <a:ea typeface="Cabin Condensed"/>
              <a:cs typeface="Cabin Condensed"/>
              <a:sym typeface="Cabin Condensed"/>
            </a:endParaRPr>
          </a:p>
          <a:p>
            <a:pPr indent="0" lvl="0" marL="0" marR="0" rtl="0" algn="l">
              <a:lnSpc>
                <a:spcPct val="100000"/>
              </a:lnSpc>
              <a:spcBef>
                <a:spcPts val="1000"/>
              </a:spcBef>
              <a:spcAft>
                <a:spcPts val="0"/>
              </a:spcAft>
              <a:buClr>
                <a:srgbClr val="000000"/>
              </a:buClr>
              <a:buSzPts val="1400"/>
              <a:buFont typeface="Arial"/>
              <a:buNone/>
            </a:pPr>
            <a:r>
              <a:t/>
            </a:r>
            <a:endParaRPr b="0" i="0" sz="1400" u="none" cap="none" strike="noStrike">
              <a:solidFill>
                <a:srgbClr val="000000"/>
              </a:solidFill>
              <a:latin typeface="Boogaloo"/>
              <a:ea typeface="Boogaloo"/>
              <a:cs typeface="Boogaloo"/>
              <a:sym typeface="Boogalo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321" name="Shape 321"/>
        <p:cNvGrpSpPr/>
        <p:nvPr/>
      </p:nvGrpSpPr>
      <p:grpSpPr>
        <a:xfrm>
          <a:off x="0" y="0"/>
          <a:ext cx="0" cy="0"/>
          <a:chOff x="0" y="0"/>
          <a:chExt cx="0" cy="0"/>
        </a:xfrm>
      </p:grpSpPr>
      <p:sp>
        <p:nvSpPr>
          <p:cNvPr id="322" name="Google Shape;322;p43"/>
          <p:cNvSpPr/>
          <p:nvPr/>
        </p:nvSpPr>
        <p:spPr>
          <a:xfrm>
            <a:off x="457200" y="548640"/>
            <a:ext cx="8229600" cy="685800"/>
          </a:xfrm>
          <a:prstGeom prst="rect">
            <a:avLst/>
          </a:prstGeom>
          <a:solidFill>
            <a:srgbClr val="9A2F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rgbClr val="FFFFFF"/>
                </a:solidFill>
                <a:latin typeface="Boogaloo"/>
                <a:ea typeface="Boogaloo"/>
                <a:cs typeface="Boogaloo"/>
                <a:sym typeface="Boogaloo"/>
              </a:rPr>
              <a:t>Weighting Scores</a:t>
            </a:r>
            <a:endParaRPr b="0" i="0" sz="3200" u="none" cap="none" strike="noStrike">
              <a:solidFill>
                <a:srgbClr val="FFFFFF"/>
              </a:solidFill>
              <a:latin typeface="Boogaloo"/>
              <a:ea typeface="Boogaloo"/>
              <a:cs typeface="Boogaloo"/>
              <a:sym typeface="Boogaloo"/>
            </a:endParaRPr>
          </a:p>
        </p:txBody>
      </p:sp>
      <p:sp>
        <p:nvSpPr>
          <p:cNvPr id="323" name="Google Shape;323;p43"/>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800" u="none" cap="none" strike="noStrike">
                <a:solidFill>
                  <a:srgbClr val="9A2F3E"/>
                </a:solidFill>
                <a:latin typeface="Boogaloo"/>
                <a:ea typeface="Boogaloo"/>
                <a:cs typeface="Boogaloo"/>
                <a:sym typeface="Boogaloo"/>
              </a:rPr>
              <a:t>Slide T</a:t>
            </a:r>
            <a:endParaRPr b="0" i="0" sz="1800" u="none" cap="none" strike="noStrike">
              <a:solidFill>
                <a:srgbClr val="9A2F3E"/>
              </a:solidFill>
              <a:latin typeface="Boogaloo"/>
              <a:ea typeface="Boogaloo"/>
              <a:cs typeface="Boogaloo"/>
              <a:sym typeface="Boogaloo"/>
            </a:endParaRPr>
          </a:p>
        </p:txBody>
      </p:sp>
      <p:sp>
        <p:nvSpPr>
          <p:cNvPr id="324" name="Google Shape;324;p43"/>
          <p:cNvSpPr/>
          <p:nvPr/>
        </p:nvSpPr>
        <p:spPr>
          <a:xfrm>
            <a:off x="457150" y="1377350"/>
            <a:ext cx="8229600" cy="5181000"/>
          </a:xfrm>
          <a:prstGeom prst="rect">
            <a:avLst/>
          </a:prstGeom>
          <a:solidFill>
            <a:srgbClr val="F5EDEF"/>
          </a:solidFill>
          <a:ln cap="flat" cmpd="sng" w="19050">
            <a:solidFill>
              <a:srgbClr val="9A2F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descr="screenshot of a decision matrix with four categories. Each category has a rating in the box, and the individual ratings are added  for a total score." id="325" name="Google Shape;325;p43"/>
          <p:cNvSpPr/>
          <p:nvPr/>
        </p:nvSpPr>
        <p:spPr>
          <a:xfrm>
            <a:off x="3670250" y="4416025"/>
            <a:ext cx="5016300" cy="22665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 name="Google Shape;326;p43"/>
          <p:cNvSpPr txBox="1"/>
          <p:nvPr/>
        </p:nvSpPr>
        <p:spPr>
          <a:xfrm>
            <a:off x="597050" y="2803000"/>
            <a:ext cx="8106600" cy="35229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800"/>
              <a:buFont typeface="Arial"/>
              <a:buNone/>
            </a:pPr>
            <a:r>
              <a:t/>
            </a:r>
            <a:endParaRPr b="0" i="0" sz="2800" u="none" cap="none" strike="noStrike">
              <a:solidFill>
                <a:srgbClr val="000000"/>
              </a:solidFill>
              <a:latin typeface="Cabin Condensed"/>
              <a:ea typeface="Cabin Condensed"/>
              <a:cs typeface="Cabin Condensed"/>
              <a:sym typeface="Cabin Condensed"/>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 name="Google Shape;327;p43"/>
          <p:cNvSpPr txBox="1"/>
          <p:nvPr/>
        </p:nvSpPr>
        <p:spPr>
          <a:xfrm>
            <a:off x="862725" y="1408350"/>
            <a:ext cx="7560000" cy="548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1000"/>
              </a:spcAft>
              <a:buClr>
                <a:srgbClr val="000000"/>
              </a:buClr>
              <a:buSzPts val="3000"/>
              <a:buFont typeface="Arial"/>
              <a:buNone/>
            </a:pPr>
            <a:r>
              <a:rPr b="0" i="0" lang="en" sz="3000" u="none" cap="none" strike="noStrike">
                <a:solidFill>
                  <a:srgbClr val="9A2F3E"/>
                </a:solidFill>
                <a:latin typeface="Boogaloo"/>
                <a:ea typeface="Boogaloo"/>
                <a:cs typeface="Boogaloo"/>
                <a:sym typeface="Boogaloo"/>
              </a:rPr>
              <a:t>Adjusting Our Scores to Reflect Ratings</a:t>
            </a:r>
            <a:endParaRPr b="0" i="0" sz="800" u="none" cap="none" strike="noStrike">
              <a:solidFill>
                <a:srgbClr val="000000"/>
              </a:solidFill>
              <a:latin typeface="Arial"/>
              <a:ea typeface="Arial"/>
              <a:cs typeface="Arial"/>
              <a:sym typeface="Arial"/>
            </a:endParaRPr>
          </a:p>
        </p:txBody>
      </p:sp>
      <p:sp>
        <p:nvSpPr>
          <p:cNvPr id="328" name="Google Shape;328;p43"/>
          <p:cNvSpPr txBox="1"/>
          <p:nvPr/>
        </p:nvSpPr>
        <p:spPr>
          <a:xfrm>
            <a:off x="552575" y="1976638"/>
            <a:ext cx="7794000" cy="1951200"/>
          </a:xfrm>
          <a:prstGeom prst="rect">
            <a:avLst/>
          </a:prstGeom>
          <a:noFill/>
          <a:ln>
            <a:noFill/>
          </a:ln>
        </p:spPr>
        <p:txBody>
          <a:bodyPr anchorCtr="0" anchor="t" bIns="91425" lIns="91425" spcFirstLastPara="1" rIns="91425" wrap="square" tIns="91425">
            <a:noAutofit/>
          </a:bodyPr>
          <a:lstStyle/>
          <a:p>
            <a:pPr indent="-381000" lvl="0" marL="457200" marR="0" rtl="0" algn="l">
              <a:lnSpc>
                <a:spcPct val="100000"/>
              </a:lnSpc>
              <a:spcBef>
                <a:spcPts val="0"/>
              </a:spcBef>
              <a:spcAft>
                <a:spcPts val="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Look at your scores and multiply them based upon your ratings of primary, secondary, and tertiary.</a:t>
            </a:r>
            <a:endParaRPr b="0" i="0" sz="2400" u="none" cap="none" strike="noStrike">
              <a:solidFill>
                <a:srgbClr val="9A2F3E"/>
              </a:solidFill>
              <a:latin typeface="Cabin Condensed"/>
              <a:ea typeface="Cabin Condensed"/>
              <a:cs typeface="Cabin Condensed"/>
              <a:sym typeface="Cabin Condensed"/>
            </a:endParaRPr>
          </a:p>
          <a:p>
            <a:pPr indent="-381000" lvl="1" marL="914400" marR="0" rtl="0" algn="l">
              <a:lnSpc>
                <a:spcPct val="100000"/>
              </a:lnSpc>
              <a:spcBef>
                <a:spcPts val="1000"/>
              </a:spcBef>
              <a:spcAft>
                <a:spcPts val="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Primary criteria - multiply the rating by 3</a:t>
            </a:r>
            <a:endParaRPr b="0" i="0" sz="2400" u="none" cap="none" strike="noStrike">
              <a:solidFill>
                <a:srgbClr val="9A2F3E"/>
              </a:solidFill>
              <a:latin typeface="Cabin Condensed"/>
              <a:ea typeface="Cabin Condensed"/>
              <a:cs typeface="Cabin Condensed"/>
              <a:sym typeface="Cabin Condensed"/>
            </a:endParaRPr>
          </a:p>
          <a:p>
            <a:pPr indent="-381000" lvl="1" marL="914400" marR="0" rtl="0" algn="l">
              <a:lnSpc>
                <a:spcPct val="100000"/>
              </a:lnSpc>
              <a:spcBef>
                <a:spcPts val="1000"/>
              </a:spcBef>
              <a:spcAft>
                <a:spcPts val="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Secondary criteria - multiply the rating by 2</a:t>
            </a:r>
            <a:endParaRPr b="0" i="0" sz="2400" u="none" cap="none" strike="noStrike">
              <a:solidFill>
                <a:srgbClr val="9A2F3E"/>
              </a:solidFill>
              <a:latin typeface="Cabin Condensed"/>
              <a:ea typeface="Cabin Condensed"/>
              <a:cs typeface="Cabin Condensed"/>
              <a:sym typeface="Cabin Condensed"/>
            </a:endParaRPr>
          </a:p>
          <a:p>
            <a:pPr indent="-381000" lvl="1" marL="914400" marR="0" rtl="0" algn="l">
              <a:lnSpc>
                <a:spcPct val="100000"/>
              </a:lnSpc>
              <a:spcBef>
                <a:spcPts val="1000"/>
              </a:spcBef>
              <a:spcAft>
                <a:spcPts val="100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Tertiary criteria - rating stays the same</a:t>
            </a:r>
            <a:endParaRPr b="0" i="0" sz="2400" u="none" cap="none" strike="noStrike">
              <a:solidFill>
                <a:srgbClr val="9A2F3E"/>
              </a:solidFill>
              <a:latin typeface="Boogaloo"/>
              <a:ea typeface="Boogaloo"/>
              <a:cs typeface="Boogaloo"/>
              <a:sym typeface="Boogaloo"/>
            </a:endParaRPr>
          </a:p>
        </p:txBody>
      </p:sp>
      <p:sp>
        <p:nvSpPr>
          <p:cNvPr id="329" name="Google Shape;329;p43"/>
          <p:cNvSpPr txBox="1"/>
          <p:nvPr/>
        </p:nvSpPr>
        <p:spPr>
          <a:xfrm>
            <a:off x="597050" y="4416025"/>
            <a:ext cx="3073800" cy="1708200"/>
          </a:xfrm>
          <a:prstGeom prst="rect">
            <a:avLst/>
          </a:prstGeom>
          <a:noFill/>
          <a:ln>
            <a:noFill/>
          </a:ln>
        </p:spPr>
        <p:txBody>
          <a:bodyPr anchorCtr="0" anchor="t" bIns="91425" lIns="91425" spcFirstLastPara="1" rIns="91425" wrap="square" tIns="91425">
            <a:noAutofit/>
          </a:bodyPr>
          <a:lstStyle/>
          <a:p>
            <a:pPr indent="-381000" lvl="0" marL="457200" marR="0" rtl="0" algn="l">
              <a:lnSpc>
                <a:spcPct val="100000"/>
              </a:lnSpc>
              <a:spcBef>
                <a:spcPts val="0"/>
              </a:spcBef>
              <a:spcAft>
                <a:spcPts val="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Add up the ratings for each material after you have done the multiplication.</a:t>
            </a:r>
            <a:endParaRPr b="0" i="0" sz="2400" u="none" cap="none" strike="noStrike">
              <a:solidFill>
                <a:srgbClr val="9A2F3E"/>
              </a:solidFill>
              <a:latin typeface="Cabin Condensed"/>
              <a:ea typeface="Cabin Condensed"/>
              <a:cs typeface="Cabin Condensed"/>
              <a:sym typeface="Cabin Condensed"/>
            </a:endParaRPr>
          </a:p>
          <a:p>
            <a:pPr indent="0" lvl="0" marL="0" marR="0" rtl="0" algn="l">
              <a:lnSpc>
                <a:spcPct val="100000"/>
              </a:lnSpc>
              <a:spcBef>
                <a:spcPts val="1000"/>
              </a:spcBef>
              <a:spcAft>
                <a:spcPts val="0"/>
              </a:spcAft>
              <a:buClr>
                <a:srgbClr val="000000"/>
              </a:buClr>
              <a:buSzPts val="1400"/>
              <a:buFont typeface="Arial"/>
              <a:buNone/>
            </a:pPr>
            <a:r>
              <a:t/>
            </a:r>
            <a:endParaRPr b="0" i="0" sz="1400" u="none" cap="none" strike="noStrike">
              <a:solidFill>
                <a:srgbClr val="000000"/>
              </a:solidFill>
              <a:latin typeface="Boogaloo"/>
              <a:ea typeface="Boogaloo"/>
              <a:cs typeface="Boogaloo"/>
              <a:sym typeface="Boogaloo"/>
            </a:endParaRPr>
          </a:p>
        </p:txBody>
      </p:sp>
      <p:sp>
        <p:nvSpPr>
          <p:cNvPr id="330" name="Google Shape;330;p43"/>
          <p:cNvSpPr txBox="1"/>
          <p:nvPr/>
        </p:nvSpPr>
        <p:spPr>
          <a:xfrm>
            <a:off x="4110550" y="4394888"/>
            <a:ext cx="336300" cy="380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Boogaloo"/>
                <a:ea typeface="Boogaloo"/>
                <a:cs typeface="Boogaloo"/>
                <a:sym typeface="Boogaloo"/>
              </a:rPr>
              <a:t>P</a:t>
            </a:r>
            <a:endParaRPr b="0" i="0" sz="1400" u="none" cap="none" strike="noStrike">
              <a:solidFill>
                <a:srgbClr val="000000"/>
              </a:solidFill>
              <a:latin typeface="Boogaloo"/>
              <a:ea typeface="Boogaloo"/>
              <a:cs typeface="Boogaloo"/>
              <a:sym typeface="Boogaloo"/>
            </a:endParaRPr>
          </a:p>
        </p:txBody>
      </p:sp>
      <p:sp>
        <p:nvSpPr>
          <p:cNvPr id="331" name="Google Shape;331;p43"/>
          <p:cNvSpPr txBox="1"/>
          <p:nvPr/>
        </p:nvSpPr>
        <p:spPr>
          <a:xfrm>
            <a:off x="5038600" y="4404325"/>
            <a:ext cx="336300" cy="380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Boogaloo"/>
                <a:ea typeface="Boogaloo"/>
                <a:cs typeface="Boogaloo"/>
                <a:sym typeface="Boogaloo"/>
              </a:rPr>
              <a:t>S</a:t>
            </a:r>
            <a:endParaRPr b="0" i="0" sz="1400" u="none" cap="none" strike="noStrike">
              <a:solidFill>
                <a:srgbClr val="000000"/>
              </a:solidFill>
              <a:latin typeface="Boogaloo"/>
              <a:ea typeface="Boogaloo"/>
              <a:cs typeface="Boogaloo"/>
              <a:sym typeface="Boogaloo"/>
            </a:endParaRPr>
          </a:p>
        </p:txBody>
      </p:sp>
      <p:sp>
        <p:nvSpPr>
          <p:cNvPr id="332" name="Google Shape;332;p43"/>
          <p:cNvSpPr txBox="1"/>
          <p:nvPr/>
        </p:nvSpPr>
        <p:spPr>
          <a:xfrm>
            <a:off x="7194300" y="4404325"/>
            <a:ext cx="336300" cy="380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Boogaloo"/>
                <a:ea typeface="Boogaloo"/>
                <a:cs typeface="Boogaloo"/>
                <a:sym typeface="Boogaloo"/>
              </a:rPr>
              <a:t>S</a:t>
            </a:r>
            <a:endParaRPr b="0" i="0" sz="1400" u="none" cap="none" strike="noStrike">
              <a:solidFill>
                <a:srgbClr val="000000"/>
              </a:solidFill>
              <a:latin typeface="Boogaloo"/>
              <a:ea typeface="Boogaloo"/>
              <a:cs typeface="Boogaloo"/>
              <a:sym typeface="Boogaloo"/>
            </a:endParaRPr>
          </a:p>
        </p:txBody>
      </p:sp>
      <p:sp>
        <p:nvSpPr>
          <p:cNvPr id="333" name="Google Shape;333;p43"/>
          <p:cNvSpPr txBox="1"/>
          <p:nvPr/>
        </p:nvSpPr>
        <p:spPr>
          <a:xfrm>
            <a:off x="6173750" y="4380600"/>
            <a:ext cx="221700" cy="380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Boogaloo"/>
                <a:ea typeface="Boogaloo"/>
                <a:cs typeface="Boogaloo"/>
                <a:sym typeface="Boogaloo"/>
              </a:rPr>
              <a:t>T</a:t>
            </a:r>
            <a:endParaRPr b="0" i="0" sz="1400" u="none" cap="none" strike="noStrike">
              <a:solidFill>
                <a:srgbClr val="000000"/>
              </a:solidFill>
              <a:latin typeface="Boogaloo"/>
              <a:ea typeface="Boogaloo"/>
              <a:cs typeface="Boogaloo"/>
              <a:sym typeface="Boogaloo"/>
            </a:endParaRPr>
          </a:p>
        </p:txBody>
      </p:sp>
      <p:sp>
        <p:nvSpPr>
          <p:cNvPr id="334" name="Google Shape;334;p43"/>
          <p:cNvSpPr txBox="1"/>
          <p:nvPr/>
        </p:nvSpPr>
        <p:spPr>
          <a:xfrm>
            <a:off x="3855325" y="5660725"/>
            <a:ext cx="853200" cy="548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Boogaloo"/>
                <a:ea typeface="Boogaloo"/>
                <a:cs typeface="Boogaloo"/>
                <a:sym typeface="Boogaloo"/>
              </a:rPr>
              <a:t>5 x 3=15</a:t>
            </a:r>
            <a:endParaRPr b="0" i="0" sz="1400" u="none" cap="none" strike="noStrike">
              <a:solidFill>
                <a:srgbClr val="000000"/>
              </a:solidFill>
              <a:latin typeface="Boogaloo"/>
              <a:ea typeface="Boogaloo"/>
              <a:cs typeface="Boogaloo"/>
              <a:sym typeface="Boogaloo"/>
            </a:endParaRPr>
          </a:p>
        </p:txBody>
      </p:sp>
      <p:sp>
        <p:nvSpPr>
          <p:cNvPr id="335" name="Google Shape;335;p43"/>
          <p:cNvSpPr txBox="1"/>
          <p:nvPr/>
        </p:nvSpPr>
        <p:spPr>
          <a:xfrm>
            <a:off x="4845925" y="5660725"/>
            <a:ext cx="853200" cy="548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Boogaloo"/>
                <a:ea typeface="Boogaloo"/>
                <a:cs typeface="Boogaloo"/>
                <a:sym typeface="Boogaloo"/>
              </a:rPr>
              <a:t>5 x 2=10</a:t>
            </a:r>
            <a:endParaRPr b="0" i="0" sz="1400" u="none" cap="none" strike="noStrike">
              <a:solidFill>
                <a:srgbClr val="000000"/>
              </a:solidFill>
              <a:latin typeface="Boogaloo"/>
              <a:ea typeface="Boogaloo"/>
              <a:cs typeface="Boogaloo"/>
              <a:sym typeface="Boogaloo"/>
            </a:endParaRPr>
          </a:p>
        </p:txBody>
      </p:sp>
      <p:sp>
        <p:nvSpPr>
          <p:cNvPr id="336" name="Google Shape;336;p43"/>
          <p:cNvSpPr txBox="1"/>
          <p:nvPr/>
        </p:nvSpPr>
        <p:spPr>
          <a:xfrm>
            <a:off x="5912725" y="5660725"/>
            <a:ext cx="789600" cy="548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Boogaloo"/>
                <a:ea typeface="Boogaloo"/>
                <a:cs typeface="Boogaloo"/>
                <a:sym typeface="Boogaloo"/>
              </a:rPr>
              <a:t>1</a:t>
            </a:r>
            <a:endParaRPr b="0" i="0" sz="1400" u="none" cap="none" strike="noStrike">
              <a:solidFill>
                <a:srgbClr val="000000"/>
              </a:solidFill>
              <a:latin typeface="Boogaloo"/>
              <a:ea typeface="Boogaloo"/>
              <a:cs typeface="Boogaloo"/>
              <a:sym typeface="Boogaloo"/>
            </a:endParaRPr>
          </a:p>
        </p:txBody>
      </p:sp>
      <p:sp>
        <p:nvSpPr>
          <p:cNvPr id="337" name="Google Shape;337;p43"/>
          <p:cNvSpPr txBox="1"/>
          <p:nvPr/>
        </p:nvSpPr>
        <p:spPr>
          <a:xfrm>
            <a:off x="6903325" y="5660725"/>
            <a:ext cx="789600" cy="548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Boogaloo"/>
                <a:ea typeface="Boogaloo"/>
                <a:cs typeface="Boogaloo"/>
                <a:sym typeface="Boogaloo"/>
              </a:rPr>
              <a:t>1 x 2=2</a:t>
            </a:r>
            <a:endParaRPr b="0" i="0" sz="1400" u="none" cap="none" strike="noStrike">
              <a:solidFill>
                <a:srgbClr val="000000"/>
              </a:solidFill>
              <a:latin typeface="Boogaloo"/>
              <a:ea typeface="Boogaloo"/>
              <a:cs typeface="Boogaloo"/>
              <a:sym typeface="Boogaloo"/>
            </a:endParaRPr>
          </a:p>
        </p:txBody>
      </p:sp>
      <p:sp>
        <p:nvSpPr>
          <p:cNvPr id="338" name="Google Shape;338;p43"/>
          <p:cNvSpPr txBox="1"/>
          <p:nvPr/>
        </p:nvSpPr>
        <p:spPr>
          <a:xfrm>
            <a:off x="4035850" y="6024500"/>
            <a:ext cx="382500" cy="301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Boogaloo"/>
                <a:ea typeface="Boogaloo"/>
                <a:cs typeface="Boogaloo"/>
                <a:sym typeface="Boogaloo"/>
              </a:rPr>
              <a:t>15</a:t>
            </a:r>
            <a:endParaRPr b="0" i="0" sz="1400" u="none" cap="none" strike="noStrike">
              <a:solidFill>
                <a:srgbClr val="000000"/>
              </a:solidFill>
              <a:latin typeface="Boogaloo"/>
              <a:ea typeface="Boogaloo"/>
              <a:cs typeface="Boogaloo"/>
              <a:sym typeface="Boogaloo"/>
            </a:endParaRPr>
          </a:p>
        </p:txBody>
      </p:sp>
      <p:sp>
        <p:nvSpPr>
          <p:cNvPr id="339" name="Google Shape;339;p43"/>
          <p:cNvSpPr txBox="1"/>
          <p:nvPr/>
        </p:nvSpPr>
        <p:spPr>
          <a:xfrm>
            <a:off x="5026450" y="6024500"/>
            <a:ext cx="382500" cy="301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Boogaloo"/>
                <a:ea typeface="Boogaloo"/>
                <a:cs typeface="Boogaloo"/>
                <a:sym typeface="Boogaloo"/>
              </a:rPr>
              <a:t>10</a:t>
            </a:r>
            <a:endParaRPr b="0" i="0" sz="1400" u="none" cap="none" strike="noStrike">
              <a:solidFill>
                <a:srgbClr val="000000"/>
              </a:solidFill>
              <a:latin typeface="Boogaloo"/>
              <a:ea typeface="Boogaloo"/>
              <a:cs typeface="Boogaloo"/>
              <a:sym typeface="Boogaloo"/>
            </a:endParaRPr>
          </a:p>
        </p:txBody>
      </p:sp>
      <p:sp>
        <p:nvSpPr>
          <p:cNvPr id="340" name="Google Shape;340;p43"/>
          <p:cNvSpPr txBox="1"/>
          <p:nvPr/>
        </p:nvSpPr>
        <p:spPr>
          <a:xfrm>
            <a:off x="5907513" y="6024500"/>
            <a:ext cx="382500" cy="301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Boogaloo"/>
                <a:ea typeface="Boogaloo"/>
                <a:cs typeface="Boogaloo"/>
                <a:sym typeface="Boogaloo"/>
              </a:rPr>
              <a:t>1</a:t>
            </a:r>
            <a:endParaRPr b="0" i="0" sz="1400" u="none" cap="none" strike="noStrike">
              <a:solidFill>
                <a:srgbClr val="000000"/>
              </a:solidFill>
              <a:latin typeface="Boogaloo"/>
              <a:ea typeface="Boogaloo"/>
              <a:cs typeface="Boogaloo"/>
              <a:sym typeface="Boogaloo"/>
            </a:endParaRPr>
          </a:p>
        </p:txBody>
      </p:sp>
      <p:sp>
        <p:nvSpPr>
          <p:cNvPr id="341" name="Google Shape;341;p43"/>
          <p:cNvSpPr txBox="1"/>
          <p:nvPr/>
        </p:nvSpPr>
        <p:spPr>
          <a:xfrm>
            <a:off x="7083850" y="6024500"/>
            <a:ext cx="382500" cy="301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Boogaloo"/>
                <a:ea typeface="Boogaloo"/>
                <a:cs typeface="Boogaloo"/>
                <a:sym typeface="Boogaloo"/>
              </a:rPr>
              <a:t>2</a:t>
            </a:r>
            <a:endParaRPr b="0" i="0" sz="1400" u="none" cap="none" strike="noStrike">
              <a:solidFill>
                <a:srgbClr val="000000"/>
              </a:solidFill>
              <a:latin typeface="Boogaloo"/>
              <a:ea typeface="Boogaloo"/>
              <a:cs typeface="Boogaloo"/>
              <a:sym typeface="Boogaloo"/>
            </a:endParaRPr>
          </a:p>
        </p:txBody>
      </p:sp>
      <p:sp>
        <p:nvSpPr>
          <p:cNvPr id="342" name="Google Shape;342;p43"/>
          <p:cNvSpPr txBox="1"/>
          <p:nvPr/>
        </p:nvSpPr>
        <p:spPr>
          <a:xfrm>
            <a:off x="6474250" y="6024500"/>
            <a:ext cx="382500" cy="301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Boogaloo"/>
                <a:ea typeface="Boogaloo"/>
                <a:cs typeface="Boogaloo"/>
                <a:sym typeface="Boogaloo"/>
              </a:rPr>
              <a:t>+</a:t>
            </a:r>
            <a:endParaRPr b="0" i="0" sz="1400" u="none" cap="none" strike="noStrike">
              <a:solidFill>
                <a:srgbClr val="000000"/>
              </a:solidFill>
              <a:latin typeface="Boogaloo"/>
              <a:ea typeface="Boogaloo"/>
              <a:cs typeface="Boogaloo"/>
              <a:sym typeface="Boogaloo"/>
            </a:endParaRPr>
          </a:p>
        </p:txBody>
      </p:sp>
      <p:sp>
        <p:nvSpPr>
          <p:cNvPr id="343" name="Google Shape;343;p43"/>
          <p:cNvSpPr txBox="1"/>
          <p:nvPr/>
        </p:nvSpPr>
        <p:spPr>
          <a:xfrm>
            <a:off x="5483650" y="6024500"/>
            <a:ext cx="382500" cy="301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Boogaloo"/>
                <a:ea typeface="Boogaloo"/>
                <a:cs typeface="Boogaloo"/>
                <a:sym typeface="Boogaloo"/>
              </a:rPr>
              <a:t>+</a:t>
            </a:r>
            <a:endParaRPr b="0" i="0" sz="1400" u="none" cap="none" strike="noStrike">
              <a:solidFill>
                <a:srgbClr val="000000"/>
              </a:solidFill>
              <a:latin typeface="Boogaloo"/>
              <a:ea typeface="Boogaloo"/>
              <a:cs typeface="Boogaloo"/>
              <a:sym typeface="Boogaloo"/>
            </a:endParaRPr>
          </a:p>
        </p:txBody>
      </p:sp>
      <p:sp>
        <p:nvSpPr>
          <p:cNvPr id="344" name="Google Shape;344;p43"/>
          <p:cNvSpPr txBox="1"/>
          <p:nvPr/>
        </p:nvSpPr>
        <p:spPr>
          <a:xfrm>
            <a:off x="4493050" y="6024500"/>
            <a:ext cx="382500" cy="301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Boogaloo"/>
                <a:ea typeface="Boogaloo"/>
                <a:cs typeface="Boogaloo"/>
                <a:sym typeface="Boogaloo"/>
              </a:rPr>
              <a:t>+</a:t>
            </a:r>
            <a:endParaRPr b="0" i="0" sz="1400" u="none" cap="none" strike="noStrike">
              <a:solidFill>
                <a:srgbClr val="000000"/>
              </a:solidFill>
              <a:latin typeface="Boogaloo"/>
              <a:ea typeface="Boogaloo"/>
              <a:cs typeface="Boogaloo"/>
              <a:sym typeface="Boogaloo"/>
            </a:endParaRPr>
          </a:p>
        </p:txBody>
      </p:sp>
      <p:sp>
        <p:nvSpPr>
          <p:cNvPr id="345" name="Google Shape;345;p43"/>
          <p:cNvSpPr txBox="1"/>
          <p:nvPr/>
        </p:nvSpPr>
        <p:spPr>
          <a:xfrm>
            <a:off x="7388650" y="6024500"/>
            <a:ext cx="382500" cy="301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Boogaloo"/>
                <a:ea typeface="Boogaloo"/>
                <a:cs typeface="Boogaloo"/>
                <a:sym typeface="Boogaloo"/>
              </a:rPr>
              <a:t>=</a:t>
            </a:r>
            <a:endParaRPr b="0" i="0" sz="1400" u="none" cap="none" strike="noStrike">
              <a:solidFill>
                <a:srgbClr val="000000"/>
              </a:solidFill>
              <a:latin typeface="Boogaloo"/>
              <a:ea typeface="Boogaloo"/>
              <a:cs typeface="Boogaloo"/>
              <a:sym typeface="Boogaloo"/>
            </a:endParaRPr>
          </a:p>
        </p:txBody>
      </p:sp>
      <p:sp>
        <p:nvSpPr>
          <p:cNvPr id="346" name="Google Shape;346;p43"/>
          <p:cNvSpPr txBox="1"/>
          <p:nvPr/>
        </p:nvSpPr>
        <p:spPr>
          <a:xfrm>
            <a:off x="7757625" y="6024500"/>
            <a:ext cx="789600" cy="301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Boogaloo"/>
                <a:ea typeface="Boogaloo"/>
                <a:cs typeface="Boogaloo"/>
                <a:sym typeface="Boogaloo"/>
              </a:rPr>
              <a:t>28</a:t>
            </a:r>
            <a:endParaRPr b="0" i="0" sz="1400" u="none" cap="none" strike="noStrike">
              <a:solidFill>
                <a:srgbClr val="000000"/>
              </a:solidFill>
              <a:latin typeface="Boogaloo"/>
              <a:ea typeface="Boogaloo"/>
              <a:cs typeface="Boogaloo"/>
              <a:sym typeface="Boogaloo"/>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Boogaloo"/>
                <a:ea typeface="Boogaloo"/>
                <a:cs typeface="Boogaloo"/>
                <a:sym typeface="Boogaloo"/>
              </a:rPr>
              <a:t>new score</a:t>
            </a:r>
            <a:endParaRPr b="0" i="0" sz="1400" u="none" cap="none" strike="noStrike">
              <a:solidFill>
                <a:srgbClr val="000000"/>
              </a:solidFill>
              <a:latin typeface="Boogaloo"/>
              <a:ea typeface="Boogaloo"/>
              <a:cs typeface="Boogaloo"/>
              <a:sym typeface="Boogaloo"/>
            </a:endParaRPr>
          </a:p>
        </p:txBody>
      </p:sp>
      <p:sp>
        <p:nvSpPr>
          <p:cNvPr id="347" name="Google Shape;347;p43"/>
          <p:cNvSpPr txBox="1"/>
          <p:nvPr/>
        </p:nvSpPr>
        <p:spPr>
          <a:xfrm>
            <a:off x="8062425" y="4805300"/>
            <a:ext cx="789600" cy="548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Boogaloo"/>
                <a:ea typeface="Boogaloo"/>
                <a:cs typeface="Boogaloo"/>
                <a:sym typeface="Boogaloo"/>
              </a:rPr>
              <a:t>12</a:t>
            </a:r>
            <a:endParaRPr b="0" i="0" sz="1400" u="none" cap="none" strike="noStrike">
              <a:solidFill>
                <a:srgbClr val="000000"/>
              </a:solidFill>
              <a:latin typeface="Boogaloo"/>
              <a:ea typeface="Boogaloo"/>
              <a:cs typeface="Boogaloo"/>
              <a:sym typeface="Boogaloo"/>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Boogaloo"/>
                <a:ea typeface="Boogaloo"/>
                <a:cs typeface="Boogaloo"/>
                <a:sym typeface="Boogaloo"/>
              </a:rPr>
              <a:t>old</a:t>
            </a:r>
            <a:endParaRPr b="0" i="0" sz="1400" u="none" cap="none" strike="noStrike">
              <a:solidFill>
                <a:srgbClr val="000000"/>
              </a:solidFill>
              <a:latin typeface="Boogaloo"/>
              <a:ea typeface="Boogaloo"/>
              <a:cs typeface="Boogaloo"/>
              <a:sym typeface="Boogaloo"/>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Boogaloo"/>
                <a:ea typeface="Boogaloo"/>
                <a:cs typeface="Boogaloo"/>
                <a:sym typeface="Boogaloo"/>
              </a:rPr>
              <a:t>score</a:t>
            </a:r>
            <a:endParaRPr b="0" i="0" sz="1400" u="none" cap="none" strike="noStrike">
              <a:solidFill>
                <a:srgbClr val="000000"/>
              </a:solidFill>
              <a:latin typeface="Boogaloo"/>
              <a:ea typeface="Boogaloo"/>
              <a:cs typeface="Boogaloo"/>
              <a:sym typeface="Boogaloo"/>
            </a:endParaRPr>
          </a:p>
        </p:txBody>
      </p:sp>
      <p:pic>
        <p:nvPicPr>
          <p:cNvPr id="348" name="Google Shape;348;p43"/>
          <p:cNvPicPr preferRelativeResize="0"/>
          <p:nvPr/>
        </p:nvPicPr>
        <p:blipFill rotWithShape="1">
          <a:blip r:embed="rId3">
            <a:alphaModFix/>
          </a:blip>
          <a:srcRect b="0" l="0" r="0" t="0"/>
          <a:stretch/>
        </p:blipFill>
        <p:spPr>
          <a:xfrm>
            <a:off x="3855325" y="4723334"/>
            <a:ext cx="3870825" cy="952816"/>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352" name="Shape 352"/>
        <p:cNvGrpSpPr/>
        <p:nvPr/>
      </p:nvGrpSpPr>
      <p:grpSpPr>
        <a:xfrm>
          <a:off x="0" y="0"/>
          <a:ext cx="0" cy="0"/>
          <a:chOff x="0" y="0"/>
          <a:chExt cx="0" cy="0"/>
        </a:xfrm>
      </p:grpSpPr>
      <p:sp>
        <p:nvSpPr>
          <p:cNvPr id="353" name="Google Shape;353;p44"/>
          <p:cNvSpPr/>
          <p:nvPr/>
        </p:nvSpPr>
        <p:spPr>
          <a:xfrm>
            <a:off x="457200" y="548640"/>
            <a:ext cx="8229600" cy="685800"/>
          </a:xfrm>
          <a:prstGeom prst="rect">
            <a:avLst/>
          </a:prstGeom>
          <a:solidFill>
            <a:srgbClr val="9A2F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rgbClr val="FFFFFF"/>
                </a:solidFill>
                <a:latin typeface="Boogaloo"/>
                <a:ea typeface="Boogaloo"/>
                <a:cs typeface="Boogaloo"/>
                <a:sym typeface="Boogaloo"/>
              </a:rPr>
              <a:t>Weighting Scores</a:t>
            </a:r>
            <a:endParaRPr b="0" i="0" sz="3200" u="none" cap="none" strike="noStrike">
              <a:solidFill>
                <a:srgbClr val="FFFFFF"/>
              </a:solidFill>
              <a:latin typeface="Boogaloo"/>
              <a:ea typeface="Boogaloo"/>
              <a:cs typeface="Boogaloo"/>
              <a:sym typeface="Boogaloo"/>
            </a:endParaRPr>
          </a:p>
        </p:txBody>
      </p:sp>
      <p:sp>
        <p:nvSpPr>
          <p:cNvPr id="354" name="Google Shape;354;p44"/>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800" u="none" cap="none" strike="noStrike">
                <a:solidFill>
                  <a:srgbClr val="9A2F3E"/>
                </a:solidFill>
                <a:latin typeface="Boogaloo"/>
                <a:ea typeface="Boogaloo"/>
                <a:cs typeface="Boogaloo"/>
                <a:sym typeface="Boogaloo"/>
              </a:rPr>
              <a:t>Slide U</a:t>
            </a:r>
            <a:endParaRPr b="0" i="0" sz="1800" u="none" cap="none" strike="noStrike">
              <a:solidFill>
                <a:srgbClr val="9A2F3E"/>
              </a:solidFill>
              <a:latin typeface="Boogaloo"/>
              <a:ea typeface="Boogaloo"/>
              <a:cs typeface="Boogaloo"/>
              <a:sym typeface="Boogaloo"/>
            </a:endParaRPr>
          </a:p>
        </p:txBody>
      </p:sp>
      <p:sp>
        <p:nvSpPr>
          <p:cNvPr id="355" name="Google Shape;355;p44"/>
          <p:cNvSpPr/>
          <p:nvPr/>
        </p:nvSpPr>
        <p:spPr>
          <a:xfrm>
            <a:off x="457150" y="1524000"/>
            <a:ext cx="8229600" cy="4886400"/>
          </a:xfrm>
          <a:prstGeom prst="rect">
            <a:avLst/>
          </a:prstGeom>
          <a:solidFill>
            <a:srgbClr val="F5EDEF"/>
          </a:solidFill>
          <a:ln cap="flat" cmpd="sng" w="19050">
            <a:solidFill>
              <a:srgbClr val="9A2F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 name="Google Shape;356;p44"/>
          <p:cNvSpPr txBox="1"/>
          <p:nvPr/>
        </p:nvSpPr>
        <p:spPr>
          <a:xfrm>
            <a:off x="520850" y="2803000"/>
            <a:ext cx="8106600" cy="35229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800"/>
              <a:buFont typeface="Arial"/>
              <a:buNone/>
            </a:pPr>
            <a:r>
              <a:t/>
            </a:r>
            <a:endParaRPr b="0" i="0" sz="2800" u="none" cap="none" strike="noStrike">
              <a:solidFill>
                <a:srgbClr val="000000"/>
              </a:solidFill>
              <a:latin typeface="Cabin Condensed"/>
              <a:ea typeface="Cabin Condensed"/>
              <a:cs typeface="Cabin Condensed"/>
              <a:sym typeface="Cabin Condensed"/>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 name="Google Shape;357;p44"/>
          <p:cNvSpPr txBox="1"/>
          <p:nvPr/>
        </p:nvSpPr>
        <p:spPr>
          <a:xfrm>
            <a:off x="2042600" y="1878825"/>
            <a:ext cx="5951400" cy="762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1000"/>
              </a:spcAft>
              <a:buClr>
                <a:srgbClr val="000000"/>
              </a:buClr>
              <a:buSzPts val="3000"/>
              <a:buFont typeface="Arial"/>
              <a:buNone/>
            </a:pPr>
            <a:r>
              <a:rPr b="0" i="0" lang="en" sz="3000" u="none" cap="none" strike="noStrike">
                <a:solidFill>
                  <a:srgbClr val="9A2F3E"/>
                </a:solidFill>
                <a:latin typeface="Boogaloo"/>
                <a:ea typeface="Boogaloo"/>
                <a:cs typeface="Boogaloo"/>
                <a:sym typeface="Boogaloo"/>
              </a:rPr>
              <a:t>With a Partner</a:t>
            </a:r>
            <a:endParaRPr b="0" i="0" sz="800" u="none" cap="none" strike="noStrike">
              <a:solidFill>
                <a:srgbClr val="000000"/>
              </a:solidFill>
              <a:latin typeface="Arial"/>
              <a:ea typeface="Arial"/>
              <a:cs typeface="Arial"/>
              <a:sym typeface="Arial"/>
            </a:endParaRPr>
          </a:p>
        </p:txBody>
      </p:sp>
      <p:pic>
        <p:nvPicPr>
          <p:cNvPr descr="With a partner icon" id="358" name="Google Shape;358;p44"/>
          <p:cNvPicPr preferRelativeResize="0"/>
          <p:nvPr/>
        </p:nvPicPr>
        <p:blipFill rotWithShape="1">
          <a:blip r:embed="rId3">
            <a:alphaModFix/>
          </a:blip>
          <a:srcRect b="0" l="0" r="0" t="0"/>
          <a:stretch/>
        </p:blipFill>
        <p:spPr>
          <a:xfrm>
            <a:off x="1025361" y="1783371"/>
            <a:ext cx="813314" cy="952913"/>
          </a:xfrm>
          <a:prstGeom prst="rect">
            <a:avLst/>
          </a:prstGeom>
          <a:noFill/>
          <a:ln>
            <a:noFill/>
          </a:ln>
        </p:spPr>
      </p:pic>
      <p:sp>
        <p:nvSpPr>
          <p:cNvPr id="359" name="Google Shape;359;p44"/>
          <p:cNvSpPr txBox="1"/>
          <p:nvPr/>
        </p:nvSpPr>
        <p:spPr>
          <a:xfrm>
            <a:off x="979550" y="2902950"/>
            <a:ext cx="7228200" cy="1939500"/>
          </a:xfrm>
          <a:prstGeom prst="rect">
            <a:avLst/>
          </a:prstGeom>
          <a:noFill/>
          <a:ln>
            <a:noFill/>
          </a:ln>
        </p:spPr>
        <p:txBody>
          <a:bodyPr anchorCtr="0" anchor="t" bIns="91425" lIns="91425" spcFirstLastPara="1" rIns="91425" wrap="square" tIns="91425">
            <a:noAutofit/>
          </a:bodyPr>
          <a:lstStyle/>
          <a:p>
            <a:pPr indent="-381000" lvl="0" marL="457200" marR="0" rtl="0" algn="l">
              <a:lnSpc>
                <a:spcPct val="100000"/>
              </a:lnSpc>
              <a:spcBef>
                <a:spcPts val="0"/>
              </a:spcBef>
              <a:spcAft>
                <a:spcPts val="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Look at your adjusted total scores. Do these scores seem to better reflect what stakeholders value?</a:t>
            </a:r>
            <a:endParaRPr b="0" i="0" sz="2400" u="none" cap="none" strike="noStrike">
              <a:solidFill>
                <a:srgbClr val="9A2F3E"/>
              </a:solidFill>
              <a:latin typeface="Cabin Condensed"/>
              <a:ea typeface="Cabin Condensed"/>
              <a:cs typeface="Cabin Condensed"/>
              <a:sym typeface="Cabin Condensed"/>
            </a:endParaRPr>
          </a:p>
          <a:p>
            <a:pPr indent="-381000" lvl="0" marL="457200" marR="0" rtl="0" algn="l">
              <a:lnSpc>
                <a:spcPct val="100000"/>
              </a:lnSpc>
              <a:spcBef>
                <a:spcPts val="1000"/>
              </a:spcBef>
              <a:spcAft>
                <a:spcPts val="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Do you think that these scores are more accurate? Why or why not?</a:t>
            </a:r>
            <a:endParaRPr b="0" i="0" sz="2400" u="none" cap="none" strike="noStrike">
              <a:solidFill>
                <a:srgbClr val="9A2F3E"/>
              </a:solidFill>
              <a:latin typeface="Cabin Condensed"/>
              <a:ea typeface="Cabin Condensed"/>
              <a:cs typeface="Cabin Condensed"/>
              <a:sym typeface="Cabin Condensed"/>
            </a:endParaRPr>
          </a:p>
          <a:p>
            <a:pPr indent="-381000" lvl="0" marL="457200" marR="0" rtl="0" algn="l">
              <a:lnSpc>
                <a:spcPct val="100000"/>
              </a:lnSpc>
              <a:spcBef>
                <a:spcPts val="1000"/>
              </a:spcBef>
              <a:spcAft>
                <a:spcPts val="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Do you feel that these new scores are more useful?</a:t>
            </a:r>
            <a:endParaRPr b="0" i="0" sz="2400" u="none" cap="none" strike="noStrike">
              <a:solidFill>
                <a:srgbClr val="9A2F3E"/>
              </a:solidFill>
              <a:latin typeface="Cabin Condensed"/>
              <a:ea typeface="Cabin Condensed"/>
              <a:cs typeface="Cabin Condensed"/>
              <a:sym typeface="Cabin Condensed"/>
            </a:endParaRPr>
          </a:p>
          <a:p>
            <a:pPr indent="0" lvl="0" marL="0" marR="0" rtl="0" algn="l">
              <a:lnSpc>
                <a:spcPct val="100000"/>
              </a:lnSpc>
              <a:spcBef>
                <a:spcPts val="1000"/>
              </a:spcBef>
              <a:spcAft>
                <a:spcPts val="0"/>
              </a:spcAft>
              <a:buClr>
                <a:srgbClr val="000000"/>
              </a:buClr>
              <a:buSzPts val="1400"/>
              <a:buFont typeface="Arial"/>
              <a:buNone/>
            </a:pPr>
            <a:r>
              <a:t/>
            </a:r>
            <a:endParaRPr b="0" i="0" sz="1400" u="none" cap="none" strike="noStrike">
              <a:solidFill>
                <a:srgbClr val="9A2F3E"/>
              </a:solidFill>
              <a:latin typeface="Boogaloo"/>
              <a:ea typeface="Boogaloo"/>
              <a:cs typeface="Boogaloo"/>
              <a:sym typeface="Boogaloo"/>
            </a:endParaRPr>
          </a:p>
        </p:txBody>
      </p:sp>
      <p:sp>
        <p:nvSpPr>
          <p:cNvPr id="360" name="Google Shape;360;p44"/>
          <p:cNvSpPr txBox="1"/>
          <p:nvPr/>
        </p:nvSpPr>
        <p:spPr>
          <a:xfrm flipH="1" rot="-204511">
            <a:off x="6530441" y="5288201"/>
            <a:ext cx="2159620" cy="1358699"/>
          </a:xfrm>
          <a:prstGeom prst="rect">
            <a:avLst/>
          </a:prstGeom>
          <a:solidFill>
            <a:srgbClr val="FFFFFF"/>
          </a:solidFill>
          <a:ln cap="flat" cmpd="sng" w="9525">
            <a:solidFill>
              <a:srgbClr val="9A2F3E"/>
            </a:solidFill>
            <a:prstDash val="solid"/>
            <a:round/>
            <a:headEnd len="sm" w="sm" type="none"/>
            <a:tailEnd len="sm" w="sm" type="none"/>
          </a:ln>
          <a:effectLst>
            <a:outerShdw blurRad="57150" rotWithShape="0" algn="bl" dir="5400000" dist="19050">
              <a:srgbClr val="000000">
                <a:alpha val="49019"/>
              </a:srgbClr>
            </a:outerShdw>
          </a:effectLst>
        </p:spPr>
        <p:txBody>
          <a:bodyPr anchorCtr="0" anchor="t" bIns="91425" lIns="91425" spcFirstLastPara="1" rIns="91425" wrap="square" tIns="91425">
            <a:noAutofit/>
          </a:bodyPr>
          <a:lstStyle/>
          <a:p>
            <a:pPr indent="-355600" lvl="0" marL="457200" marR="0" rtl="0" algn="l">
              <a:lnSpc>
                <a:spcPct val="100000"/>
              </a:lnSpc>
              <a:spcBef>
                <a:spcPts val="0"/>
              </a:spcBef>
              <a:spcAft>
                <a:spcPts val="0"/>
              </a:spcAft>
              <a:buClr>
                <a:srgbClr val="9A2F3E"/>
              </a:buClr>
              <a:buSzPts val="2000"/>
              <a:buFont typeface="Cabin Condensed"/>
              <a:buChar char="➔"/>
            </a:pPr>
            <a:r>
              <a:rPr b="1" i="0" lang="en" sz="2000" u="none" cap="none" strike="noStrike">
                <a:solidFill>
                  <a:srgbClr val="980000"/>
                </a:solidFill>
                <a:latin typeface="Cabin Condensed"/>
                <a:ea typeface="Cabin Condensed"/>
                <a:cs typeface="Cabin Condensed"/>
                <a:sym typeface="Cabin Condensed"/>
              </a:rPr>
              <a:t>Be prepared to share your ideas with the whole class</a:t>
            </a:r>
            <a:r>
              <a:rPr b="0" i="0" lang="en" sz="2000" u="none" cap="none" strike="noStrike">
                <a:solidFill>
                  <a:srgbClr val="980000"/>
                </a:solidFill>
                <a:latin typeface="Cabin Condensed"/>
                <a:ea typeface="Cabin Condensed"/>
                <a:cs typeface="Cabin Condensed"/>
                <a:sym typeface="Cabin Condensed"/>
              </a:rPr>
              <a:t>.</a:t>
            </a:r>
            <a:endParaRPr b="0" i="0" sz="2000" u="none" cap="none" strike="noStrike">
              <a:solidFill>
                <a:srgbClr val="9A2F3E"/>
              </a:solidFill>
              <a:latin typeface="Cabin Condensed"/>
              <a:ea typeface="Cabin Condensed"/>
              <a:cs typeface="Cabin Condensed"/>
              <a:sym typeface="Cabin Condense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45"/>
          <p:cNvSpPr/>
          <p:nvPr/>
        </p:nvSpPr>
        <p:spPr>
          <a:xfrm>
            <a:off x="472650" y="1509000"/>
            <a:ext cx="8198700" cy="5077500"/>
          </a:xfrm>
          <a:prstGeom prst="rect">
            <a:avLst/>
          </a:prstGeom>
          <a:solidFill>
            <a:srgbClr val="F5ED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6" name="Google Shape;366;p45"/>
          <p:cNvSpPr txBox="1"/>
          <p:nvPr>
            <p:ph idx="1" type="subTitle"/>
          </p:nvPr>
        </p:nvSpPr>
        <p:spPr>
          <a:xfrm>
            <a:off x="457200" y="74350"/>
            <a:ext cx="3148800" cy="474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3600"/>
              <a:buNone/>
            </a:pPr>
            <a:r>
              <a:rPr lang="en"/>
              <a:t>Slide V</a:t>
            </a:r>
            <a:endParaRPr/>
          </a:p>
        </p:txBody>
      </p:sp>
      <p:sp>
        <p:nvSpPr>
          <p:cNvPr id="367" name="Google Shape;367;p45"/>
          <p:cNvSpPr txBox="1"/>
          <p:nvPr>
            <p:ph idx="2" type="body"/>
          </p:nvPr>
        </p:nvSpPr>
        <p:spPr>
          <a:xfrm>
            <a:off x="1758625" y="1882588"/>
            <a:ext cx="2434800" cy="655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3600"/>
              <a:buNone/>
            </a:pPr>
            <a:r>
              <a:rPr lang="en" sz="3000"/>
              <a:t>In Your Notebook</a:t>
            </a:r>
            <a:endParaRPr sz="3000"/>
          </a:p>
        </p:txBody>
      </p:sp>
      <p:sp>
        <p:nvSpPr>
          <p:cNvPr id="368" name="Google Shape;368;p45"/>
          <p:cNvSpPr txBox="1"/>
          <p:nvPr>
            <p:ph type="title"/>
          </p:nvPr>
        </p:nvSpPr>
        <p:spPr>
          <a:xfrm>
            <a:off x="457200" y="548650"/>
            <a:ext cx="8229600" cy="685800"/>
          </a:xfrm>
          <a:prstGeom prst="rect">
            <a:avLst/>
          </a:prstGeom>
          <a:solidFill>
            <a:srgbClr val="9A2F3E"/>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Considering Trade-off Consequences</a:t>
            </a:r>
            <a:endParaRPr/>
          </a:p>
        </p:txBody>
      </p:sp>
      <p:graphicFrame>
        <p:nvGraphicFramePr>
          <p:cNvPr descr="Chart with three columns: My material and design choices; effects these changes have on other stakeholder considerations; and effects on structure and function of design. " id="369" name="Google Shape;369;p45"/>
          <p:cNvGraphicFramePr/>
          <p:nvPr/>
        </p:nvGraphicFramePr>
        <p:xfrm>
          <a:off x="3606025" y="3058013"/>
          <a:ext cx="3000000" cy="3000000"/>
        </p:xfrm>
        <a:graphic>
          <a:graphicData uri="http://schemas.openxmlformats.org/drawingml/2006/table">
            <a:tbl>
              <a:tblPr>
                <a:noFill/>
                <a:tableStyleId>{14061AEF-1EB5-4D07-8955-141C8B69F781}</a:tableStyleId>
              </a:tblPr>
              <a:tblGrid>
                <a:gridCol w="1640600"/>
                <a:gridCol w="1640600"/>
                <a:gridCol w="1640600"/>
              </a:tblGrid>
              <a:tr h="381000">
                <a:tc>
                  <a:txBody>
                    <a:bodyPr/>
                    <a:lstStyle/>
                    <a:p>
                      <a:pPr indent="0" lvl="0" marL="0" marR="0" rtl="0" algn="ctr">
                        <a:lnSpc>
                          <a:spcPct val="100000"/>
                        </a:lnSpc>
                        <a:spcBef>
                          <a:spcPts val="0"/>
                        </a:spcBef>
                        <a:spcAft>
                          <a:spcPts val="0"/>
                        </a:spcAft>
                        <a:buClr>
                          <a:srgbClr val="000000"/>
                        </a:buClr>
                        <a:buSzPts val="1700"/>
                        <a:buFont typeface="Arial"/>
                        <a:buNone/>
                      </a:pPr>
                      <a:r>
                        <a:rPr b="1" lang="en" sz="1700" u="none" cap="none" strike="noStrike">
                          <a:latin typeface="Caveat"/>
                          <a:ea typeface="Caveat"/>
                          <a:cs typeface="Caveat"/>
                          <a:sym typeface="Caveat"/>
                        </a:rPr>
                        <a:t>My material and design choices</a:t>
                      </a:r>
                      <a:endParaRPr b="1" sz="1700" u="none" cap="none" strike="noStrike">
                        <a:latin typeface="Caveat"/>
                        <a:ea typeface="Caveat"/>
                        <a:cs typeface="Caveat"/>
                        <a:sym typeface="Caveat"/>
                      </a:endParaRPr>
                    </a:p>
                  </a:txBody>
                  <a:tcPr marT="91425" marB="91425" marR="91425" marL="91425">
                    <a:solidFill>
                      <a:srgbClr val="FFFFFF"/>
                    </a:solidFill>
                  </a:tcPr>
                </a:tc>
                <a:tc>
                  <a:txBody>
                    <a:bodyPr/>
                    <a:lstStyle/>
                    <a:p>
                      <a:pPr indent="0" lvl="0" marL="0" marR="0" rtl="0" algn="ctr">
                        <a:lnSpc>
                          <a:spcPct val="100000"/>
                        </a:lnSpc>
                        <a:spcBef>
                          <a:spcPts val="0"/>
                        </a:spcBef>
                        <a:spcAft>
                          <a:spcPts val="0"/>
                        </a:spcAft>
                        <a:buClr>
                          <a:srgbClr val="000000"/>
                        </a:buClr>
                        <a:buSzPts val="1700"/>
                        <a:buFont typeface="Arial"/>
                        <a:buNone/>
                      </a:pPr>
                      <a:r>
                        <a:rPr b="1" lang="en" sz="1700" u="none" cap="none" strike="noStrike">
                          <a:latin typeface="Caveat"/>
                          <a:ea typeface="Caveat"/>
                          <a:cs typeface="Caveat"/>
                          <a:sym typeface="Caveat"/>
                        </a:rPr>
                        <a:t>Effects these changes have on other stakeholder considerations</a:t>
                      </a:r>
                      <a:endParaRPr b="1" sz="1700" u="none" cap="none" strike="noStrike">
                        <a:latin typeface="Caveat"/>
                        <a:ea typeface="Caveat"/>
                        <a:cs typeface="Caveat"/>
                        <a:sym typeface="Caveat"/>
                      </a:endParaRPr>
                    </a:p>
                  </a:txBody>
                  <a:tcPr marT="91425" marB="91425" marR="91425" marL="91425">
                    <a:solidFill>
                      <a:srgbClr val="FFFFFF"/>
                    </a:solidFill>
                  </a:tcPr>
                </a:tc>
                <a:tc>
                  <a:txBody>
                    <a:bodyPr/>
                    <a:lstStyle/>
                    <a:p>
                      <a:pPr indent="0" lvl="0" marL="0" marR="0" rtl="0" algn="ctr">
                        <a:lnSpc>
                          <a:spcPct val="100000"/>
                        </a:lnSpc>
                        <a:spcBef>
                          <a:spcPts val="0"/>
                        </a:spcBef>
                        <a:spcAft>
                          <a:spcPts val="0"/>
                        </a:spcAft>
                        <a:buClr>
                          <a:srgbClr val="000000"/>
                        </a:buClr>
                        <a:buSzPts val="1700"/>
                        <a:buFont typeface="Arial"/>
                        <a:buNone/>
                      </a:pPr>
                      <a:r>
                        <a:rPr b="1" lang="en" sz="1700" u="none" cap="none" strike="noStrike">
                          <a:latin typeface="Caveat"/>
                          <a:ea typeface="Caveat"/>
                          <a:cs typeface="Caveat"/>
                          <a:sym typeface="Caveat"/>
                        </a:rPr>
                        <a:t>Effects on structure and function of design</a:t>
                      </a:r>
                      <a:endParaRPr b="1" sz="1700" u="none" cap="none" strike="noStrike">
                        <a:latin typeface="Caveat"/>
                        <a:ea typeface="Caveat"/>
                        <a:cs typeface="Caveat"/>
                        <a:sym typeface="Caveat"/>
                      </a:endParaRPr>
                    </a:p>
                  </a:txBody>
                  <a:tcPr marT="91425" marB="91425" marR="91425" marL="91425">
                    <a:solidFill>
                      <a:srgbClr val="FFFFFF"/>
                    </a:solidFill>
                  </a:tcPr>
                </a:tc>
              </a:tr>
              <a:tr h="38100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solidFill>
                      <a:srgbClr val="FFFFFF"/>
                    </a:solidFill>
                  </a:tcPr>
                </a:tc>
              </a:tr>
            </a:tbl>
          </a:graphicData>
        </a:graphic>
      </p:graphicFrame>
      <p:pic>
        <p:nvPicPr>
          <p:cNvPr descr="On your own icon" id="370" name="Google Shape;370;p45"/>
          <p:cNvPicPr preferRelativeResize="0"/>
          <p:nvPr/>
        </p:nvPicPr>
        <p:blipFill rotWithShape="1">
          <a:blip r:embed="rId3">
            <a:alphaModFix/>
          </a:blip>
          <a:srcRect b="0" l="0" r="0" t="0"/>
          <a:stretch/>
        </p:blipFill>
        <p:spPr>
          <a:xfrm>
            <a:off x="822525" y="1746625"/>
            <a:ext cx="845850" cy="997350"/>
          </a:xfrm>
          <a:prstGeom prst="rect">
            <a:avLst/>
          </a:prstGeom>
          <a:noFill/>
          <a:ln>
            <a:noFill/>
          </a:ln>
        </p:spPr>
      </p:pic>
      <p:sp>
        <p:nvSpPr>
          <p:cNvPr id="371" name="Google Shape;371;p45"/>
          <p:cNvSpPr txBox="1"/>
          <p:nvPr/>
        </p:nvSpPr>
        <p:spPr>
          <a:xfrm>
            <a:off x="692147" y="2973450"/>
            <a:ext cx="2769300" cy="3519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000000"/>
                </a:solidFill>
                <a:latin typeface="Cabin Condensed"/>
                <a:ea typeface="Cabin Condensed"/>
                <a:cs typeface="Cabin Condensed"/>
                <a:sym typeface="Cabin Condensed"/>
              </a:rPr>
              <a:t>Record the chart to the right in your notebook.  As you are filling out the chart, think about the effects of the choices that have been made and how they affect stakeholders and the structure. </a:t>
            </a:r>
            <a:endParaRPr b="0" i="0" sz="2400" u="none" cap="none" strike="noStrike">
              <a:solidFill>
                <a:srgbClr val="000000"/>
              </a:solidFill>
              <a:latin typeface="Cabin Condensed"/>
              <a:ea typeface="Cabin Condensed"/>
              <a:cs typeface="Cabin Condensed"/>
              <a:sym typeface="Cabin Condensed"/>
            </a:endParaRPr>
          </a:p>
        </p:txBody>
      </p:sp>
      <p:pic>
        <p:nvPicPr>
          <p:cNvPr descr="Assessment icon" id="372" name="Google Shape;372;p45"/>
          <p:cNvPicPr preferRelativeResize="0"/>
          <p:nvPr/>
        </p:nvPicPr>
        <p:blipFill rotWithShape="1">
          <a:blip r:embed="rId4">
            <a:alphaModFix/>
          </a:blip>
          <a:srcRect b="0" l="0" r="0" t="0"/>
          <a:stretch/>
        </p:blipFill>
        <p:spPr>
          <a:xfrm>
            <a:off x="8557986" y="74350"/>
            <a:ext cx="524988" cy="4743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penSciEd-Stilleto">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